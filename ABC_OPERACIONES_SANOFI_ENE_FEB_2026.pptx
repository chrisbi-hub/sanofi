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8" r:id="rId3"/>
    <p:sldId id="283" r:id="rId4"/>
    <p:sldId id="273" r:id="rId5"/>
    <p:sldId id="293" r:id="rId6"/>
    <p:sldId id="305" r:id="rId7"/>
    <p:sldId id="304" r:id="rId8"/>
    <p:sldId id="302" r:id="rId9"/>
    <p:sldId id="294" r:id="rId10"/>
    <p:sldId id="290" r:id="rId11"/>
    <p:sldId id="291" r:id="rId12"/>
    <p:sldId id="292" r:id="rId13"/>
    <p:sldId id="278" r:id="rId14"/>
    <p:sldId id="296" r:id="rId15"/>
    <p:sldId id="298" r:id="rId16"/>
    <p:sldId id="299" r:id="rId17"/>
    <p:sldId id="287" r:id="rId18"/>
    <p:sldId id="270" r:id="rId19"/>
  </p:sldIdLst>
  <p:sldSz cx="18288000" cy="10287000"/>
  <p:notesSz cx="7315200" cy="9601200"/>
  <p:embeddedFontLst>
    <p:embeddedFont>
      <p:font typeface="Aptos Narrow" panose="020B0004020202020204" pitchFamily="34" charset="0"/>
      <p:regular r:id="rId21"/>
      <p:bold r:id="rId22"/>
      <p:italic r:id="rId23"/>
      <p:boldItalic r:id="rId24"/>
    </p:embeddedFont>
    <p:embeddedFont>
      <p:font typeface="Open Sauce" panose="020B0604020202020204" charset="0"/>
      <p:regular r:id="rId25"/>
    </p:embeddedFont>
    <p:embeddedFont>
      <p:font typeface="Open Sauce Bold" panose="020B0604020202020204" charset="0"/>
      <p:regular r:id="rId26"/>
    </p:embeddedFont>
    <p:embeddedFont>
      <p:font typeface="Open Sauce Heavy"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EEDE9"/>
    <a:srgbClr val="8EB4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93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E:\SANOFI\Track%20and%20Trace%20M&#233;xico_Dic_2025_Ene_202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SANOFI\Track%20and%20Trace%20M&#233;xico_Dic_2025_Ene_202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SANOFI\Track%20and%20Trace%20M&#233;xico_Dic_2025_Ene_2026.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SANOFI\Track%20and%20Trace%20M&#233;xico_Dic_2025_Ene_2026.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E:\SANOFI\Track%20and%20Trace%20M&#233;xico_Dic_2025_Ene_2026.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E:\SANOFI\Track%20and%20Trace%20M&#233;xico_Dic_2025_Ene_2026.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E:\SANOFI\Track%20and%20Trace%20M&#233;xico_Dic_2025_Ene_2026.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E:\SANOFI\Track%20and%20Trace%20M&#233;xico_ene_dic.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a:t>OPERACIONES POR RAZÓN SOCIAL</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manualLayout>
          <c:layoutTarget val="inner"/>
          <c:xMode val="edge"/>
          <c:yMode val="edge"/>
          <c:x val="0.16118806272890357"/>
          <c:y val="0.16878141706382432"/>
          <c:w val="0.77911265477890979"/>
          <c:h val="0.56308751360444675"/>
        </c:manualLayout>
      </c:layout>
      <c:barChart>
        <c:barDir val="col"/>
        <c:grouping val="clustered"/>
        <c:varyColors val="0"/>
        <c:ser>
          <c:idx val="0"/>
          <c:order val="0"/>
          <c:tx>
            <c:strRef>
              <c:f>graficos_TIEMP_dic2025_ene2026!$A$79</c:f>
              <c:strCache>
                <c:ptCount val="1"/>
                <c:pt idx="0">
                  <c:v>SANOFI - AVENTIS DE MEXICO, S.A. DE C.V.</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graficos_TIEMP_dic2025_ene2026!$B$78:$C$78</c:f>
              <c:strCache>
                <c:ptCount val="2"/>
                <c:pt idx="0">
                  <c:v>Ene</c:v>
                </c:pt>
                <c:pt idx="1">
                  <c:v>Feb</c:v>
                </c:pt>
              </c:strCache>
            </c:strRef>
          </c:cat>
          <c:val>
            <c:numRef>
              <c:f>graficos_TIEMP_dic2025_ene2026!$B$79:$C$79</c:f>
              <c:numCache>
                <c:formatCode>General</c:formatCode>
                <c:ptCount val="2"/>
                <c:pt idx="1">
                  <c:v>1</c:v>
                </c:pt>
              </c:numCache>
            </c:numRef>
          </c:val>
          <c:extLst>
            <c:ext xmlns:c16="http://schemas.microsoft.com/office/drawing/2014/chart" uri="{C3380CC4-5D6E-409C-BE32-E72D297353CC}">
              <c16:uniqueId val="{00000000-76FA-4F95-B18A-65C2E47CADC0}"/>
            </c:ext>
          </c:extLst>
        </c:ser>
        <c:ser>
          <c:idx val="1"/>
          <c:order val="1"/>
          <c:tx>
            <c:strRef>
              <c:f>graficos_TIEMP_dic2025_ene2026!$A$80</c:f>
              <c:strCache>
                <c:ptCount val="1"/>
                <c:pt idx="0">
                  <c:v>SANOFI PASTEUR, S.A DE C.V.</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graficos_TIEMP_dic2025_ene2026!$B$78:$C$78</c:f>
              <c:strCache>
                <c:ptCount val="2"/>
                <c:pt idx="0">
                  <c:v>Ene</c:v>
                </c:pt>
                <c:pt idx="1">
                  <c:v>Feb</c:v>
                </c:pt>
              </c:strCache>
            </c:strRef>
          </c:cat>
          <c:val>
            <c:numRef>
              <c:f>graficos_TIEMP_dic2025_ene2026!$B$80:$C$80</c:f>
              <c:numCache>
                <c:formatCode>General</c:formatCode>
                <c:ptCount val="2"/>
                <c:pt idx="0">
                  <c:v>26</c:v>
                </c:pt>
                <c:pt idx="1">
                  <c:v>24</c:v>
                </c:pt>
              </c:numCache>
            </c:numRef>
          </c:val>
          <c:extLst>
            <c:ext xmlns:c16="http://schemas.microsoft.com/office/drawing/2014/chart" uri="{C3380CC4-5D6E-409C-BE32-E72D297353CC}">
              <c16:uniqueId val="{00000001-76FA-4F95-B18A-65C2E47CADC0}"/>
            </c:ext>
          </c:extLst>
        </c:ser>
        <c:dLbls>
          <c:dLblPos val="outEnd"/>
          <c:showLegendKey val="0"/>
          <c:showVal val="1"/>
          <c:showCatName val="0"/>
          <c:showSerName val="0"/>
          <c:showPercent val="0"/>
          <c:showBubbleSize val="0"/>
        </c:dLbls>
        <c:gapWidth val="219"/>
        <c:overlap val="-27"/>
        <c:axId val="1589139312"/>
        <c:axId val="1589140272"/>
      </c:barChart>
      <c:catAx>
        <c:axId val="158913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crossAx val="1589140272"/>
        <c:crosses val="autoZero"/>
        <c:auto val="1"/>
        <c:lblAlgn val="ctr"/>
        <c:lblOffset val="100"/>
        <c:noMultiLvlLbl val="0"/>
      </c:catAx>
      <c:valAx>
        <c:axId val="1589140272"/>
        <c:scaling>
          <c:orientation val="minMax"/>
        </c:scaling>
        <c:delete val="1"/>
        <c:axPos val="l"/>
        <c:numFmt formatCode="General" sourceLinked="1"/>
        <c:majorTickMark val="none"/>
        <c:minorTickMark val="none"/>
        <c:tickLblPos val="nextTo"/>
        <c:crossAx val="1589139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800"/>
      </a:pPr>
      <a:endParaRPr lang="es-MX"/>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a:t>OPERACIONES POR ADUANA</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bar"/>
        <c:grouping val="clustered"/>
        <c:varyColors val="0"/>
        <c:ser>
          <c:idx val="0"/>
          <c:order val="0"/>
          <c:tx>
            <c:strRef>
              <c:f>graficos_TIEMP_dic2025_ene2026!$B$71</c:f>
              <c:strCache>
                <c:ptCount val="1"/>
                <c:pt idx="0">
                  <c:v>Ene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graficos_TIEMP_dic2025_ene2026!$A$72:$A$75</c:f>
              <c:strCache>
                <c:ptCount val="3"/>
                <c:pt idx="0">
                  <c:v>AICM</c:v>
                </c:pt>
                <c:pt idx="1">
                  <c:v>AIFA</c:v>
                </c:pt>
                <c:pt idx="2">
                  <c:v>VERACRUZ</c:v>
                </c:pt>
              </c:strCache>
            </c:strRef>
          </c:cat>
          <c:val>
            <c:numRef>
              <c:f>graficos_TIEMP_dic2025_ene2026!$B$72:$B$75</c:f>
              <c:numCache>
                <c:formatCode>General</c:formatCode>
                <c:ptCount val="3"/>
                <c:pt idx="0">
                  <c:v>8</c:v>
                </c:pt>
                <c:pt idx="1">
                  <c:v>10</c:v>
                </c:pt>
                <c:pt idx="2">
                  <c:v>8</c:v>
                </c:pt>
              </c:numCache>
            </c:numRef>
          </c:val>
          <c:extLst>
            <c:ext xmlns:c16="http://schemas.microsoft.com/office/drawing/2014/chart" uri="{C3380CC4-5D6E-409C-BE32-E72D297353CC}">
              <c16:uniqueId val="{00000000-FF51-4C70-A0E5-ABE0436C7E19}"/>
            </c:ext>
          </c:extLst>
        </c:ser>
        <c:ser>
          <c:idx val="1"/>
          <c:order val="1"/>
          <c:tx>
            <c:strRef>
              <c:f>graficos_TIEMP_dic2025_ene2026!$C$71</c:f>
              <c:strCache>
                <c:ptCount val="1"/>
                <c:pt idx="0">
                  <c:v>Feb</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graficos_TIEMP_dic2025_ene2026!$A$72:$A$75</c:f>
              <c:strCache>
                <c:ptCount val="3"/>
                <c:pt idx="0">
                  <c:v>AICM</c:v>
                </c:pt>
                <c:pt idx="1">
                  <c:v>AIFA</c:v>
                </c:pt>
                <c:pt idx="2">
                  <c:v>VERACRUZ</c:v>
                </c:pt>
              </c:strCache>
            </c:strRef>
          </c:cat>
          <c:val>
            <c:numRef>
              <c:f>graficos_TIEMP_dic2025_ene2026!$C$72:$C$75</c:f>
              <c:numCache>
                <c:formatCode>General</c:formatCode>
                <c:ptCount val="3"/>
                <c:pt idx="0">
                  <c:v>13</c:v>
                </c:pt>
                <c:pt idx="1">
                  <c:v>1</c:v>
                </c:pt>
                <c:pt idx="2">
                  <c:v>11</c:v>
                </c:pt>
              </c:numCache>
            </c:numRef>
          </c:val>
          <c:extLst>
            <c:ext xmlns:c16="http://schemas.microsoft.com/office/drawing/2014/chart" uri="{C3380CC4-5D6E-409C-BE32-E72D297353CC}">
              <c16:uniqueId val="{00000001-FF51-4C70-A0E5-ABE0436C7E19}"/>
            </c:ext>
          </c:extLst>
        </c:ser>
        <c:dLbls>
          <c:dLblPos val="outEnd"/>
          <c:showLegendKey val="0"/>
          <c:showVal val="1"/>
          <c:showCatName val="0"/>
          <c:showSerName val="0"/>
          <c:showPercent val="0"/>
          <c:showBubbleSize val="0"/>
        </c:dLbls>
        <c:gapWidth val="182"/>
        <c:axId val="1588314000"/>
        <c:axId val="1588314960"/>
      </c:barChart>
      <c:catAx>
        <c:axId val="15883140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crossAx val="1588314960"/>
        <c:crosses val="autoZero"/>
        <c:auto val="1"/>
        <c:lblAlgn val="ctr"/>
        <c:lblOffset val="100"/>
        <c:noMultiLvlLbl val="0"/>
      </c:catAx>
      <c:valAx>
        <c:axId val="1588314960"/>
        <c:scaling>
          <c:orientation val="minMax"/>
        </c:scaling>
        <c:delete val="1"/>
        <c:axPos val="b"/>
        <c:numFmt formatCode="General" sourceLinked="1"/>
        <c:majorTickMark val="none"/>
        <c:minorTickMark val="none"/>
        <c:tickLblPos val="nextTo"/>
        <c:crossAx val="1588314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800"/>
      </a:pPr>
      <a:endParaRPr lang="es-MX"/>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a:t>OPERACIONES POR FAMILIA</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manualLayout>
          <c:layoutTarget val="inner"/>
          <c:xMode val="edge"/>
          <c:yMode val="edge"/>
          <c:x val="0.25708617502803399"/>
          <c:y val="0.17400432708369684"/>
          <c:w val="0.50591070521073067"/>
          <c:h val="0.76210002316591741"/>
        </c:manualLayout>
      </c:layout>
      <c:pieChart>
        <c:varyColors val="1"/>
        <c:ser>
          <c:idx val="0"/>
          <c:order val="0"/>
          <c:dPt>
            <c:idx val="0"/>
            <c:bubble3D val="0"/>
            <c:spPr>
              <a:solidFill>
                <a:schemeClr val="accent1">
                  <a:shade val="50000"/>
                </a:schemeClr>
              </a:solidFill>
              <a:ln w="19050">
                <a:solidFill>
                  <a:schemeClr val="lt1"/>
                </a:solidFill>
              </a:ln>
              <a:effectLst/>
            </c:spPr>
            <c:extLst>
              <c:ext xmlns:c16="http://schemas.microsoft.com/office/drawing/2014/chart" uri="{C3380CC4-5D6E-409C-BE32-E72D297353CC}">
                <c16:uniqueId val="{00000001-048A-4978-BA69-872610E788B8}"/>
              </c:ext>
            </c:extLst>
          </c:dPt>
          <c:dPt>
            <c:idx val="1"/>
            <c:bubble3D val="0"/>
            <c:spPr>
              <a:solidFill>
                <a:schemeClr val="accent1">
                  <a:shade val="70000"/>
                </a:schemeClr>
              </a:solidFill>
              <a:ln w="19050">
                <a:solidFill>
                  <a:schemeClr val="lt1"/>
                </a:solidFill>
              </a:ln>
              <a:effectLst/>
            </c:spPr>
            <c:extLst>
              <c:ext xmlns:c16="http://schemas.microsoft.com/office/drawing/2014/chart" uri="{C3380CC4-5D6E-409C-BE32-E72D297353CC}">
                <c16:uniqueId val="{00000003-048A-4978-BA69-872610E788B8}"/>
              </c:ext>
            </c:extLst>
          </c:dPt>
          <c:dPt>
            <c:idx val="2"/>
            <c:bubble3D val="0"/>
            <c:spPr>
              <a:solidFill>
                <a:schemeClr val="accent1">
                  <a:shade val="90000"/>
                </a:schemeClr>
              </a:solidFill>
              <a:ln w="19050">
                <a:solidFill>
                  <a:schemeClr val="lt1"/>
                </a:solidFill>
              </a:ln>
              <a:effectLst/>
            </c:spPr>
            <c:extLst>
              <c:ext xmlns:c16="http://schemas.microsoft.com/office/drawing/2014/chart" uri="{C3380CC4-5D6E-409C-BE32-E72D297353CC}">
                <c16:uniqueId val="{00000005-048A-4978-BA69-872610E788B8}"/>
              </c:ext>
            </c:extLst>
          </c:dPt>
          <c:dPt>
            <c:idx val="3"/>
            <c:bubble3D val="0"/>
            <c:spPr>
              <a:solidFill>
                <a:schemeClr val="accent1">
                  <a:tint val="90000"/>
                </a:schemeClr>
              </a:solidFill>
              <a:ln w="19050">
                <a:solidFill>
                  <a:schemeClr val="lt1"/>
                </a:solidFill>
              </a:ln>
              <a:effectLst/>
            </c:spPr>
            <c:extLst>
              <c:ext xmlns:c16="http://schemas.microsoft.com/office/drawing/2014/chart" uri="{C3380CC4-5D6E-409C-BE32-E72D297353CC}">
                <c16:uniqueId val="{00000007-048A-4978-BA69-872610E788B8}"/>
              </c:ext>
            </c:extLst>
          </c:dPt>
          <c:dPt>
            <c:idx val="4"/>
            <c:bubble3D val="0"/>
            <c:spPr>
              <a:solidFill>
                <a:schemeClr val="accent1">
                  <a:tint val="70000"/>
                </a:schemeClr>
              </a:solidFill>
              <a:ln w="19050">
                <a:solidFill>
                  <a:schemeClr val="lt1"/>
                </a:solidFill>
              </a:ln>
              <a:effectLst/>
            </c:spPr>
            <c:extLst>
              <c:ext xmlns:c16="http://schemas.microsoft.com/office/drawing/2014/chart" uri="{C3380CC4-5D6E-409C-BE32-E72D297353CC}">
                <c16:uniqueId val="{00000009-048A-4978-BA69-872610E788B8}"/>
              </c:ext>
            </c:extLst>
          </c:dPt>
          <c:dPt>
            <c:idx val="5"/>
            <c:bubble3D val="0"/>
            <c:spPr>
              <a:solidFill>
                <a:schemeClr val="accent1">
                  <a:tint val="50000"/>
                </a:schemeClr>
              </a:solidFill>
              <a:ln w="19050">
                <a:solidFill>
                  <a:schemeClr val="lt1"/>
                </a:solidFill>
              </a:ln>
              <a:effectLst/>
            </c:spPr>
            <c:extLst>
              <c:ext xmlns:c16="http://schemas.microsoft.com/office/drawing/2014/chart" uri="{C3380CC4-5D6E-409C-BE32-E72D297353CC}">
                <c16:uniqueId val="{0000000B-048A-4978-BA69-872610E788B8}"/>
              </c:ext>
            </c:extLst>
          </c:dPt>
          <c:dLbls>
            <c:dLbl>
              <c:idx val="0"/>
              <c:layout>
                <c:manualLayout>
                  <c:x val="1.7416047824083656E-2"/>
                  <c:y val="1.2586120340092342E-2"/>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048A-4978-BA69-872610E788B8}"/>
                </c:ext>
              </c:extLst>
            </c:dLbl>
            <c:dLbl>
              <c:idx val="1"/>
              <c:layout>
                <c:manualLayout>
                  <c:x val="1.7181418375537973E-2"/>
                  <c:y val="1.8773921489574617E-3"/>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048A-4978-BA69-872610E788B8}"/>
                </c:ext>
              </c:extLst>
            </c:dLbl>
            <c:dLbl>
              <c:idx val="2"/>
              <c:layout>
                <c:manualLayout>
                  <c:x val="8.2298601651973169E-2"/>
                  <c:y val="-2.4580288960576988E-2"/>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048A-4978-BA69-872610E788B8}"/>
                </c:ext>
              </c:extLst>
            </c:dLbl>
            <c:dLbl>
              <c:idx val="3"/>
              <c:layout>
                <c:manualLayout>
                  <c:x val="2.0385385293378726E-2"/>
                  <c:y val="8.4088111477491241E-3"/>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048A-4978-BA69-872610E788B8}"/>
                </c:ext>
              </c:extLst>
            </c:dLbl>
            <c:dLbl>
              <c:idx val="4"/>
              <c:layout>
                <c:manualLayout>
                  <c:x val="4.2466447692359043E-2"/>
                  <c:y val="-1.4872786955146853E-2"/>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048A-4978-BA69-872610E788B8}"/>
                </c:ext>
              </c:extLst>
            </c:dLbl>
            <c:dLbl>
              <c:idx val="5"/>
              <c:layout>
                <c:manualLayout>
                  <c:x val="1.7709729966608297E-2"/>
                  <c:y val="-3.9416302255074025E-3"/>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048A-4978-BA69-872610E788B8}"/>
                </c:ext>
              </c:extLst>
            </c:dLbl>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bestFit"/>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'[Track and Trace México_Dic_2025_Ene_2026.xlsx]graficos_TIEMP_dic2025_ene2026'!$A$85:$A$90</c:f>
              <c:strCache>
                <c:ptCount val="6"/>
                <c:pt idx="0">
                  <c:v>BIOLÓGICOS</c:v>
                </c:pt>
                <c:pt idx="1">
                  <c:v>CHC</c:v>
                </c:pt>
                <c:pt idx="2">
                  <c:v>GENMED</c:v>
                </c:pt>
                <c:pt idx="3">
                  <c:v>HUÉRFANOS</c:v>
                </c:pt>
                <c:pt idx="4">
                  <c:v>MATERIA PRIMA</c:v>
                </c:pt>
                <c:pt idx="5">
                  <c:v>VAX</c:v>
                </c:pt>
              </c:strCache>
            </c:strRef>
          </c:cat>
          <c:val>
            <c:numRef>
              <c:f>'[Track and Trace México_Dic_2025_Ene_2026.xlsx]graficos_TIEMP_dic2025_ene2026'!$B$85:$B$90</c:f>
              <c:numCache>
                <c:formatCode>General</c:formatCode>
                <c:ptCount val="6"/>
                <c:pt idx="0">
                  <c:v>2</c:v>
                </c:pt>
                <c:pt idx="1">
                  <c:v>3</c:v>
                </c:pt>
                <c:pt idx="2">
                  <c:v>37</c:v>
                </c:pt>
                <c:pt idx="3">
                  <c:v>4</c:v>
                </c:pt>
                <c:pt idx="4">
                  <c:v>2</c:v>
                </c:pt>
                <c:pt idx="5">
                  <c:v>3</c:v>
                </c:pt>
              </c:numCache>
            </c:numRef>
          </c:val>
          <c:extLst>
            <c:ext xmlns:c16="http://schemas.microsoft.com/office/drawing/2014/chart" uri="{C3380CC4-5D6E-409C-BE32-E72D297353CC}">
              <c16:uniqueId val="{0000000C-048A-4978-BA69-872610E788B8}"/>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es-MX"/>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noProof="0" dirty="0"/>
              <a:t>ENTRADA A CRUCE (DÍAS HÁBILES)</a:t>
            </a:r>
          </a:p>
          <a:p>
            <a:pPr>
              <a:defRPr/>
            </a:pPr>
            <a:r>
              <a:rPr lang="es-MX" noProof="0" dirty="0"/>
              <a:t>POR RAZÓN SOCIAL</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col"/>
        <c:grouping val="clustered"/>
        <c:varyColors val="0"/>
        <c:ser>
          <c:idx val="0"/>
          <c:order val="0"/>
          <c:tx>
            <c:strRef>
              <c:f>graficos_TIEMP_dic2025_ene2026!$A$26</c:f>
              <c:strCache>
                <c:ptCount val="1"/>
                <c:pt idx="0">
                  <c:v>SANOFI - AVENTIS DE MEXICO, S.A. DE C.V.</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graficos_TIEMP_dic2025_ene2026!$B$25:$C$25</c:f>
              <c:strCache>
                <c:ptCount val="2"/>
                <c:pt idx="0">
                  <c:v>Ene</c:v>
                </c:pt>
                <c:pt idx="1">
                  <c:v>Feb</c:v>
                </c:pt>
              </c:strCache>
            </c:strRef>
          </c:cat>
          <c:val>
            <c:numRef>
              <c:f>graficos_TIEMP_dic2025_ene2026!$B$26:$C$26</c:f>
              <c:numCache>
                <c:formatCode>0</c:formatCode>
                <c:ptCount val="2"/>
                <c:pt idx="1">
                  <c:v>3</c:v>
                </c:pt>
              </c:numCache>
            </c:numRef>
          </c:val>
          <c:extLst>
            <c:ext xmlns:c16="http://schemas.microsoft.com/office/drawing/2014/chart" uri="{C3380CC4-5D6E-409C-BE32-E72D297353CC}">
              <c16:uniqueId val="{00000000-1AFB-4EA6-94AB-22BAAE8752D1}"/>
            </c:ext>
          </c:extLst>
        </c:ser>
        <c:ser>
          <c:idx val="1"/>
          <c:order val="1"/>
          <c:tx>
            <c:strRef>
              <c:f>graficos_TIEMP_dic2025_ene2026!$A$27</c:f>
              <c:strCache>
                <c:ptCount val="1"/>
                <c:pt idx="0">
                  <c:v>SANOFI PASTEUR, S.A DE C.V.</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graficos_TIEMP_dic2025_ene2026!$B$25:$C$25</c:f>
              <c:strCache>
                <c:ptCount val="2"/>
                <c:pt idx="0">
                  <c:v>Ene</c:v>
                </c:pt>
                <c:pt idx="1">
                  <c:v>Feb</c:v>
                </c:pt>
              </c:strCache>
            </c:strRef>
          </c:cat>
          <c:val>
            <c:numRef>
              <c:f>graficos_TIEMP_dic2025_ene2026!$B$27:$C$27</c:f>
              <c:numCache>
                <c:formatCode>0</c:formatCode>
                <c:ptCount val="2"/>
                <c:pt idx="0">
                  <c:v>5</c:v>
                </c:pt>
                <c:pt idx="1">
                  <c:v>4</c:v>
                </c:pt>
              </c:numCache>
            </c:numRef>
          </c:val>
          <c:extLst>
            <c:ext xmlns:c16="http://schemas.microsoft.com/office/drawing/2014/chart" uri="{C3380CC4-5D6E-409C-BE32-E72D297353CC}">
              <c16:uniqueId val="{00000000-E00B-4F45-B42D-E51439BCAC72}"/>
            </c:ext>
          </c:extLst>
        </c:ser>
        <c:dLbls>
          <c:dLblPos val="outEnd"/>
          <c:showLegendKey val="0"/>
          <c:showVal val="1"/>
          <c:showCatName val="0"/>
          <c:showSerName val="0"/>
          <c:showPercent val="0"/>
          <c:showBubbleSize val="0"/>
        </c:dLbls>
        <c:gapWidth val="219"/>
        <c:overlap val="-27"/>
        <c:axId val="1115826463"/>
        <c:axId val="1115835583"/>
      </c:barChart>
      <c:catAx>
        <c:axId val="1115826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crossAx val="1115835583"/>
        <c:crosses val="autoZero"/>
        <c:auto val="1"/>
        <c:lblAlgn val="ctr"/>
        <c:lblOffset val="100"/>
        <c:noMultiLvlLbl val="0"/>
      </c:catAx>
      <c:valAx>
        <c:axId val="1115835583"/>
        <c:scaling>
          <c:orientation val="minMax"/>
        </c:scaling>
        <c:delete val="1"/>
        <c:axPos val="l"/>
        <c:numFmt formatCode="0" sourceLinked="1"/>
        <c:majorTickMark val="none"/>
        <c:minorTickMark val="none"/>
        <c:tickLblPos val="nextTo"/>
        <c:crossAx val="1115826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800"/>
      </a:pPr>
      <a:endParaRPr lang="es-MX"/>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s-MX" noProof="0" dirty="0"/>
              <a:t>ENTRADA A CRUCE (DÍAS HÁBILES) </a:t>
            </a:r>
          </a:p>
          <a:p>
            <a:pPr>
              <a:defRPr/>
            </a:pPr>
            <a:r>
              <a:rPr lang="es-MX" noProof="0" dirty="0"/>
              <a:t>POR ADUANA</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bar"/>
        <c:grouping val="clustered"/>
        <c:varyColors val="0"/>
        <c:ser>
          <c:idx val="0"/>
          <c:order val="0"/>
          <c:tx>
            <c:strRef>
              <c:f>graficos_TIEMP_dic2025_ene2026!$H$25</c:f>
              <c:strCache>
                <c:ptCount val="1"/>
                <c:pt idx="0">
                  <c:v>Ene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graficos_TIEMP_dic2025_ene2026!$G$26:$G$28</c:f>
              <c:strCache>
                <c:ptCount val="3"/>
                <c:pt idx="0">
                  <c:v>AIFA ESTADO DE MEXICO</c:v>
                </c:pt>
                <c:pt idx="1">
                  <c:v>CIUDAD DE MÉXICO</c:v>
                </c:pt>
                <c:pt idx="2">
                  <c:v>VERACRUZ</c:v>
                </c:pt>
              </c:strCache>
            </c:strRef>
          </c:cat>
          <c:val>
            <c:numRef>
              <c:f>graficos_TIEMP_dic2025_ene2026!$H$26:$H$28</c:f>
              <c:numCache>
                <c:formatCode>0</c:formatCode>
                <c:ptCount val="3"/>
                <c:pt idx="0">
                  <c:v>2</c:v>
                </c:pt>
                <c:pt idx="1">
                  <c:v>6</c:v>
                </c:pt>
                <c:pt idx="2">
                  <c:v>6</c:v>
                </c:pt>
              </c:numCache>
            </c:numRef>
          </c:val>
          <c:extLst>
            <c:ext xmlns:c16="http://schemas.microsoft.com/office/drawing/2014/chart" uri="{C3380CC4-5D6E-409C-BE32-E72D297353CC}">
              <c16:uniqueId val="{00000000-C6D2-4B0D-A0E4-6D86264FEDD9}"/>
            </c:ext>
          </c:extLst>
        </c:ser>
        <c:ser>
          <c:idx val="1"/>
          <c:order val="1"/>
          <c:tx>
            <c:strRef>
              <c:f>graficos_TIEMP_dic2025_ene2026!$I$25</c:f>
              <c:strCache>
                <c:ptCount val="1"/>
                <c:pt idx="0">
                  <c:v>Feb</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graficos_TIEMP_dic2025_ene2026!$G$26:$G$28</c:f>
              <c:strCache>
                <c:ptCount val="3"/>
                <c:pt idx="0">
                  <c:v>AIFA ESTADO DE MEXICO</c:v>
                </c:pt>
                <c:pt idx="1">
                  <c:v>CIUDAD DE MÉXICO</c:v>
                </c:pt>
                <c:pt idx="2">
                  <c:v>VERACRUZ</c:v>
                </c:pt>
              </c:strCache>
            </c:strRef>
          </c:cat>
          <c:val>
            <c:numRef>
              <c:f>graficos_TIEMP_dic2025_ene2026!$I$26:$I$28</c:f>
              <c:numCache>
                <c:formatCode>0</c:formatCode>
                <c:ptCount val="3"/>
                <c:pt idx="0">
                  <c:v>2</c:v>
                </c:pt>
                <c:pt idx="1">
                  <c:v>3</c:v>
                </c:pt>
                <c:pt idx="2">
                  <c:v>7</c:v>
                </c:pt>
              </c:numCache>
            </c:numRef>
          </c:val>
          <c:extLst>
            <c:ext xmlns:c16="http://schemas.microsoft.com/office/drawing/2014/chart" uri="{C3380CC4-5D6E-409C-BE32-E72D297353CC}">
              <c16:uniqueId val="{00000001-C6D2-4B0D-A0E4-6D86264FEDD9}"/>
            </c:ext>
          </c:extLst>
        </c:ser>
        <c:dLbls>
          <c:dLblPos val="outEnd"/>
          <c:showLegendKey val="0"/>
          <c:showVal val="1"/>
          <c:showCatName val="0"/>
          <c:showSerName val="0"/>
          <c:showPercent val="0"/>
          <c:showBubbleSize val="0"/>
        </c:dLbls>
        <c:gapWidth val="182"/>
        <c:axId val="1732007711"/>
        <c:axId val="1732006271"/>
      </c:barChart>
      <c:catAx>
        <c:axId val="1732007711"/>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crossAx val="1732006271"/>
        <c:crosses val="autoZero"/>
        <c:auto val="1"/>
        <c:lblAlgn val="ctr"/>
        <c:lblOffset val="100"/>
        <c:noMultiLvlLbl val="0"/>
      </c:catAx>
      <c:valAx>
        <c:axId val="1732006271"/>
        <c:scaling>
          <c:orientation val="minMax"/>
        </c:scaling>
        <c:delete val="1"/>
        <c:axPos val="b"/>
        <c:numFmt formatCode="0" sourceLinked="1"/>
        <c:majorTickMark val="out"/>
        <c:minorTickMark val="none"/>
        <c:tickLblPos val="nextTo"/>
        <c:crossAx val="17320077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600"/>
      </a:pPr>
      <a:endParaRPr lang="es-MX"/>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s-MX" noProof="0" dirty="0"/>
              <a:t>FACTURACIÓN (DÍAS HÁBILES)</a:t>
            </a:r>
          </a:p>
          <a:p>
            <a:pPr>
              <a:defRPr/>
            </a:pPr>
            <a:r>
              <a:rPr lang="es-MX" noProof="0" dirty="0"/>
              <a:t>POR RAZÓN SOCIAL</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col"/>
        <c:grouping val="clustered"/>
        <c:varyColors val="0"/>
        <c:ser>
          <c:idx val="0"/>
          <c:order val="0"/>
          <c:tx>
            <c:strRef>
              <c:f>graficos_TIEMP_dic2025_ene2026!$G$49</c:f>
              <c:strCache>
                <c:ptCount val="1"/>
                <c:pt idx="0">
                  <c:v>SANOFI - AVENTIS DE MEXICO, S.A. DE C.V.</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graficos_TIEMP_dic2025_ene2026!$H$48:$I$48</c:f>
              <c:strCache>
                <c:ptCount val="2"/>
                <c:pt idx="0">
                  <c:v>Ene</c:v>
                </c:pt>
                <c:pt idx="1">
                  <c:v>Feb</c:v>
                </c:pt>
              </c:strCache>
            </c:strRef>
          </c:cat>
          <c:val>
            <c:numRef>
              <c:f>graficos_TIEMP_dic2025_ene2026!$H$49:$I$49</c:f>
              <c:numCache>
                <c:formatCode>0</c:formatCode>
                <c:ptCount val="2"/>
                <c:pt idx="1">
                  <c:v>2</c:v>
                </c:pt>
              </c:numCache>
            </c:numRef>
          </c:val>
          <c:extLst>
            <c:ext xmlns:c16="http://schemas.microsoft.com/office/drawing/2014/chart" uri="{C3380CC4-5D6E-409C-BE32-E72D297353CC}">
              <c16:uniqueId val="{00000000-7D5D-4991-8B42-8DABB57CD080}"/>
            </c:ext>
          </c:extLst>
        </c:ser>
        <c:ser>
          <c:idx val="1"/>
          <c:order val="1"/>
          <c:tx>
            <c:strRef>
              <c:f>graficos_TIEMP_dic2025_ene2026!$G$50</c:f>
              <c:strCache>
                <c:ptCount val="1"/>
                <c:pt idx="0">
                  <c:v>SANOFI PASTEUR, S.A DE C.V.</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graficos_TIEMP_dic2025_ene2026!$H$48:$I$48</c:f>
              <c:strCache>
                <c:ptCount val="2"/>
                <c:pt idx="0">
                  <c:v>Ene</c:v>
                </c:pt>
                <c:pt idx="1">
                  <c:v>Feb</c:v>
                </c:pt>
              </c:strCache>
            </c:strRef>
          </c:cat>
          <c:val>
            <c:numRef>
              <c:f>graficos_TIEMP_dic2025_ene2026!$H$50:$I$50</c:f>
              <c:numCache>
                <c:formatCode>0</c:formatCode>
                <c:ptCount val="2"/>
                <c:pt idx="0">
                  <c:v>2</c:v>
                </c:pt>
                <c:pt idx="1">
                  <c:v>1</c:v>
                </c:pt>
              </c:numCache>
            </c:numRef>
          </c:val>
          <c:extLst>
            <c:ext xmlns:c16="http://schemas.microsoft.com/office/drawing/2014/chart" uri="{C3380CC4-5D6E-409C-BE32-E72D297353CC}">
              <c16:uniqueId val="{00000001-7D5D-4991-8B42-8DABB57CD080}"/>
            </c:ext>
          </c:extLst>
        </c:ser>
        <c:dLbls>
          <c:dLblPos val="outEnd"/>
          <c:showLegendKey val="0"/>
          <c:showVal val="1"/>
          <c:showCatName val="0"/>
          <c:showSerName val="0"/>
          <c:showPercent val="0"/>
          <c:showBubbleSize val="0"/>
        </c:dLbls>
        <c:gapWidth val="219"/>
        <c:overlap val="-27"/>
        <c:axId val="38515008"/>
        <c:axId val="38515968"/>
      </c:barChart>
      <c:catAx>
        <c:axId val="3851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crossAx val="38515968"/>
        <c:crosses val="autoZero"/>
        <c:auto val="1"/>
        <c:lblAlgn val="ctr"/>
        <c:lblOffset val="100"/>
        <c:noMultiLvlLbl val="0"/>
      </c:catAx>
      <c:valAx>
        <c:axId val="38515968"/>
        <c:scaling>
          <c:orientation val="minMax"/>
        </c:scaling>
        <c:delete val="1"/>
        <c:axPos val="l"/>
        <c:numFmt formatCode="0" sourceLinked="1"/>
        <c:majorTickMark val="none"/>
        <c:minorTickMark val="none"/>
        <c:tickLblPos val="nextTo"/>
        <c:crossAx val="38515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600"/>
      </a:pPr>
      <a:endParaRPr lang="es-MX"/>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s-MX" noProof="0" dirty="0"/>
              <a:t>FACTURACIÓN (DÍAS HÁBILES) </a:t>
            </a:r>
          </a:p>
          <a:p>
            <a:pPr>
              <a:defRPr/>
            </a:pPr>
            <a:r>
              <a:rPr lang="es-MX" noProof="0" dirty="0"/>
              <a:t>POR ADUANA</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bar"/>
        <c:grouping val="clustered"/>
        <c:varyColors val="0"/>
        <c:ser>
          <c:idx val="0"/>
          <c:order val="0"/>
          <c:tx>
            <c:strRef>
              <c:f>graficos_TIEMP_dic2025_ene2026!$M$40</c:f>
              <c:strCache>
                <c:ptCount val="1"/>
                <c:pt idx="0">
                  <c:v>Ene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graficos_TIEMP_dic2025_ene2026!$L$41:$L$43</c:f>
              <c:strCache>
                <c:ptCount val="3"/>
                <c:pt idx="0">
                  <c:v>AICM</c:v>
                </c:pt>
                <c:pt idx="1">
                  <c:v>AIFA</c:v>
                </c:pt>
                <c:pt idx="2">
                  <c:v>VERACRUZ</c:v>
                </c:pt>
              </c:strCache>
            </c:strRef>
          </c:cat>
          <c:val>
            <c:numRef>
              <c:f>graficos_TIEMP_dic2025_ene2026!$M$41:$M$43</c:f>
              <c:numCache>
                <c:formatCode>General</c:formatCode>
                <c:ptCount val="3"/>
                <c:pt idx="0">
                  <c:v>1</c:v>
                </c:pt>
                <c:pt idx="1">
                  <c:v>2</c:v>
                </c:pt>
                <c:pt idx="2">
                  <c:v>2</c:v>
                </c:pt>
              </c:numCache>
            </c:numRef>
          </c:val>
          <c:extLst>
            <c:ext xmlns:c16="http://schemas.microsoft.com/office/drawing/2014/chart" uri="{C3380CC4-5D6E-409C-BE32-E72D297353CC}">
              <c16:uniqueId val="{00000000-579D-46F6-A2E1-627D2A6E9D81}"/>
            </c:ext>
          </c:extLst>
        </c:ser>
        <c:ser>
          <c:idx val="1"/>
          <c:order val="1"/>
          <c:tx>
            <c:strRef>
              <c:f>graficos_TIEMP_dic2025_ene2026!$N$40</c:f>
              <c:strCache>
                <c:ptCount val="1"/>
                <c:pt idx="0">
                  <c:v>Feb</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graficos_TIEMP_dic2025_ene2026!$L$41:$L$43</c:f>
              <c:strCache>
                <c:ptCount val="3"/>
                <c:pt idx="0">
                  <c:v>AICM</c:v>
                </c:pt>
                <c:pt idx="1">
                  <c:v>AIFA</c:v>
                </c:pt>
                <c:pt idx="2">
                  <c:v>VERACRUZ</c:v>
                </c:pt>
              </c:strCache>
            </c:strRef>
          </c:cat>
          <c:val>
            <c:numRef>
              <c:f>graficos_TIEMP_dic2025_ene2026!$N$41:$N$43</c:f>
              <c:numCache>
                <c:formatCode>General</c:formatCode>
                <c:ptCount val="3"/>
                <c:pt idx="0">
                  <c:v>2</c:v>
                </c:pt>
                <c:pt idx="1">
                  <c:v>1</c:v>
                </c:pt>
                <c:pt idx="2">
                  <c:v>1</c:v>
                </c:pt>
              </c:numCache>
            </c:numRef>
          </c:val>
          <c:extLst>
            <c:ext xmlns:c16="http://schemas.microsoft.com/office/drawing/2014/chart" uri="{C3380CC4-5D6E-409C-BE32-E72D297353CC}">
              <c16:uniqueId val="{00000001-579D-46F6-A2E1-627D2A6E9D81}"/>
            </c:ext>
          </c:extLst>
        </c:ser>
        <c:dLbls>
          <c:dLblPos val="outEnd"/>
          <c:showLegendKey val="0"/>
          <c:showVal val="1"/>
          <c:showCatName val="0"/>
          <c:showSerName val="0"/>
          <c:showPercent val="0"/>
          <c:showBubbleSize val="0"/>
        </c:dLbls>
        <c:gapWidth val="182"/>
        <c:axId val="38502528"/>
        <c:axId val="38512608"/>
      </c:barChart>
      <c:catAx>
        <c:axId val="3850252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crossAx val="38512608"/>
        <c:crosses val="autoZero"/>
        <c:auto val="1"/>
        <c:lblAlgn val="ctr"/>
        <c:lblOffset val="100"/>
        <c:noMultiLvlLbl val="0"/>
      </c:catAx>
      <c:valAx>
        <c:axId val="38512608"/>
        <c:scaling>
          <c:orientation val="minMax"/>
        </c:scaling>
        <c:delete val="1"/>
        <c:axPos val="b"/>
        <c:numFmt formatCode="General" sourceLinked="1"/>
        <c:majorTickMark val="none"/>
        <c:minorTickMark val="none"/>
        <c:tickLblPos val="nextTo"/>
        <c:crossAx val="385025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600"/>
      </a:pPr>
      <a:endParaRPr lang="es-MX"/>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4F41-48A5-B567-559CDD352BBF}"/>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4F41-48A5-B567-559CDD352BBF}"/>
              </c:ext>
            </c:extLst>
          </c:dPt>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s-MX"/>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GRAFICOS_CONSULTA_2025!$A$111:$A$112</c:f>
              <c:strCache>
                <c:ptCount val="2"/>
                <c:pt idx="0">
                  <c:v>AL CORRIENTE</c:v>
                </c:pt>
                <c:pt idx="1">
                  <c:v>VENCIDO</c:v>
                </c:pt>
              </c:strCache>
            </c:strRef>
          </c:cat>
          <c:val>
            <c:numRef>
              <c:f>GRAFICOS_CONSULTA_2025!$B$111:$B$112</c:f>
              <c:numCache>
                <c:formatCode>0%</c:formatCode>
                <c:ptCount val="2"/>
                <c:pt idx="0">
                  <c:v>0.01</c:v>
                </c:pt>
                <c:pt idx="1">
                  <c:v>0.99</c:v>
                </c:pt>
              </c:numCache>
            </c:numRef>
          </c:val>
          <c:extLst>
            <c:ext xmlns:c16="http://schemas.microsoft.com/office/drawing/2014/chart" uri="{C3380CC4-5D6E-409C-BE32-E72D297353CC}">
              <c16:uniqueId val="{00000004-4F41-48A5-B567-559CDD352BBF}"/>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s-MX"/>
        </a:p>
      </c:txPr>
    </c:legend>
    <c:plotVisOnly val="1"/>
    <c:dispBlanksAs val="gap"/>
    <c:showDLblsOverMax val="0"/>
  </c:chart>
  <c:spPr>
    <a:noFill/>
    <a:ln>
      <a:noFill/>
    </a:ln>
    <a:effectLst/>
  </c:spPr>
  <c:txPr>
    <a:bodyPr/>
    <a:lstStyle/>
    <a:p>
      <a:pPr>
        <a:defRPr sz="1600">
          <a:latin typeface="Arial" panose="020B0604020202020204" pitchFamily="34" charset="0"/>
          <a:cs typeface="Arial" panose="020B0604020202020204" pitchFamily="34" charset="0"/>
        </a:defRPr>
      </a:pPr>
      <a:endParaRPr lang="es-MX"/>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image" Target="../media/image20.jpg"/></Relationships>
</file>

<file path=ppt/diagrams/_rels/drawing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image" Target="../media/image20.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73CE15-DE68-4056-A05A-6DD97CBAF485}"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s-MX"/>
        </a:p>
      </dgm:t>
    </dgm:pt>
    <dgm:pt modelId="{EF09B6FE-F558-4596-B5A8-974A9FB36C6D}">
      <dgm:prSet phldrT="[Texto]" phldr="0"/>
      <dgm:spPr/>
      <dgm:t>
        <a:bodyPr/>
        <a:lstStyle/>
        <a:p>
          <a:r>
            <a:rPr lang="es-MX" noProof="0" dirty="0"/>
            <a:t>Mercancía</a:t>
          </a:r>
        </a:p>
      </dgm:t>
    </dgm:pt>
    <dgm:pt modelId="{1D001D01-29A5-4B1C-B181-FAC8F3B19DC1}" type="parTrans" cxnId="{DA6914B9-D967-438C-818F-F352748D1174}">
      <dgm:prSet/>
      <dgm:spPr/>
      <dgm:t>
        <a:bodyPr/>
        <a:lstStyle/>
        <a:p>
          <a:endParaRPr lang="es-MX"/>
        </a:p>
      </dgm:t>
    </dgm:pt>
    <dgm:pt modelId="{CF704021-6E97-449A-BD70-448831305A13}" type="sibTrans" cxnId="{DA6914B9-D967-438C-818F-F352748D1174}">
      <dgm:prSet/>
      <dgm:spPr/>
      <dgm:t>
        <a:bodyPr/>
        <a:lstStyle/>
        <a:p>
          <a:endParaRPr lang="es-MX"/>
        </a:p>
      </dgm:t>
    </dgm:pt>
    <dgm:pt modelId="{34B6F7C8-92F4-4A65-8D1B-2646403D7C1A}">
      <dgm:prSet phldrT="[Texto]"/>
      <dgm:spPr/>
      <dgm:t>
        <a:bodyPr/>
        <a:lstStyle/>
        <a:p>
          <a:r>
            <a:rPr lang="es-ES" b="1" noProof="0" dirty="0">
              <a:solidFill>
                <a:schemeClr val="tx2"/>
              </a:solidFill>
            </a:rPr>
            <a:t>CLEXANE</a:t>
          </a:r>
          <a:endParaRPr lang="es-MX" b="1" noProof="0" dirty="0">
            <a:solidFill>
              <a:schemeClr val="tx2"/>
            </a:solidFill>
          </a:endParaRPr>
        </a:p>
      </dgm:t>
    </dgm:pt>
    <dgm:pt modelId="{7B564721-8AA4-4BDD-BE9C-D627128131A7}" type="parTrans" cxnId="{6C833D07-2D46-4ED0-B3F9-3AE2C702A31C}">
      <dgm:prSet/>
      <dgm:spPr/>
      <dgm:t>
        <a:bodyPr/>
        <a:lstStyle/>
        <a:p>
          <a:endParaRPr lang="es-MX"/>
        </a:p>
      </dgm:t>
    </dgm:pt>
    <dgm:pt modelId="{47E0BB76-D3BE-44BB-9EC9-20F5618E568F}" type="sibTrans" cxnId="{6C833D07-2D46-4ED0-B3F9-3AE2C702A31C}">
      <dgm:prSet/>
      <dgm:spPr/>
      <dgm:t>
        <a:bodyPr/>
        <a:lstStyle/>
        <a:p>
          <a:endParaRPr lang="es-MX"/>
        </a:p>
      </dgm:t>
    </dgm:pt>
    <dgm:pt modelId="{D0DA487B-EA19-4D2F-B273-91E4B8B2CE8F}">
      <dgm:prSet phldrT="[Texto]" phldr="0"/>
      <dgm:spPr/>
      <dgm:t>
        <a:bodyPr/>
        <a:lstStyle/>
        <a:p>
          <a:r>
            <a:rPr lang="es-MX" noProof="0" dirty="0"/>
            <a:t>Aduana</a:t>
          </a:r>
        </a:p>
      </dgm:t>
    </dgm:pt>
    <dgm:pt modelId="{CC81D823-6AAA-4EFE-A5B8-C030D47074E4}" type="parTrans" cxnId="{ECCC04CB-241B-4AE7-9D8F-8334CC1D6296}">
      <dgm:prSet/>
      <dgm:spPr/>
      <dgm:t>
        <a:bodyPr/>
        <a:lstStyle/>
        <a:p>
          <a:endParaRPr lang="es-MX"/>
        </a:p>
      </dgm:t>
    </dgm:pt>
    <dgm:pt modelId="{1CD4B6C6-508D-4170-B289-6B56107FE0EE}" type="sibTrans" cxnId="{ECCC04CB-241B-4AE7-9D8F-8334CC1D6296}">
      <dgm:prSet/>
      <dgm:spPr/>
      <dgm:t>
        <a:bodyPr/>
        <a:lstStyle/>
        <a:p>
          <a:endParaRPr lang="es-MX"/>
        </a:p>
      </dgm:t>
    </dgm:pt>
    <dgm:pt modelId="{521B2FBF-5A06-4D66-A661-EEF98ABD55DD}">
      <dgm:prSet phldrT="[Texto]" phldr="0"/>
      <dgm:spPr/>
      <dgm:t>
        <a:bodyPr/>
        <a:lstStyle/>
        <a:p>
          <a:r>
            <a:rPr lang="es-MX" noProof="0" dirty="0"/>
            <a:t>	AIFA</a:t>
          </a:r>
          <a:endParaRPr lang="es-MX" b="1" noProof="0" dirty="0">
            <a:solidFill>
              <a:schemeClr val="tx2"/>
            </a:solidFill>
          </a:endParaRPr>
        </a:p>
      </dgm:t>
    </dgm:pt>
    <dgm:pt modelId="{D1D584B1-25F2-4973-9D7E-2987C064B610}" type="parTrans" cxnId="{7C7204D1-F1CC-45E3-B966-1B1E332D85EB}">
      <dgm:prSet/>
      <dgm:spPr/>
      <dgm:t>
        <a:bodyPr/>
        <a:lstStyle/>
        <a:p>
          <a:endParaRPr lang="es-MX"/>
        </a:p>
      </dgm:t>
    </dgm:pt>
    <dgm:pt modelId="{11A0EA7F-86D1-4F42-B38D-14C7637C979A}" type="sibTrans" cxnId="{7C7204D1-F1CC-45E3-B966-1B1E332D85EB}">
      <dgm:prSet/>
      <dgm:spPr/>
      <dgm:t>
        <a:bodyPr/>
        <a:lstStyle/>
        <a:p>
          <a:endParaRPr lang="es-MX"/>
        </a:p>
      </dgm:t>
    </dgm:pt>
    <dgm:pt modelId="{2892FB51-7DC2-4C3B-9A00-7C9567F070B9}">
      <dgm:prSet phldrT="[Texto]" phldr="0"/>
      <dgm:spPr/>
      <dgm:t>
        <a:bodyPr/>
        <a:lstStyle/>
        <a:p>
          <a:r>
            <a:rPr lang="es-MX" noProof="0" dirty="0"/>
            <a:t>Motivo</a:t>
          </a:r>
        </a:p>
      </dgm:t>
    </dgm:pt>
    <dgm:pt modelId="{DFFA6B57-FB7E-4FA4-907B-5500F88A7B82}" type="parTrans" cxnId="{266A522C-06DC-4606-920A-C20110BFA006}">
      <dgm:prSet/>
      <dgm:spPr/>
      <dgm:t>
        <a:bodyPr/>
        <a:lstStyle/>
        <a:p>
          <a:endParaRPr lang="es-MX"/>
        </a:p>
      </dgm:t>
    </dgm:pt>
    <dgm:pt modelId="{655D9C7E-7611-4F2A-B203-B70D6BA0EAAD}" type="sibTrans" cxnId="{266A522C-06DC-4606-920A-C20110BFA006}">
      <dgm:prSet/>
      <dgm:spPr/>
      <dgm:t>
        <a:bodyPr/>
        <a:lstStyle/>
        <a:p>
          <a:endParaRPr lang="es-MX"/>
        </a:p>
      </dgm:t>
    </dgm:pt>
    <dgm:pt modelId="{61BDCE18-C3A9-430A-858F-5D09E82C65D5}">
      <dgm:prSet phldrT="[Texto]" phldr="0"/>
      <dgm:spPr/>
      <dgm:t>
        <a:bodyPr/>
        <a:lstStyle/>
        <a:p>
          <a:r>
            <a:rPr lang="es-ES" b="1" noProof="0" dirty="0">
              <a:solidFill>
                <a:schemeClr val="tx2"/>
              </a:solidFill>
            </a:rPr>
            <a:t>PERMISO</a:t>
          </a:r>
          <a:endParaRPr lang="es-MX" b="1" noProof="0" dirty="0">
            <a:solidFill>
              <a:schemeClr val="tx2"/>
            </a:solidFill>
          </a:endParaRPr>
        </a:p>
      </dgm:t>
    </dgm:pt>
    <dgm:pt modelId="{D350FA77-3CE5-49FF-827B-846BB8552F3E}" type="parTrans" cxnId="{1DACBEB4-713E-4EBD-AF9D-44F8CA852808}">
      <dgm:prSet/>
      <dgm:spPr/>
      <dgm:t>
        <a:bodyPr/>
        <a:lstStyle/>
        <a:p>
          <a:endParaRPr lang="es-MX"/>
        </a:p>
      </dgm:t>
    </dgm:pt>
    <dgm:pt modelId="{AA03C649-36F5-4ADD-8907-A1BC7CDAAAA1}" type="sibTrans" cxnId="{1DACBEB4-713E-4EBD-AF9D-44F8CA852808}">
      <dgm:prSet/>
      <dgm:spPr/>
      <dgm:t>
        <a:bodyPr/>
        <a:lstStyle/>
        <a:p>
          <a:endParaRPr lang="es-MX"/>
        </a:p>
      </dgm:t>
    </dgm:pt>
    <dgm:pt modelId="{B13482BC-9467-48ED-B9B1-B42BD70EDDC9}" type="pres">
      <dgm:prSet presAssocID="{F573CE15-DE68-4056-A05A-6DD97CBAF485}" presName="Name0" presStyleCnt="0">
        <dgm:presLayoutVars>
          <dgm:dir/>
          <dgm:resizeHandles val="exact"/>
        </dgm:presLayoutVars>
      </dgm:prSet>
      <dgm:spPr/>
    </dgm:pt>
    <dgm:pt modelId="{57CC937D-D7DD-4EFC-82F9-061B6B4616E5}" type="pres">
      <dgm:prSet presAssocID="{EF09B6FE-F558-4596-B5A8-974A9FB36C6D}" presName="composite" presStyleCnt="0"/>
      <dgm:spPr/>
    </dgm:pt>
    <dgm:pt modelId="{4E3B240D-6AF9-4204-AF05-40F4117437BA}" type="pres">
      <dgm:prSet presAssocID="{EF09B6FE-F558-4596-B5A8-974A9FB36C6D}" presName="rect1" presStyleLbl="trAlignAcc1" presStyleIdx="0" presStyleCnt="3">
        <dgm:presLayoutVars>
          <dgm:bulletEnabled val="1"/>
        </dgm:presLayoutVars>
      </dgm:prSet>
      <dgm:spPr/>
    </dgm:pt>
    <dgm:pt modelId="{5D58126E-15F2-4EA8-A999-D256B5008E1E}" type="pres">
      <dgm:prSet presAssocID="{EF09B6FE-F558-4596-B5A8-974A9FB36C6D}" presName="rect2" presStyleLbl="fgImgPlace1" presStyleIdx="0" presStyleCnt="3"/>
      <dgm:spPr>
        <a:blipFill>
          <a:blip xmlns:r="http://schemas.openxmlformats.org/officeDocument/2006/relationships" r:embed="rId1"/>
          <a:srcRect/>
          <a:stretch>
            <a:fillRect l="-25000" r="-25000"/>
          </a:stretch>
        </a:blipFill>
      </dgm:spPr>
    </dgm:pt>
    <dgm:pt modelId="{21413064-5DD4-4401-B535-C29E2B53AF96}" type="pres">
      <dgm:prSet presAssocID="{CF704021-6E97-449A-BD70-448831305A13}" presName="sibTrans" presStyleCnt="0"/>
      <dgm:spPr/>
    </dgm:pt>
    <dgm:pt modelId="{2102F3F8-B5B8-48CC-9465-E83C8D97FF24}" type="pres">
      <dgm:prSet presAssocID="{D0DA487B-EA19-4D2F-B273-91E4B8B2CE8F}" presName="composite" presStyleCnt="0"/>
      <dgm:spPr/>
    </dgm:pt>
    <dgm:pt modelId="{B132603E-C1EF-4115-983A-386115635337}" type="pres">
      <dgm:prSet presAssocID="{D0DA487B-EA19-4D2F-B273-91E4B8B2CE8F}" presName="rect1" presStyleLbl="trAlignAcc1" presStyleIdx="1" presStyleCnt="3">
        <dgm:presLayoutVars>
          <dgm:bulletEnabled val="1"/>
        </dgm:presLayoutVars>
      </dgm:prSet>
      <dgm:spPr/>
    </dgm:pt>
    <dgm:pt modelId="{D399A43A-A0EA-471F-A0F8-E0D735361230}" type="pres">
      <dgm:prSet presAssocID="{D0DA487B-EA19-4D2F-B273-91E4B8B2CE8F}" presName="rect2" presStyleLbl="fgImgPlace1" presStyleIdx="1" presStyleCnt="3" custScaleX="110000" custScaleY="110000"/>
      <dgm:spPr>
        <a:blipFill>
          <a:blip xmlns:r="http://schemas.openxmlformats.org/officeDocument/2006/relationships" r:embed="rId2"/>
          <a:srcRect/>
          <a:stretch>
            <a:fillRect l="-25000" r="-25000"/>
          </a:stretch>
        </a:blipFill>
      </dgm:spPr>
    </dgm:pt>
    <dgm:pt modelId="{67CCA9B0-C9B4-49D3-9155-72BAA10F3642}" type="pres">
      <dgm:prSet presAssocID="{1CD4B6C6-508D-4170-B289-6B56107FE0EE}" presName="sibTrans" presStyleCnt="0"/>
      <dgm:spPr/>
    </dgm:pt>
    <dgm:pt modelId="{B2B07F28-55D7-4115-91F2-CB4B98456DE6}" type="pres">
      <dgm:prSet presAssocID="{2892FB51-7DC2-4C3B-9A00-7C9567F070B9}" presName="composite" presStyleCnt="0"/>
      <dgm:spPr/>
    </dgm:pt>
    <dgm:pt modelId="{4F6CCF93-92F8-4C37-9AA3-9FBB3A754384}" type="pres">
      <dgm:prSet presAssocID="{2892FB51-7DC2-4C3B-9A00-7C9567F070B9}" presName="rect1" presStyleLbl="trAlignAcc1" presStyleIdx="2" presStyleCnt="3">
        <dgm:presLayoutVars>
          <dgm:bulletEnabled val="1"/>
        </dgm:presLayoutVars>
      </dgm:prSet>
      <dgm:spPr/>
    </dgm:pt>
    <dgm:pt modelId="{A861B26B-2E16-46E8-806F-27218D95FE55}" type="pres">
      <dgm:prSet presAssocID="{2892FB51-7DC2-4C3B-9A00-7C9567F070B9}" presName="rect2" presStyleLbl="fgImgPlace1" presStyleIdx="2" presStyleCnt="3"/>
      <dgm:spPr>
        <a:blipFill>
          <a:blip xmlns:r="http://schemas.openxmlformats.org/officeDocument/2006/relationships" r:embed="rId3"/>
          <a:srcRect/>
          <a:stretch>
            <a:fillRect l="-48000" r="-48000"/>
          </a:stretch>
        </a:blipFill>
      </dgm:spPr>
    </dgm:pt>
  </dgm:ptLst>
  <dgm:cxnLst>
    <dgm:cxn modelId="{6C833D07-2D46-4ED0-B3F9-3AE2C702A31C}" srcId="{EF09B6FE-F558-4596-B5A8-974A9FB36C6D}" destId="{34B6F7C8-92F4-4A65-8D1B-2646403D7C1A}" srcOrd="0" destOrd="0" parTransId="{7B564721-8AA4-4BDD-BE9C-D627128131A7}" sibTransId="{47E0BB76-D3BE-44BB-9EC9-20F5618E568F}"/>
    <dgm:cxn modelId="{8865EE1D-32BA-4274-864E-DAD8C74540CD}" type="presOf" srcId="{D0DA487B-EA19-4D2F-B273-91E4B8B2CE8F}" destId="{B132603E-C1EF-4115-983A-386115635337}" srcOrd="0" destOrd="0" presId="urn:microsoft.com/office/officeart/2008/layout/PictureStrips"/>
    <dgm:cxn modelId="{98761C2C-F718-4B33-9C51-ADC0D7AD8C26}" type="presOf" srcId="{F573CE15-DE68-4056-A05A-6DD97CBAF485}" destId="{B13482BC-9467-48ED-B9B1-B42BD70EDDC9}" srcOrd="0" destOrd="0" presId="urn:microsoft.com/office/officeart/2008/layout/PictureStrips"/>
    <dgm:cxn modelId="{266A522C-06DC-4606-920A-C20110BFA006}" srcId="{F573CE15-DE68-4056-A05A-6DD97CBAF485}" destId="{2892FB51-7DC2-4C3B-9A00-7C9567F070B9}" srcOrd="2" destOrd="0" parTransId="{DFFA6B57-FB7E-4FA4-907B-5500F88A7B82}" sibTransId="{655D9C7E-7611-4F2A-B203-B70D6BA0EAAD}"/>
    <dgm:cxn modelId="{75951662-DAE7-4457-B057-7362068A3BAE}" type="presOf" srcId="{61BDCE18-C3A9-430A-858F-5D09E82C65D5}" destId="{4F6CCF93-92F8-4C37-9AA3-9FBB3A754384}" srcOrd="0" destOrd="1" presId="urn:microsoft.com/office/officeart/2008/layout/PictureStrips"/>
    <dgm:cxn modelId="{976872A3-85A8-45C6-8D16-07ECE73FBB33}" type="presOf" srcId="{2892FB51-7DC2-4C3B-9A00-7C9567F070B9}" destId="{4F6CCF93-92F8-4C37-9AA3-9FBB3A754384}" srcOrd="0" destOrd="0" presId="urn:microsoft.com/office/officeart/2008/layout/PictureStrips"/>
    <dgm:cxn modelId="{353A7CAA-BBCF-4F0F-8E0F-93C360C20707}" type="presOf" srcId="{34B6F7C8-92F4-4A65-8D1B-2646403D7C1A}" destId="{4E3B240D-6AF9-4204-AF05-40F4117437BA}" srcOrd="0" destOrd="1" presId="urn:microsoft.com/office/officeart/2008/layout/PictureStrips"/>
    <dgm:cxn modelId="{1DACBEB4-713E-4EBD-AF9D-44F8CA852808}" srcId="{2892FB51-7DC2-4C3B-9A00-7C9567F070B9}" destId="{61BDCE18-C3A9-430A-858F-5D09E82C65D5}" srcOrd="0" destOrd="0" parTransId="{D350FA77-3CE5-49FF-827B-846BB8552F3E}" sibTransId="{AA03C649-36F5-4ADD-8907-A1BC7CDAAAA1}"/>
    <dgm:cxn modelId="{DA6914B9-D967-438C-818F-F352748D1174}" srcId="{F573CE15-DE68-4056-A05A-6DD97CBAF485}" destId="{EF09B6FE-F558-4596-B5A8-974A9FB36C6D}" srcOrd="0" destOrd="0" parTransId="{1D001D01-29A5-4B1C-B181-FAC8F3B19DC1}" sibTransId="{CF704021-6E97-449A-BD70-448831305A13}"/>
    <dgm:cxn modelId="{ECCC04CB-241B-4AE7-9D8F-8334CC1D6296}" srcId="{F573CE15-DE68-4056-A05A-6DD97CBAF485}" destId="{D0DA487B-EA19-4D2F-B273-91E4B8B2CE8F}" srcOrd="1" destOrd="0" parTransId="{CC81D823-6AAA-4EFE-A5B8-C030D47074E4}" sibTransId="{1CD4B6C6-508D-4170-B289-6B56107FE0EE}"/>
    <dgm:cxn modelId="{7C7204D1-F1CC-45E3-B966-1B1E332D85EB}" srcId="{D0DA487B-EA19-4D2F-B273-91E4B8B2CE8F}" destId="{521B2FBF-5A06-4D66-A661-EEF98ABD55DD}" srcOrd="0" destOrd="0" parTransId="{D1D584B1-25F2-4973-9D7E-2987C064B610}" sibTransId="{11A0EA7F-86D1-4F42-B38D-14C7637C979A}"/>
    <dgm:cxn modelId="{970A7BEE-FC02-41C2-B7D0-BAFBE245923B}" type="presOf" srcId="{521B2FBF-5A06-4D66-A661-EEF98ABD55DD}" destId="{B132603E-C1EF-4115-983A-386115635337}" srcOrd="0" destOrd="1" presId="urn:microsoft.com/office/officeart/2008/layout/PictureStrips"/>
    <dgm:cxn modelId="{3C508DEF-8A8F-4E57-973A-14CA9EBC220A}" type="presOf" srcId="{EF09B6FE-F558-4596-B5A8-974A9FB36C6D}" destId="{4E3B240D-6AF9-4204-AF05-40F4117437BA}" srcOrd="0" destOrd="0" presId="urn:microsoft.com/office/officeart/2008/layout/PictureStrips"/>
    <dgm:cxn modelId="{A6CBC523-7BAF-4D0C-9594-388BDF42CDDF}" type="presParOf" srcId="{B13482BC-9467-48ED-B9B1-B42BD70EDDC9}" destId="{57CC937D-D7DD-4EFC-82F9-061B6B4616E5}" srcOrd="0" destOrd="0" presId="urn:microsoft.com/office/officeart/2008/layout/PictureStrips"/>
    <dgm:cxn modelId="{9EAFA69A-B9F6-46A0-832B-7FA1AA8F3623}" type="presParOf" srcId="{57CC937D-D7DD-4EFC-82F9-061B6B4616E5}" destId="{4E3B240D-6AF9-4204-AF05-40F4117437BA}" srcOrd="0" destOrd="0" presId="urn:microsoft.com/office/officeart/2008/layout/PictureStrips"/>
    <dgm:cxn modelId="{996292E0-B962-480A-9B07-E0DDCD862AE5}" type="presParOf" srcId="{57CC937D-D7DD-4EFC-82F9-061B6B4616E5}" destId="{5D58126E-15F2-4EA8-A999-D256B5008E1E}" srcOrd="1" destOrd="0" presId="urn:microsoft.com/office/officeart/2008/layout/PictureStrips"/>
    <dgm:cxn modelId="{A71329BD-48FA-4ECE-96C8-C1775F54DFC8}" type="presParOf" srcId="{B13482BC-9467-48ED-B9B1-B42BD70EDDC9}" destId="{21413064-5DD4-4401-B535-C29E2B53AF96}" srcOrd="1" destOrd="0" presId="urn:microsoft.com/office/officeart/2008/layout/PictureStrips"/>
    <dgm:cxn modelId="{0213A458-7CE8-43CA-A29A-FA870DDADE2D}" type="presParOf" srcId="{B13482BC-9467-48ED-B9B1-B42BD70EDDC9}" destId="{2102F3F8-B5B8-48CC-9465-E83C8D97FF24}" srcOrd="2" destOrd="0" presId="urn:microsoft.com/office/officeart/2008/layout/PictureStrips"/>
    <dgm:cxn modelId="{1A0934B7-9158-48BD-9115-2E34366BB6C9}" type="presParOf" srcId="{2102F3F8-B5B8-48CC-9465-E83C8D97FF24}" destId="{B132603E-C1EF-4115-983A-386115635337}" srcOrd="0" destOrd="0" presId="urn:microsoft.com/office/officeart/2008/layout/PictureStrips"/>
    <dgm:cxn modelId="{3CE4D59E-9A00-4C5B-A10E-834856374B77}" type="presParOf" srcId="{2102F3F8-B5B8-48CC-9465-E83C8D97FF24}" destId="{D399A43A-A0EA-471F-A0F8-E0D735361230}" srcOrd="1" destOrd="0" presId="urn:microsoft.com/office/officeart/2008/layout/PictureStrips"/>
    <dgm:cxn modelId="{E1DF4CED-7548-4AF9-8C83-8FDD4588E6D0}" type="presParOf" srcId="{B13482BC-9467-48ED-B9B1-B42BD70EDDC9}" destId="{67CCA9B0-C9B4-49D3-9155-72BAA10F3642}" srcOrd="3" destOrd="0" presId="urn:microsoft.com/office/officeart/2008/layout/PictureStrips"/>
    <dgm:cxn modelId="{053DF6EE-E7D7-4AB1-8D80-7A86977B46FD}" type="presParOf" srcId="{B13482BC-9467-48ED-B9B1-B42BD70EDDC9}" destId="{B2B07F28-55D7-4115-91F2-CB4B98456DE6}" srcOrd="4" destOrd="0" presId="urn:microsoft.com/office/officeart/2008/layout/PictureStrips"/>
    <dgm:cxn modelId="{91585FB3-BFD1-44FC-AD44-EC88A25672D3}" type="presParOf" srcId="{B2B07F28-55D7-4115-91F2-CB4B98456DE6}" destId="{4F6CCF93-92F8-4C37-9AA3-9FBB3A754384}" srcOrd="0" destOrd="0" presId="urn:microsoft.com/office/officeart/2008/layout/PictureStrips"/>
    <dgm:cxn modelId="{47149FC4-D35F-4FC5-A3E2-FF7208A34A80}" type="presParOf" srcId="{B2B07F28-55D7-4115-91F2-CB4B98456DE6}" destId="{A861B26B-2E16-46E8-806F-27218D95FE55}"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3B240D-6AF9-4204-AF05-40F4117437BA}">
      <dsp:nvSpPr>
        <dsp:cNvPr id="0" name=""/>
        <dsp:cNvSpPr/>
      </dsp:nvSpPr>
      <dsp:spPr>
        <a:xfrm>
          <a:off x="278994" y="906323"/>
          <a:ext cx="6686435" cy="208951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15296" tIns="209550" rIns="209550" bIns="209550" numCol="1" spcCol="1270" anchor="t" anchorCtr="0">
          <a:noAutofit/>
        </a:bodyPr>
        <a:lstStyle/>
        <a:p>
          <a:pPr marL="0" lvl="0" indent="0" algn="l" defTabSz="2444750">
            <a:lnSpc>
              <a:spcPct val="90000"/>
            </a:lnSpc>
            <a:spcBef>
              <a:spcPct val="0"/>
            </a:spcBef>
            <a:spcAft>
              <a:spcPct val="35000"/>
            </a:spcAft>
            <a:buNone/>
          </a:pPr>
          <a:r>
            <a:rPr lang="es-MX" sz="5500" kern="1200" noProof="0" dirty="0"/>
            <a:t>Mercancía</a:t>
          </a:r>
        </a:p>
        <a:p>
          <a:pPr marL="285750" lvl="1" indent="-285750" algn="l" defTabSz="1911350">
            <a:lnSpc>
              <a:spcPct val="90000"/>
            </a:lnSpc>
            <a:spcBef>
              <a:spcPct val="0"/>
            </a:spcBef>
            <a:spcAft>
              <a:spcPct val="15000"/>
            </a:spcAft>
            <a:buChar char="•"/>
          </a:pPr>
          <a:r>
            <a:rPr lang="es-ES" sz="4300" b="1" kern="1200" noProof="0" dirty="0">
              <a:solidFill>
                <a:schemeClr val="tx2"/>
              </a:solidFill>
            </a:rPr>
            <a:t>CLEXANE</a:t>
          </a:r>
          <a:endParaRPr lang="es-MX" sz="4300" b="1" kern="1200" noProof="0" dirty="0">
            <a:solidFill>
              <a:schemeClr val="tx2"/>
            </a:solidFill>
          </a:endParaRPr>
        </a:p>
      </dsp:txBody>
      <dsp:txXfrm>
        <a:off x="278994" y="906323"/>
        <a:ext cx="6686435" cy="2089511"/>
      </dsp:txXfrm>
    </dsp:sp>
    <dsp:sp modelId="{5D58126E-15F2-4EA8-A999-D256B5008E1E}">
      <dsp:nvSpPr>
        <dsp:cNvPr id="0" name=""/>
        <dsp:cNvSpPr/>
      </dsp:nvSpPr>
      <dsp:spPr>
        <a:xfrm>
          <a:off x="392" y="604505"/>
          <a:ext cx="1462657" cy="2193986"/>
        </a:xfrm>
        <a:prstGeom prst="rect">
          <a:avLst/>
        </a:prstGeom>
        <a:blipFill>
          <a:blip xmlns:r="http://schemas.openxmlformats.org/officeDocument/2006/relationships" r:embed="rId1"/>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32603E-C1EF-4115-983A-386115635337}">
      <dsp:nvSpPr>
        <dsp:cNvPr id="0" name=""/>
        <dsp:cNvSpPr/>
      </dsp:nvSpPr>
      <dsp:spPr>
        <a:xfrm>
          <a:off x="7620489" y="961173"/>
          <a:ext cx="6686435" cy="208951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15296" tIns="209550" rIns="209550" bIns="209550" numCol="1" spcCol="1270" anchor="t" anchorCtr="0">
          <a:noAutofit/>
        </a:bodyPr>
        <a:lstStyle/>
        <a:p>
          <a:pPr marL="0" lvl="0" indent="0" algn="l" defTabSz="2444750">
            <a:lnSpc>
              <a:spcPct val="90000"/>
            </a:lnSpc>
            <a:spcBef>
              <a:spcPct val="0"/>
            </a:spcBef>
            <a:spcAft>
              <a:spcPct val="35000"/>
            </a:spcAft>
            <a:buNone/>
          </a:pPr>
          <a:r>
            <a:rPr lang="es-MX" sz="5500" kern="1200" noProof="0" dirty="0"/>
            <a:t>Aduana</a:t>
          </a:r>
        </a:p>
        <a:p>
          <a:pPr marL="285750" lvl="1" indent="-285750" algn="l" defTabSz="1911350">
            <a:lnSpc>
              <a:spcPct val="90000"/>
            </a:lnSpc>
            <a:spcBef>
              <a:spcPct val="0"/>
            </a:spcBef>
            <a:spcAft>
              <a:spcPct val="15000"/>
            </a:spcAft>
            <a:buChar char="•"/>
          </a:pPr>
          <a:r>
            <a:rPr lang="es-MX" sz="4300" kern="1200" noProof="0" dirty="0"/>
            <a:t>	AIFA</a:t>
          </a:r>
          <a:endParaRPr lang="es-MX" sz="4300" b="1" kern="1200" noProof="0" dirty="0">
            <a:solidFill>
              <a:schemeClr val="tx2"/>
            </a:solidFill>
          </a:endParaRPr>
        </a:p>
      </dsp:txBody>
      <dsp:txXfrm>
        <a:off x="7620489" y="961173"/>
        <a:ext cx="6686435" cy="2089511"/>
      </dsp:txXfrm>
    </dsp:sp>
    <dsp:sp modelId="{D399A43A-A0EA-471F-A0F8-E0D735361230}">
      <dsp:nvSpPr>
        <dsp:cNvPr id="0" name=""/>
        <dsp:cNvSpPr/>
      </dsp:nvSpPr>
      <dsp:spPr>
        <a:xfrm>
          <a:off x="7268755" y="549655"/>
          <a:ext cx="1608923" cy="2413385"/>
        </a:xfrm>
        <a:prstGeom prst="rect">
          <a:avLst/>
        </a:prstGeom>
        <a:blipFill>
          <a:blip xmlns:r="http://schemas.openxmlformats.org/officeDocument/2006/relationships" r:embed="rId2"/>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F6CCF93-92F8-4C37-9AA3-9FBB3A754384}">
      <dsp:nvSpPr>
        <dsp:cNvPr id="0" name=""/>
        <dsp:cNvSpPr/>
      </dsp:nvSpPr>
      <dsp:spPr>
        <a:xfrm>
          <a:off x="3949741" y="3591635"/>
          <a:ext cx="6686435" cy="208951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15296" tIns="209550" rIns="209550" bIns="209550" numCol="1" spcCol="1270" anchor="t" anchorCtr="0">
          <a:noAutofit/>
        </a:bodyPr>
        <a:lstStyle/>
        <a:p>
          <a:pPr marL="0" lvl="0" indent="0" algn="l" defTabSz="2444750">
            <a:lnSpc>
              <a:spcPct val="90000"/>
            </a:lnSpc>
            <a:spcBef>
              <a:spcPct val="0"/>
            </a:spcBef>
            <a:spcAft>
              <a:spcPct val="35000"/>
            </a:spcAft>
            <a:buNone/>
          </a:pPr>
          <a:r>
            <a:rPr lang="es-MX" sz="5500" kern="1200" noProof="0" dirty="0"/>
            <a:t>Motivo</a:t>
          </a:r>
        </a:p>
        <a:p>
          <a:pPr marL="285750" lvl="1" indent="-285750" algn="l" defTabSz="1911350">
            <a:lnSpc>
              <a:spcPct val="90000"/>
            </a:lnSpc>
            <a:spcBef>
              <a:spcPct val="0"/>
            </a:spcBef>
            <a:spcAft>
              <a:spcPct val="15000"/>
            </a:spcAft>
            <a:buChar char="•"/>
          </a:pPr>
          <a:r>
            <a:rPr lang="es-ES" sz="4300" b="1" kern="1200" noProof="0" dirty="0">
              <a:solidFill>
                <a:schemeClr val="tx2"/>
              </a:solidFill>
            </a:rPr>
            <a:t>PERMISO</a:t>
          </a:r>
          <a:endParaRPr lang="es-MX" sz="4300" b="1" kern="1200" noProof="0" dirty="0">
            <a:solidFill>
              <a:schemeClr val="tx2"/>
            </a:solidFill>
          </a:endParaRPr>
        </a:p>
      </dsp:txBody>
      <dsp:txXfrm>
        <a:off x="3949741" y="3591635"/>
        <a:ext cx="6686435" cy="2089511"/>
      </dsp:txXfrm>
    </dsp:sp>
    <dsp:sp modelId="{A861B26B-2E16-46E8-806F-27218D95FE55}">
      <dsp:nvSpPr>
        <dsp:cNvPr id="0" name=""/>
        <dsp:cNvSpPr/>
      </dsp:nvSpPr>
      <dsp:spPr>
        <a:xfrm>
          <a:off x="3671140" y="3289817"/>
          <a:ext cx="1462657" cy="2193986"/>
        </a:xfrm>
        <a:prstGeom prst="rect">
          <a:avLst/>
        </a:prstGeom>
        <a:blipFill>
          <a:blip xmlns:r="http://schemas.openxmlformats.org/officeDocument/2006/relationships" r:embed="rId3"/>
          <a:srcRect/>
          <a:stretch>
            <a:fillRect l="-48000" r="-4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s-MX" dirty="0"/>
          </a:p>
        </p:txBody>
      </p:sp>
      <p:sp>
        <p:nvSpPr>
          <p:cNvPr id="3" name="Marcador de fecha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83A8E7D-C0B4-4A2C-96C7-90B2765FE96A}" type="datetimeFigureOut">
              <a:rPr lang="es-MX" smtClean="0"/>
              <a:t>09/03/2026</a:t>
            </a:fld>
            <a:endParaRPr lang="es-MX" dirty="0"/>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s-MX" dirty="0"/>
          </a:p>
        </p:txBody>
      </p:sp>
      <p:sp>
        <p:nvSpPr>
          <p:cNvPr id="5" name="Marcador de notas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s-MX" dirty="0"/>
          </a:p>
        </p:txBody>
      </p:sp>
      <p:sp>
        <p:nvSpPr>
          <p:cNvPr id="7" name="Marcador de número de diapositiva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7A359746-626E-493B-BEA3-75E7A47C712E}" type="slidenum">
              <a:rPr lang="es-MX" smtClean="0"/>
              <a:t>‹Nº›</a:t>
            </a:fld>
            <a:endParaRPr lang="es-MX" dirty="0"/>
          </a:p>
        </p:txBody>
      </p:sp>
    </p:spTree>
    <p:extLst>
      <p:ext uri="{BB962C8B-B14F-4D97-AF65-F5344CB8AC3E}">
        <p14:creationId xmlns:p14="http://schemas.microsoft.com/office/powerpoint/2010/main" val="3794109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dirty="0"/>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7A359746-626E-493B-BEA3-75E7A47C712E}" type="slidenum">
              <a:rPr lang="es-MX" smtClean="0"/>
              <a:t>4</a:t>
            </a:fld>
            <a:endParaRPr lang="es-MX" dirty="0"/>
          </a:p>
        </p:txBody>
      </p:sp>
    </p:spTree>
    <p:extLst>
      <p:ext uri="{BB962C8B-B14F-4D97-AF65-F5344CB8AC3E}">
        <p14:creationId xmlns:p14="http://schemas.microsoft.com/office/powerpoint/2010/main" val="3683524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dirty="0"/>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defTabSz="966612">
              <a:defRPr/>
            </a:pPr>
            <a:fld id="{7A359746-626E-493B-BEA3-75E7A47C712E}" type="slidenum">
              <a:rPr lang="es-MX">
                <a:solidFill>
                  <a:prstClr val="black"/>
                </a:solidFill>
                <a:latin typeface="Calibri" panose="020F0502020204030204"/>
              </a:rPr>
              <a:pPr defTabSz="966612">
                <a:defRPr/>
              </a:pPr>
              <a:t>5</a:t>
            </a:fld>
            <a:endParaRPr lang="es-MX" dirty="0">
              <a:solidFill>
                <a:prstClr val="black"/>
              </a:solidFill>
              <a:latin typeface="Calibri" panose="020F0502020204030204"/>
            </a:endParaRPr>
          </a:p>
        </p:txBody>
      </p:sp>
    </p:spTree>
    <p:extLst>
      <p:ext uri="{BB962C8B-B14F-4D97-AF65-F5344CB8AC3E}">
        <p14:creationId xmlns:p14="http://schemas.microsoft.com/office/powerpoint/2010/main" val="1008568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ED33-D6FD-9668-5B13-B4E7BA37CD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D90D98-ECD7-9093-378D-F9E2505D68E7}"/>
              </a:ext>
            </a:extLst>
          </p:cNvPr>
          <p:cNvSpPr>
            <a:spLocks noGrp="1" noRot="1" noChangeAspect="1"/>
          </p:cNvSpPr>
          <p:nvPr>
            <p:ph type="sldImg"/>
          </p:nvPr>
        </p:nvSpPr>
        <p:spPr/>
        <p:txBody>
          <a:bodyPr/>
          <a:lstStyle/>
          <a:p>
            <a:endParaRPr lang="es-MX" dirty="0"/>
          </a:p>
        </p:txBody>
      </p:sp>
      <p:sp>
        <p:nvSpPr>
          <p:cNvPr id="3" name="Marcador de notas 2">
            <a:extLst>
              <a:ext uri="{FF2B5EF4-FFF2-40B4-BE49-F238E27FC236}">
                <a16:creationId xmlns:a16="http://schemas.microsoft.com/office/drawing/2014/main" id="{B26CE542-A47B-2E27-C257-473AEE02A9D2}"/>
              </a:ext>
            </a:extLst>
          </p:cNvPr>
          <p:cNvSpPr>
            <a:spLocks noGrp="1"/>
          </p:cNvSpPr>
          <p:nvPr>
            <p:ph type="body" idx="1"/>
          </p:nvPr>
        </p:nvSpPr>
        <p:spPr/>
        <p:txBody>
          <a:bodyPr/>
          <a:lstStyle/>
          <a:p>
            <a:r>
              <a:rPr lang="es-ES" dirty="0"/>
              <a:t>AQUÍ ESTA UN COPNTEO DE TODO EL AÑO DE LOS MOTIVOS DE RETRAZO Y RECTIFICACIONES, EL DESGLOCE DEL BIMESTRE VIENE EN LA DIAPOSITIVA SIGUEINTE</a:t>
            </a:r>
            <a:endParaRPr lang="es-MX" dirty="0"/>
          </a:p>
        </p:txBody>
      </p:sp>
      <p:sp>
        <p:nvSpPr>
          <p:cNvPr id="4" name="Marcador de número de diapositiva 3">
            <a:extLst>
              <a:ext uri="{FF2B5EF4-FFF2-40B4-BE49-F238E27FC236}">
                <a16:creationId xmlns:a16="http://schemas.microsoft.com/office/drawing/2014/main" id="{97743B13-09CA-6DDC-020A-ECE8EC64F559}"/>
              </a:ext>
            </a:extLst>
          </p:cNvPr>
          <p:cNvSpPr>
            <a:spLocks noGrp="1"/>
          </p:cNvSpPr>
          <p:nvPr>
            <p:ph type="sldNum" sz="quarter" idx="5"/>
          </p:nvPr>
        </p:nvSpPr>
        <p:spPr/>
        <p:txBody>
          <a:bodyPr/>
          <a:lstStyle/>
          <a:p>
            <a:fld id="{7A359746-626E-493B-BEA3-75E7A47C712E}" type="slidenum">
              <a:rPr lang="es-MX" smtClean="0"/>
              <a:t>6</a:t>
            </a:fld>
            <a:endParaRPr lang="es-MX" dirty="0"/>
          </a:p>
        </p:txBody>
      </p:sp>
    </p:spTree>
    <p:extLst>
      <p:ext uri="{BB962C8B-B14F-4D97-AF65-F5344CB8AC3E}">
        <p14:creationId xmlns:p14="http://schemas.microsoft.com/office/powerpoint/2010/main" val="273181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C932-48BC-C596-CE77-11DA7A7E26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836B14-F306-F128-875D-A9FB32815EA2}"/>
              </a:ext>
            </a:extLst>
          </p:cNvPr>
          <p:cNvSpPr>
            <a:spLocks noGrp="1" noRot="1" noChangeAspect="1"/>
          </p:cNvSpPr>
          <p:nvPr>
            <p:ph type="sldImg"/>
          </p:nvPr>
        </p:nvSpPr>
        <p:spPr/>
        <p:txBody>
          <a:bodyPr/>
          <a:lstStyle/>
          <a:p>
            <a:endParaRPr lang="es-MX" dirty="0"/>
          </a:p>
        </p:txBody>
      </p:sp>
      <p:sp>
        <p:nvSpPr>
          <p:cNvPr id="3" name="Marcador de notas 2">
            <a:extLst>
              <a:ext uri="{FF2B5EF4-FFF2-40B4-BE49-F238E27FC236}">
                <a16:creationId xmlns:a16="http://schemas.microsoft.com/office/drawing/2014/main" id="{EFD10594-6F2A-BF70-DC92-2D30CE437478}"/>
              </a:ext>
            </a:extLst>
          </p:cNvPr>
          <p:cNvSpPr>
            <a:spLocks noGrp="1"/>
          </p:cNvSpPr>
          <p:nvPr>
            <p:ph type="body" idx="1"/>
          </p:nvPr>
        </p:nvSpPr>
        <p:spPr/>
        <p:txBody>
          <a:bodyPr/>
          <a:lstStyle/>
          <a:p>
            <a:r>
              <a:rPr lang="es-ES" dirty="0"/>
              <a:t>AQUÍ ESTA UN COPNTEO DE TODO EL AÑO DE LOS MOTIVOS DE RETRAZO Y RECTIFICACIONES, EL DESGLOCE DEL BIMESTRE VIENE EN LA DIAPOSITIVA SIGUEINTE</a:t>
            </a:r>
            <a:endParaRPr lang="es-MX" dirty="0"/>
          </a:p>
        </p:txBody>
      </p:sp>
      <p:sp>
        <p:nvSpPr>
          <p:cNvPr id="4" name="Marcador de número de diapositiva 3">
            <a:extLst>
              <a:ext uri="{FF2B5EF4-FFF2-40B4-BE49-F238E27FC236}">
                <a16:creationId xmlns:a16="http://schemas.microsoft.com/office/drawing/2014/main" id="{96B07B2C-814F-ED3B-1DCF-0FA4B1650CE0}"/>
              </a:ext>
            </a:extLst>
          </p:cNvPr>
          <p:cNvSpPr>
            <a:spLocks noGrp="1"/>
          </p:cNvSpPr>
          <p:nvPr>
            <p:ph type="sldNum" sz="quarter" idx="5"/>
          </p:nvPr>
        </p:nvSpPr>
        <p:spPr/>
        <p:txBody>
          <a:bodyPr/>
          <a:lstStyle/>
          <a:p>
            <a:fld id="{7A359746-626E-493B-BEA3-75E7A47C712E}" type="slidenum">
              <a:rPr lang="es-MX" smtClean="0"/>
              <a:t>7</a:t>
            </a:fld>
            <a:endParaRPr lang="es-MX" dirty="0"/>
          </a:p>
        </p:txBody>
      </p:sp>
    </p:spTree>
    <p:extLst>
      <p:ext uri="{BB962C8B-B14F-4D97-AF65-F5344CB8AC3E}">
        <p14:creationId xmlns:p14="http://schemas.microsoft.com/office/powerpoint/2010/main" val="1230573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35E95-144F-9D4E-DFB4-A406D6C85B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DA5A8E-F629-B289-5135-09BFA0DFDD3C}"/>
              </a:ext>
            </a:extLst>
          </p:cNvPr>
          <p:cNvSpPr>
            <a:spLocks noGrp="1" noRot="1" noChangeAspect="1"/>
          </p:cNvSpPr>
          <p:nvPr>
            <p:ph type="sldImg"/>
          </p:nvPr>
        </p:nvSpPr>
        <p:spPr/>
        <p:txBody>
          <a:bodyPr/>
          <a:lstStyle/>
          <a:p>
            <a:endParaRPr lang="es-MX" dirty="0"/>
          </a:p>
        </p:txBody>
      </p:sp>
      <p:sp>
        <p:nvSpPr>
          <p:cNvPr id="3" name="Marcador de notas 2">
            <a:extLst>
              <a:ext uri="{FF2B5EF4-FFF2-40B4-BE49-F238E27FC236}">
                <a16:creationId xmlns:a16="http://schemas.microsoft.com/office/drawing/2014/main" id="{BE5A1651-E095-BAB6-A8D2-84D21C976678}"/>
              </a:ext>
            </a:extLst>
          </p:cNvPr>
          <p:cNvSpPr>
            <a:spLocks noGrp="1"/>
          </p:cNvSpPr>
          <p:nvPr>
            <p:ph type="body" idx="1"/>
          </p:nvPr>
        </p:nvSpPr>
        <p:spPr/>
        <p:txBody>
          <a:bodyPr/>
          <a:lstStyle/>
          <a:p>
            <a:r>
              <a:rPr lang="es-ES" dirty="0"/>
              <a:t>AQUÍ ESTA UN COPNTEO DE TODO EL AÑO DE LOS MOTIVOS DE RETRAZO Y RECTIFICACIONES, EL DESGLOCE DEL BIMESTRE VIENE EN LA DIAPOSITIVA SIGUEINTE</a:t>
            </a:r>
            <a:endParaRPr lang="es-MX" dirty="0"/>
          </a:p>
        </p:txBody>
      </p:sp>
      <p:sp>
        <p:nvSpPr>
          <p:cNvPr id="4" name="Marcador de número de diapositiva 3">
            <a:extLst>
              <a:ext uri="{FF2B5EF4-FFF2-40B4-BE49-F238E27FC236}">
                <a16:creationId xmlns:a16="http://schemas.microsoft.com/office/drawing/2014/main" id="{3278CA9B-33E4-5F0F-818F-66E44799C3CE}"/>
              </a:ext>
            </a:extLst>
          </p:cNvPr>
          <p:cNvSpPr>
            <a:spLocks noGrp="1"/>
          </p:cNvSpPr>
          <p:nvPr>
            <p:ph type="sldNum" sz="quarter" idx="5"/>
          </p:nvPr>
        </p:nvSpPr>
        <p:spPr/>
        <p:txBody>
          <a:bodyPr/>
          <a:lstStyle/>
          <a:p>
            <a:fld id="{7A359746-626E-493B-BEA3-75E7A47C712E}" type="slidenum">
              <a:rPr lang="es-MX" smtClean="0"/>
              <a:t>8</a:t>
            </a:fld>
            <a:endParaRPr lang="es-MX" dirty="0"/>
          </a:p>
        </p:txBody>
      </p:sp>
    </p:spTree>
    <p:extLst>
      <p:ext uri="{BB962C8B-B14F-4D97-AF65-F5344CB8AC3E}">
        <p14:creationId xmlns:p14="http://schemas.microsoft.com/office/powerpoint/2010/main" val="1457765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dirty="0"/>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defTabSz="966612">
              <a:defRPr/>
            </a:pPr>
            <a:fld id="{7A359746-626E-493B-BEA3-75E7A47C712E}" type="slidenum">
              <a:rPr lang="es-MX">
                <a:solidFill>
                  <a:prstClr val="black"/>
                </a:solidFill>
                <a:latin typeface="Calibri" panose="020F0502020204030204"/>
              </a:rPr>
              <a:pPr defTabSz="966612">
                <a:defRPr/>
              </a:pPr>
              <a:t>9</a:t>
            </a:fld>
            <a:endParaRPr lang="es-MX" dirty="0">
              <a:solidFill>
                <a:prstClr val="black"/>
              </a:solidFill>
              <a:latin typeface="Calibri" panose="020F0502020204030204"/>
            </a:endParaRPr>
          </a:p>
        </p:txBody>
      </p:sp>
    </p:spTree>
    <p:extLst>
      <p:ext uri="{BB962C8B-B14F-4D97-AF65-F5344CB8AC3E}">
        <p14:creationId xmlns:p14="http://schemas.microsoft.com/office/powerpoint/2010/main" val="2344750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Cuantos incidentes totales, cuantos proceden y cuantos no, %, cerra o no y el motivo</a:t>
            </a:r>
            <a:endParaRPr lang="es-MX" dirty="0"/>
          </a:p>
        </p:txBody>
      </p:sp>
      <p:sp>
        <p:nvSpPr>
          <p:cNvPr id="4" name="Marcador de número de diapositiva 3"/>
          <p:cNvSpPr>
            <a:spLocks noGrp="1"/>
          </p:cNvSpPr>
          <p:nvPr>
            <p:ph type="sldNum" sz="quarter" idx="5"/>
          </p:nvPr>
        </p:nvSpPr>
        <p:spPr/>
        <p:txBody>
          <a:bodyPr/>
          <a:lstStyle/>
          <a:p>
            <a:fld id="{7A359746-626E-493B-BEA3-75E7A47C712E}" type="slidenum">
              <a:rPr lang="es-MX" smtClean="0"/>
              <a:t>17</a:t>
            </a:fld>
            <a:endParaRPr lang="es-MX" dirty="0"/>
          </a:p>
        </p:txBody>
      </p:sp>
    </p:spTree>
    <p:extLst>
      <p:ext uri="{BB962C8B-B14F-4D97-AF65-F5344CB8AC3E}">
        <p14:creationId xmlns:p14="http://schemas.microsoft.com/office/powerpoint/2010/main" val="2144966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jpg"/><Relationship Id="rId2" Type="http://schemas.openxmlformats.org/officeDocument/2006/relationships/image" Target="../media/image1.pn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3.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1.png"/><Relationship Id="rId7"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svg"/></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image" Target="../media/image19.svg"/><Relationship Id="rId5" Type="http://schemas.openxmlformats.org/officeDocument/2006/relationships/diagramQuickStyle" Target="../diagrams/quickStyle1.xml"/><Relationship Id="rId10" Type="http://schemas.openxmlformats.org/officeDocument/2006/relationships/image" Target="../media/image18.png"/><Relationship Id="rId4" Type="http://schemas.openxmlformats.org/officeDocument/2006/relationships/diagramLayout" Target="../diagrams/layout1.xml"/><Relationship Id="rId9"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19.svg"/><Relationship Id="rId7" Type="http://schemas.openxmlformats.org/officeDocument/2006/relationships/image" Target="../media/image12.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chart" Target="../charts/chart5.xml"/></Relationships>
</file>

<file path=ppt/slides/_rels/slide11.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image" Target="../media/image19.svg"/><Relationship Id="rId7" Type="http://schemas.openxmlformats.org/officeDocument/2006/relationships/image" Target="../media/image12.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chart" Target="../charts/chart7.xml"/></Relationships>
</file>

<file path=ppt/slides/_rels/slide12.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image" Target="../media/image19.svg"/><Relationship Id="rId7" Type="http://schemas.openxmlformats.org/officeDocument/2006/relationships/image" Target="../media/image12.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sv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sv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sv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6.jpg"/><Relationship Id="rId3" Type="http://schemas.openxmlformats.org/officeDocument/2006/relationships/image" Target="../media/image2.svg"/><Relationship Id="rId7" Type="http://schemas.openxmlformats.org/officeDocument/2006/relationships/image" Target="../media/image24.jpeg"/><Relationship Id="rId12"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2.sv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23.jpeg"/><Relationship Id="rId9"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486411">
            <a:off x="-3736473" y="7527737"/>
            <a:ext cx="15613996" cy="4079156"/>
          </a:xfrm>
          <a:custGeom>
            <a:avLst/>
            <a:gdLst/>
            <a:ahLst/>
            <a:cxnLst/>
            <a:rect l="l" t="t" r="r" b="b"/>
            <a:pathLst>
              <a:path w="15613996" h="4079156">
                <a:moveTo>
                  <a:pt x="0" y="0"/>
                </a:moveTo>
                <a:lnTo>
                  <a:pt x="15613996" y="0"/>
                </a:lnTo>
                <a:lnTo>
                  <a:pt x="15613996" y="4079157"/>
                </a:lnTo>
                <a:lnTo>
                  <a:pt x="0" y="4079157"/>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3" name="Freeform 3"/>
          <p:cNvSpPr/>
          <p:nvPr/>
        </p:nvSpPr>
        <p:spPr>
          <a:xfrm rot="2700000">
            <a:off x="5259331" y="-784732"/>
            <a:ext cx="7315200" cy="3904488"/>
          </a:xfrm>
          <a:custGeom>
            <a:avLst/>
            <a:gdLst/>
            <a:ahLst/>
            <a:cxnLst/>
            <a:rect l="l" t="t" r="r" b="b"/>
            <a:pathLst>
              <a:path w="7315200" h="3904488">
                <a:moveTo>
                  <a:pt x="0" y="0"/>
                </a:moveTo>
                <a:lnTo>
                  <a:pt x="7315200" y="0"/>
                </a:lnTo>
                <a:lnTo>
                  <a:pt x="7315200" y="3904488"/>
                </a:lnTo>
                <a:lnTo>
                  <a:pt x="0" y="3904488"/>
                </a:lnTo>
                <a:lnTo>
                  <a:pt x="0" y="0"/>
                </a:lnTo>
                <a:close/>
              </a:path>
            </a:pathLst>
          </a:custGeom>
          <a:blipFill>
            <a:blip r:embed="rId4">
              <a:alphaModFix amt="2000"/>
              <a:extLst>
                <a:ext uri="{96DAC541-7B7A-43D3-8B79-37D633B846F1}">
                  <asvg:svgBlip xmlns:asvg="http://schemas.microsoft.com/office/drawing/2016/SVG/main" r:embed="rId5"/>
                </a:ext>
              </a:extLst>
            </a:blip>
            <a:stretch>
              <a:fillRect/>
            </a:stretch>
          </a:blipFill>
        </p:spPr>
        <p:txBody>
          <a:bodyPr/>
          <a:lstStyle/>
          <a:p>
            <a:endParaRPr lang="es-MX" noProof="0" dirty="0"/>
          </a:p>
        </p:txBody>
      </p:sp>
      <p:grpSp>
        <p:nvGrpSpPr>
          <p:cNvPr id="4" name="Group 4"/>
          <p:cNvGrpSpPr/>
          <p:nvPr/>
        </p:nvGrpSpPr>
        <p:grpSpPr>
          <a:xfrm>
            <a:off x="6364403" y="-182097"/>
            <a:ext cx="12223109" cy="10651194"/>
            <a:chOff x="0" y="0"/>
            <a:chExt cx="9398000" cy="8189399"/>
          </a:xfrm>
        </p:grpSpPr>
        <p:sp>
          <p:nvSpPr>
            <p:cNvPr id="5" name="Freeform 5"/>
            <p:cNvSpPr/>
            <p:nvPr/>
          </p:nvSpPr>
          <p:spPr>
            <a:xfrm>
              <a:off x="0" y="0"/>
              <a:ext cx="9398000" cy="8189367"/>
            </a:xfrm>
            <a:custGeom>
              <a:avLst/>
              <a:gdLst/>
              <a:ahLst/>
              <a:cxnLst/>
              <a:rect l="l" t="t" r="r" b="b"/>
              <a:pathLst>
                <a:path w="9398000" h="8189367">
                  <a:moveTo>
                    <a:pt x="9398000" y="0"/>
                  </a:moveTo>
                  <a:lnTo>
                    <a:pt x="0" y="8189367"/>
                  </a:lnTo>
                  <a:lnTo>
                    <a:pt x="9398000" y="8189367"/>
                  </a:lnTo>
                  <a:lnTo>
                    <a:pt x="9398000" y="0"/>
                  </a:lnTo>
                  <a:close/>
                </a:path>
              </a:pathLst>
            </a:custGeom>
            <a:blipFill>
              <a:blip r:embed="rId6"/>
              <a:stretch>
                <a:fillRect l="-52391" t="-8257" b="-8257"/>
              </a:stretch>
            </a:blipFill>
          </p:spPr>
          <p:txBody>
            <a:bodyPr/>
            <a:lstStyle/>
            <a:p>
              <a:endParaRPr lang="es-MX" noProof="0" dirty="0"/>
            </a:p>
          </p:txBody>
        </p:sp>
      </p:grpSp>
      <p:grpSp>
        <p:nvGrpSpPr>
          <p:cNvPr id="6" name="Group 6"/>
          <p:cNvGrpSpPr/>
          <p:nvPr/>
        </p:nvGrpSpPr>
        <p:grpSpPr>
          <a:xfrm rot="2911606">
            <a:off x="8281731" y="-4737821"/>
            <a:ext cx="2410021" cy="23647483"/>
            <a:chOff x="0" y="0"/>
            <a:chExt cx="634738" cy="6228144"/>
          </a:xfrm>
        </p:grpSpPr>
        <p:sp>
          <p:nvSpPr>
            <p:cNvPr id="7" name="Freeform 7"/>
            <p:cNvSpPr/>
            <p:nvPr/>
          </p:nvSpPr>
          <p:spPr>
            <a:xfrm>
              <a:off x="0" y="0"/>
              <a:ext cx="634738" cy="6228143"/>
            </a:xfrm>
            <a:custGeom>
              <a:avLst/>
              <a:gdLst/>
              <a:ahLst/>
              <a:cxnLst/>
              <a:rect l="l" t="t" r="r" b="b"/>
              <a:pathLst>
                <a:path w="634738" h="6228143">
                  <a:moveTo>
                    <a:pt x="0" y="0"/>
                  </a:moveTo>
                  <a:lnTo>
                    <a:pt x="634738" y="0"/>
                  </a:lnTo>
                  <a:lnTo>
                    <a:pt x="634738" y="6228143"/>
                  </a:lnTo>
                  <a:lnTo>
                    <a:pt x="0" y="6228143"/>
                  </a:lnTo>
                  <a:close/>
                </a:path>
              </a:pathLst>
            </a:custGeom>
            <a:gradFill rotWithShape="1">
              <a:gsLst>
                <a:gs pos="0">
                  <a:srgbClr val="366980">
                    <a:alpha val="100000"/>
                  </a:srgbClr>
                </a:gs>
                <a:gs pos="100000">
                  <a:srgbClr val="0B51AE">
                    <a:alpha val="0"/>
                  </a:srgbClr>
                </a:gs>
              </a:gsLst>
              <a:lin ang="5400000"/>
            </a:gradFill>
          </p:spPr>
          <p:txBody>
            <a:bodyPr/>
            <a:lstStyle/>
            <a:p>
              <a:endParaRPr lang="es-MX" noProof="0" dirty="0"/>
            </a:p>
          </p:txBody>
        </p:sp>
        <p:sp>
          <p:nvSpPr>
            <p:cNvPr id="8" name="TextBox 8"/>
            <p:cNvSpPr txBox="1"/>
            <p:nvPr/>
          </p:nvSpPr>
          <p:spPr>
            <a:xfrm>
              <a:off x="0" y="-38100"/>
              <a:ext cx="634738" cy="6266244"/>
            </a:xfrm>
            <a:prstGeom prst="rect">
              <a:avLst/>
            </a:prstGeom>
          </p:spPr>
          <p:txBody>
            <a:bodyPr lIns="50800" tIns="50800" rIns="50800" bIns="50800" rtlCol="0" anchor="ctr"/>
            <a:lstStyle/>
            <a:p>
              <a:pPr algn="ctr">
                <a:lnSpc>
                  <a:spcPts val="2659"/>
                </a:lnSpc>
                <a:spcBef>
                  <a:spcPct val="0"/>
                </a:spcBef>
              </a:pPr>
              <a:endParaRPr lang="es-MX" noProof="0" dirty="0"/>
            </a:p>
          </p:txBody>
        </p:sp>
      </p:grpSp>
      <p:sp>
        <p:nvSpPr>
          <p:cNvPr id="9" name="Freeform 9"/>
          <p:cNvSpPr/>
          <p:nvPr/>
        </p:nvSpPr>
        <p:spPr>
          <a:xfrm>
            <a:off x="8495114" y="1334992"/>
            <a:ext cx="7617015" cy="7617015"/>
          </a:xfrm>
          <a:custGeom>
            <a:avLst/>
            <a:gdLst/>
            <a:ahLst/>
            <a:cxnLst/>
            <a:rect l="l" t="t" r="r" b="b"/>
            <a:pathLst>
              <a:path w="7617015" h="7617015">
                <a:moveTo>
                  <a:pt x="0" y="0"/>
                </a:moveTo>
                <a:lnTo>
                  <a:pt x="7617016" y="0"/>
                </a:lnTo>
                <a:lnTo>
                  <a:pt x="7617016" y="7617016"/>
                </a:lnTo>
                <a:lnTo>
                  <a:pt x="0" y="7617016"/>
                </a:lnTo>
                <a:lnTo>
                  <a:pt x="0" y="0"/>
                </a:lnTo>
                <a:close/>
              </a:path>
            </a:pathLst>
          </a:custGeom>
          <a:blipFill>
            <a:blip r:embed="rId7">
              <a:alphaModFix amt="53000"/>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0" name="Freeform 10"/>
          <p:cNvSpPr/>
          <p:nvPr/>
        </p:nvSpPr>
        <p:spPr>
          <a:xfrm>
            <a:off x="9451245" y="1929995"/>
            <a:ext cx="6049424" cy="6427011"/>
          </a:xfrm>
          <a:custGeom>
            <a:avLst/>
            <a:gdLst/>
            <a:ahLst/>
            <a:cxnLst/>
            <a:rect l="l" t="t" r="r" b="b"/>
            <a:pathLst>
              <a:path w="6049424" h="6427011">
                <a:moveTo>
                  <a:pt x="0" y="0"/>
                </a:moveTo>
                <a:lnTo>
                  <a:pt x="6049424" y="0"/>
                </a:lnTo>
                <a:lnTo>
                  <a:pt x="6049424" y="6427010"/>
                </a:lnTo>
                <a:lnTo>
                  <a:pt x="0" y="64270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MX" noProof="0" dirty="0"/>
          </a:p>
        </p:txBody>
      </p:sp>
      <p:grpSp>
        <p:nvGrpSpPr>
          <p:cNvPr id="11" name="Group 11"/>
          <p:cNvGrpSpPr/>
          <p:nvPr/>
        </p:nvGrpSpPr>
        <p:grpSpPr>
          <a:xfrm>
            <a:off x="10031506" y="2862155"/>
            <a:ext cx="4544232" cy="454423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25046" r="-25046"/>
              </a:stretch>
            </a:blipFill>
          </p:spPr>
          <p:txBody>
            <a:bodyPr/>
            <a:lstStyle/>
            <a:p>
              <a:endParaRPr lang="es-MX" noProof="0" dirty="0"/>
            </a:p>
          </p:txBody>
        </p:sp>
      </p:grpSp>
      <p:grpSp>
        <p:nvGrpSpPr>
          <p:cNvPr id="13" name="Group 13"/>
          <p:cNvGrpSpPr/>
          <p:nvPr/>
        </p:nvGrpSpPr>
        <p:grpSpPr>
          <a:xfrm>
            <a:off x="-3617754" y="8890732"/>
            <a:ext cx="11806576" cy="1396268"/>
            <a:chOff x="0" y="0"/>
            <a:chExt cx="1508702" cy="178422"/>
          </a:xfrm>
        </p:grpSpPr>
        <p:sp>
          <p:nvSpPr>
            <p:cNvPr id="14" name="Freeform 14"/>
            <p:cNvSpPr/>
            <p:nvPr/>
          </p:nvSpPr>
          <p:spPr>
            <a:xfrm>
              <a:off x="0" y="0"/>
              <a:ext cx="1508702" cy="178422"/>
            </a:xfrm>
            <a:custGeom>
              <a:avLst/>
              <a:gdLst/>
              <a:ahLst/>
              <a:cxnLst/>
              <a:rect l="l" t="t" r="r" b="b"/>
              <a:pathLst>
                <a:path w="1508702" h="178422">
                  <a:moveTo>
                    <a:pt x="203200" y="178422"/>
                  </a:moveTo>
                  <a:lnTo>
                    <a:pt x="1305502" y="178422"/>
                  </a:lnTo>
                  <a:lnTo>
                    <a:pt x="1508702" y="0"/>
                  </a:lnTo>
                  <a:lnTo>
                    <a:pt x="0" y="0"/>
                  </a:lnTo>
                  <a:lnTo>
                    <a:pt x="203200" y="178422"/>
                  </a:ln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15" name="TextBox 15"/>
            <p:cNvSpPr txBox="1"/>
            <p:nvPr/>
          </p:nvSpPr>
          <p:spPr>
            <a:xfrm>
              <a:off x="127000" y="-38100"/>
              <a:ext cx="1254702" cy="216522"/>
            </a:xfrm>
            <a:prstGeom prst="rect">
              <a:avLst/>
            </a:prstGeom>
          </p:spPr>
          <p:txBody>
            <a:bodyPr lIns="50800" tIns="50800" rIns="50800" bIns="50800" rtlCol="0" anchor="ctr"/>
            <a:lstStyle/>
            <a:p>
              <a:pPr algn="ctr">
                <a:lnSpc>
                  <a:spcPts val="2659"/>
                </a:lnSpc>
              </a:pPr>
              <a:endParaRPr lang="es-MX" noProof="0" dirty="0"/>
            </a:p>
          </p:txBody>
        </p:sp>
      </p:grpSp>
      <p:grpSp>
        <p:nvGrpSpPr>
          <p:cNvPr id="16" name="Group 16"/>
          <p:cNvGrpSpPr/>
          <p:nvPr/>
        </p:nvGrpSpPr>
        <p:grpSpPr>
          <a:xfrm rot="8100000">
            <a:off x="14876196" y="-4778665"/>
            <a:ext cx="4584947" cy="9887645"/>
            <a:chOff x="0" y="0"/>
            <a:chExt cx="1207558" cy="2604153"/>
          </a:xfrm>
        </p:grpSpPr>
        <p:sp>
          <p:nvSpPr>
            <p:cNvPr id="17" name="Freeform 17"/>
            <p:cNvSpPr/>
            <p:nvPr/>
          </p:nvSpPr>
          <p:spPr>
            <a:xfrm>
              <a:off x="0" y="0"/>
              <a:ext cx="1207558" cy="2604153"/>
            </a:xfrm>
            <a:custGeom>
              <a:avLst/>
              <a:gdLst/>
              <a:ahLst/>
              <a:cxnLst/>
              <a:rect l="l" t="t" r="r" b="b"/>
              <a:pathLst>
                <a:path w="1207558" h="2604153">
                  <a:moveTo>
                    <a:pt x="0" y="0"/>
                  </a:moveTo>
                  <a:lnTo>
                    <a:pt x="1207558" y="0"/>
                  </a:lnTo>
                  <a:lnTo>
                    <a:pt x="1207558" y="2604153"/>
                  </a:lnTo>
                  <a:lnTo>
                    <a:pt x="0" y="2604153"/>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18" name="TextBox 18"/>
            <p:cNvSpPr txBox="1"/>
            <p:nvPr/>
          </p:nvSpPr>
          <p:spPr>
            <a:xfrm>
              <a:off x="0" y="-38100"/>
              <a:ext cx="1207558" cy="2642253"/>
            </a:xfrm>
            <a:prstGeom prst="rect">
              <a:avLst/>
            </a:prstGeom>
          </p:spPr>
          <p:txBody>
            <a:bodyPr lIns="50800" tIns="50800" rIns="50800" bIns="50800" rtlCol="0" anchor="ctr"/>
            <a:lstStyle/>
            <a:p>
              <a:pPr algn="ctr">
                <a:lnSpc>
                  <a:spcPts val="2659"/>
                </a:lnSpc>
              </a:pPr>
              <a:endParaRPr lang="es-MX" noProof="0" dirty="0"/>
            </a:p>
          </p:txBody>
        </p:sp>
      </p:grpSp>
      <p:grpSp>
        <p:nvGrpSpPr>
          <p:cNvPr id="19" name="Group 19"/>
          <p:cNvGrpSpPr/>
          <p:nvPr/>
        </p:nvGrpSpPr>
        <p:grpSpPr>
          <a:xfrm rot="8100000">
            <a:off x="7739032" y="6965659"/>
            <a:ext cx="4584947" cy="9887645"/>
            <a:chOff x="0" y="0"/>
            <a:chExt cx="1207558" cy="2604153"/>
          </a:xfrm>
        </p:grpSpPr>
        <p:sp>
          <p:nvSpPr>
            <p:cNvPr id="20" name="Freeform 20"/>
            <p:cNvSpPr/>
            <p:nvPr/>
          </p:nvSpPr>
          <p:spPr>
            <a:xfrm>
              <a:off x="0" y="0"/>
              <a:ext cx="1207558" cy="2604153"/>
            </a:xfrm>
            <a:custGeom>
              <a:avLst/>
              <a:gdLst/>
              <a:ahLst/>
              <a:cxnLst/>
              <a:rect l="l" t="t" r="r" b="b"/>
              <a:pathLst>
                <a:path w="1207558" h="2604153">
                  <a:moveTo>
                    <a:pt x="0" y="0"/>
                  </a:moveTo>
                  <a:lnTo>
                    <a:pt x="1207558" y="0"/>
                  </a:lnTo>
                  <a:lnTo>
                    <a:pt x="1207558" y="2604153"/>
                  </a:lnTo>
                  <a:lnTo>
                    <a:pt x="0" y="2604153"/>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1" name="TextBox 21"/>
            <p:cNvSpPr txBox="1"/>
            <p:nvPr/>
          </p:nvSpPr>
          <p:spPr>
            <a:xfrm>
              <a:off x="0" y="-38100"/>
              <a:ext cx="1207558" cy="2642253"/>
            </a:xfrm>
            <a:prstGeom prst="rect">
              <a:avLst/>
            </a:prstGeom>
          </p:spPr>
          <p:txBody>
            <a:bodyPr lIns="50800" tIns="50800" rIns="50800" bIns="50800" rtlCol="0" anchor="ctr"/>
            <a:lstStyle/>
            <a:p>
              <a:pPr algn="ctr">
                <a:lnSpc>
                  <a:spcPts val="2659"/>
                </a:lnSpc>
              </a:pPr>
              <a:endParaRPr lang="es-MX" noProof="0" dirty="0"/>
            </a:p>
          </p:txBody>
        </p:sp>
      </p:grpSp>
      <p:sp>
        <p:nvSpPr>
          <p:cNvPr id="22" name="Freeform 22"/>
          <p:cNvSpPr/>
          <p:nvPr/>
        </p:nvSpPr>
        <p:spPr>
          <a:xfrm>
            <a:off x="9079893" y="88282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MX" noProof="0" dirty="0"/>
          </a:p>
        </p:txBody>
      </p:sp>
      <p:sp>
        <p:nvSpPr>
          <p:cNvPr id="23" name="Freeform 23"/>
          <p:cNvSpPr/>
          <p:nvPr/>
        </p:nvSpPr>
        <p:spPr>
          <a:xfrm>
            <a:off x="5601831" y="6532753"/>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MX" noProof="0" dirty="0"/>
          </a:p>
        </p:txBody>
      </p:sp>
      <p:grpSp>
        <p:nvGrpSpPr>
          <p:cNvPr id="24" name="Group 24"/>
          <p:cNvGrpSpPr/>
          <p:nvPr/>
        </p:nvGrpSpPr>
        <p:grpSpPr>
          <a:xfrm rot="8100000">
            <a:off x="17477136" y="-2589616"/>
            <a:ext cx="3158636" cy="6487180"/>
            <a:chOff x="0" y="0"/>
            <a:chExt cx="831904" cy="1708558"/>
          </a:xfrm>
        </p:grpSpPr>
        <p:sp>
          <p:nvSpPr>
            <p:cNvPr id="25" name="Freeform 25"/>
            <p:cNvSpPr/>
            <p:nvPr/>
          </p:nvSpPr>
          <p:spPr>
            <a:xfrm>
              <a:off x="0" y="0"/>
              <a:ext cx="831904" cy="1708558"/>
            </a:xfrm>
            <a:custGeom>
              <a:avLst/>
              <a:gdLst/>
              <a:ahLst/>
              <a:cxnLst/>
              <a:rect l="l" t="t" r="r" b="b"/>
              <a:pathLst>
                <a:path w="831904" h="1708558">
                  <a:moveTo>
                    <a:pt x="0" y="0"/>
                  </a:moveTo>
                  <a:lnTo>
                    <a:pt x="831904" y="0"/>
                  </a:lnTo>
                  <a:lnTo>
                    <a:pt x="831904" y="1708558"/>
                  </a:lnTo>
                  <a:lnTo>
                    <a:pt x="0" y="1708558"/>
                  </a:lnTo>
                  <a:close/>
                </a:path>
              </a:pathLst>
            </a:custGeom>
            <a:gradFill rotWithShape="1">
              <a:gsLst>
                <a:gs pos="0">
                  <a:srgbClr val="FFFFFF">
                    <a:alpha val="100000"/>
                  </a:srgbClr>
                </a:gs>
                <a:gs pos="50000">
                  <a:srgbClr val="FFFFFF">
                    <a:alpha val="71000"/>
                  </a:srgbClr>
                </a:gs>
                <a:gs pos="100000">
                  <a:srgbClr val="0B51AE">
                    <a:alpha val="0"/>
                  </a:srgbClr>
                </a:gs>
              </a:gsLst>
              <a:lin ang="5400000"/>
            </a:gradFill>
          </p:spPr>
          <p:txBody>
            <a:bodyPr/>
            <a:lstStyle/>
            <a:p>
              <a:endParaRPr lang="es-MX" noProof="0" dirty="0"/>
            </a:p>
          </p:txBody>
        </p:sp>
        <p:sp>
          <p:nvSpPr>
            <p:cNvPr id="26" name="TextBox 26"/>
            <p:cNvSpPr txBox="1"/>
            <p:nvPr/>
          </p:nvSpPr>
          <p:spPr>
            <a:xfrm>
              <a:off x="0" y="-38100"/>
              <a:ext cx="831904" cy="1746658"/>
            </a:xfrm>
            <a:prstGeom prst="rect">
              <a:avLst/>
            </a:prstGeom>
          </p:spPr>
          <p:txBody>
            <a:bodyPr lIns="50800" tIns="50800" rIns="50800" bIns="50800" rtlCol="0" anchor="ctr"/>
            <a:lstStyle/>
            <a:p>
              <a:pPr algn="ctr">
                <a:lnSpc>
                  <a:spcPts val="2659"/>
                </a:lnSpc>
              </a:pPr>
              <a:endParaRPr lang="es-MX" noProof="0" dirty="0"/>
            </a:p>
          </p:txBody>
        </p:sp>
      </p:grpSp>
      <p:grpSp>
        <p:nvGrpSpPr>
          <p:cNvPr id="27" name="Group 27"/>
          <p:cNvGrpSpPr/>
          <p:nvPr/>
        </p:nvGrpSpPr>
        <p:grpSpPr>
          <a:xfrm rot="8287351">
            <a:off x="5446030" y="8741331"/>
            <a:ext cx="4645285" cy="5898577"/>
            <a:chOff x="0" y="0"/>
            <a:chExt cx="1223450" cy="1553535"/>
          </a:xfrm>
        </p:grpSpPr>
        <p:sp>
          <p:nvSpPr>
            <p:cNvPr id="28" name="Freeform 28"/>
            <p:cNvSpPr/>
            <p:nvPr/>
          </p:nvSpPr>
          <p:spPr>
            <a:xfrm>
              <a:off x="0" y="0"/>
              <a:ext cx="1223450" cy="1553535"/>
            </a:xfrm>
            <a:custGeom>
              <a:avLst/>
              <a:gdLst/>
              <a:ahLst/>
              <a:cxnLst/>
              <a:rect l="l" t="t" r="r" b="b"/>
              <a:pathLst>
                <a:path w="1223450" h="1553535">
                  <a:moveTo>
                    <a:pt x="0" y="0"/>
                  </a:moveTo>
                  <a:lnTo>
                    <a:pt x="1223450" y="0"/>
                  </a:lnTo>
                  <a:lnTo>
                    <a:pt x="1223450" y="1553535"/>
                  </a:lnTo>
                  <a:lnTo>
                    <a:pt x="0" y="1553535"/>
                  </a:lnTo>
                  <a:close/>
                </a:path>
              </a:pathLst>
            </a:custGeom>
            <a:gradFill rotWithShape="1">
              <a:gsLst>
                <a:gs pos="0">
                  <a:srgbClr val="FFFFFF">
                    <a:alpha val="100000"/>
                  </a:srgbClr>
                </a:gs>
                <a:gs pos="50000">
                  <a:srgbClr val="FFFFFF">
                    <a:alpha val="71000"/>
                  </a:srgbClr>
                </a:gs>
                <a:gs pos="100000">
                  <a:srgbClr val="0B51AE">
                    <a:alpha val="0"/>
                  </a:srgbClr>
                </a:gs>
              </a:gsLst>
              <a:lin ang="5400000"/>
            </a:gradFill>
          </p:spPr>
          <p:txBody>
            <a:bodyPr/>
            <a:lstStyle/>
            <a:p>
              <a:endParaRPr lang="es-MX" noProof="0" dirty="0"/>
            </a:p>
          </p:txBody>
        </p:sp>
        <p:sp>
          <p:nvSpPr>
            <p:cNvPr id="29" name="TextBox 29"/>
            <p:cNvSpPr txBox="1"/>
            <p:nvPr/>
          </p:nvSpPr>
          <p:spPr>
            <a:xfrm>
              <a:off x="0" y="-38100"/>
              <a:ext cx="1223450" cy="1591635"/>
            </a:xfrm>
            <a:prstGeom prst="rect">
              <a:avLst/>
            </a:prstGeom>
          </p:spPr>
          <p:txBody>
            <a:bodyPr lIns="50800" tIns="50800" rIns="50800" bIns="50800" rtlCol="0" anchor="ctr"/>
            <a:lstStyle/>
            <a:p>
              <a:pPr algn="ctr">
                <a:lnSpc>
                  <a:spcPts val="2659"/>
                </a:lnSpc>
              </a:pPr>
              <a:endParaRPr lang="es-MX" noProof="0" dirty="0"/>
            </a:p>
          </p:txBody>
        </p:sp>
      </p:grpSp>
      <p:sp>
        <p:nvSpPr>
          <p:cNvPr id="34" name="AutoShape 34"/>
          <p:cNvSpPr/>
          <p:nvPr/>
        </p:nvSpPr>
        <p:spPr>
          <a:xfrm>
            <a:off x="1047750" y="5174647"/>
            <a:ext cx="0" cy="1127799"/>
          </a:xfrm>
          <a:prstGeom prst="line">
            <a:avLst/>
          </a:prstGeom>
          <a:ln w="38100" cap="flat">
            <a:solidFill>
              <a:srgbClr val="000000"/>
            </a:solidFill>
            <a:prstDash val="solid"/>
            <a:headEnd type="none" w="sm" len="sm"/>
            <a:tailEnd type="none" w="sm" len="sm"/>
          </a:ln>
        </p:spPr>
        <p:txBody>
          <a:bodyPr/>
          <a:lstStyle/>
          <a:p>
            <a:endParaRPr lang="es-MX" noProof="0" dirty="0"/>
          </a:p>
        </p:txBody>
      </p:sp>
      <p:sp>
        <p:nvSpPr>
          <p:cNvPr id="35" name="Freeform 35"/>
          <p:cNvSpPr/>
          <p:nvPr/>
        </p:nvSpPr>
        <p:spPr>
          <a:xfrm>
            <a:off x="13556140" y="2122829"/>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4"/>
            <a:stretch>
              <a:fillRect/>
            </a:stretch>
          </a:blipFill>
        </p:spPr>
        <p:txBody>
          <a:bodyPr/>
          <a:lstStyle/>
          <a:p>
            <a:endParaRPr lang="es-MX" noProof="0" dirty="0"/>
          </a:p>
        </p:txBody>
      </p:sp>
      <p:sp>
        <p:nvSpPr>
          <p:cNvPr id="36" name="TextBox 36"/>
          <p:cNvSpPr txBox="1"/>
          <p:nvPr/>
        </p:nvSpPr>
        <p:spPr>
          <a:xfrm>
            <a:off x="1422999" y="5008996"/>
            <a:ext cx="7054347" cy="1353704"/>
          </a:xfrm>
          <a:prstGeom prst="rect">
            <a:avLst/>
          </a:prstGeom>
        </p:spPr>
        <p:txBody>
          <a:bodyPr lIns="0" tIns="0" rIns="0" bIns="0" rtlCol="0" anchor="t">
            <a:spAutoFit/>
          </a:bodyPr>
          <a:lstStyle/>
          <a:p>
            <a:pPr algn="l">
              <a:lnSpc>
                <a:spcPct val="150000"/>
              </a:lnSpc>
              <a:spcBef>
                <a:spcPct val="0"/>
              </a:spcBef>
            </a:pPr>
            <a:r>
              <a:rPr lang="es-MX" sz="3123" b="1" noProof="0" dirty="0">
                <a:solidFill>
                  <a:srgbClr val="000000"/>
                </a:solidFill>
                <a:latin typeface="Open Sauce"/>
                <a:ea typeface="Open Sauce"/>
                <a:cs typeface="Open Sauce"/>
                <a:sym typeface="Open Sauce"/>
              </a:rPr>
              <a:t>Resultados de Operaciones</a:t>
            </a:r>
          </a:p>
          <a:p>
            <a:pPr>
              <a:lnSpc>
                <a:spcPct val="150000"/>
              </a:lnSpc>
              <a:spcBef>
                <a:spcPct val="0"/>
              </a:spcBef>
            </a:pPr>
            <a:r>
              <a:rPr lang="es-MX" sz="3123" dirty="0">
                <a:solidFill>
                  <a:srgbClr val="000000"/>
                </a:solidFill>
                <a:latin typeface="Open Sauce"/>
                <a:ea typeface="Open Sauce"/>
                <a:cs typeface="Open Sauce"/>
                <a:sym typeface="Open Sauce"/>
              </a:rPr>
              <a:t>Enero</a:t>
            </a:r>
            <a:r>
              <a:rPr lang="es-MX" sz="3123" noProof="0" dirty="0">
                <a:solidFill>
                  <a:srgbClr val="000000"/>
                </a:solidFill>
                <a:latin typeface="Open Sauce"/>
                <a:ea typeface="Open Sauce"/>
                <a:cs typeface="Open Sauce"/>
                <a:sym typeface="Open Sauce"/>
              </a:rPr>
              <a:t>– </a:t>
            </a:r>
            <a:r>
              <a:rPr lang="es-MX" sz="3123" dirty="0" err="1">
                <a:solidFill>
                  <a:srgbClr val="000000"/>
                </a:solidFill>
                <a:latin typeface="Open Sauce"/>
                <a:ea typeface="Open Sauce"/>
                <a:cs typeface="Open Sauce"/>
                <a:sym typeface="Open Sauce"/>
              </a:rPr>
              <a:t>Febr</a:t>
            </a:r>
            <a:r>
              <a:rPr lang="es-MX" sz="3123" noProof="0" dirty="0">
                <a:solidFill>
                  <a:srgbClr val="000000"/>
                </a:solidFill>
                <a:latin typeface="Open Sauce"/>
                <a:ea typeface="Open Sauce"/>
                <a:cs typeface="Open Sauce"/>
                <a:sym typeface="Open Sauce"/>
              </a:rPr>
              <a:t>ero 2026</a:t>
            </a:r>
          </a:p>
        </p:txBody>
      </p:sp>
      <p:sp>
        <p:nvSpPr>
          <p:cNvPr id="37" name="Freeform 37"/>
          <p:cNvSpPr/>
          <p:nvPr/>
        </p:nvSpPr>
        <p:spPr>
          <a:xfrm>
            <a:off x="8188822" y="4715423"/>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4"/>
            <a:stretch>
              <a:fillRect/>
            </a:stretch>
          </a:blipFill>
        </p:spPr>
        <p:txBody>
          <a:bodyPr/>
          <a:lstStyle/>
          <a:p>
            <a:endParaRPr lang="es-MX" noProof="0" dirty="0"/>
          </a:p>
        </p:txBody>
      </p:sp>
      <p:sp>
        <p:nvSpPr>
          <p:cNvPr id="38" name="Freeform 38"/>
          <p:cNvSpPr/>
          <p:nvPr/>
        </p:nvSpPr>
        <p:spPr>
          <a:xfrm>
            <a:off x="6855407" y="7594435"/>
            <a:ext cx="2595839" cy="2592594"/>
          </a:xfrm>
          <a:custGeom>
            <a:avLst/>
            <a:gdLst/>
            <a:ahLst/>
            <a:cxnLst/>
            <a:rect l="l" t="t" r="r" b="b"/>
            <a:pathLst>
              <a:path w="2595839" h="2592594">
                <a:moveTo>
                  <a:pt x="0" y="0"/>
                </a:moveTo>
                <a:lnTo>
                  <a:pt x="2595838" y="0"/>
                </a:lnTo>
                <a:lnTo>
                  <a:pt x="2595838" y="2592594"/>
                </a:lnTo>
                <a:lnTo>
                  <a:pt x="0" y="2592594"/>
                </a:lnTo>
                <a:lnTo>
                  <a:pt x="0" y="0"/>
                </a:lnTo>
                <a:close/>
              </a:path>
            </a:pathLst>
          </a:custGeom>
          <a:blipFill>
            <a:blip r:embed="rId14"/>
            <a:stretch>
              <a:fillRect/>
            </a:stretch>
          </a:blipFill>
        </p:spPr>
        <p:txBody>
          <a:bodyPr/>
          <a:lstStyle/>
          <a:p>
            <a:endParaRPr lang="es-MX" noProof="0" dirty="0"/>
          </a:p>
        </p:txBody>
      </p:sp>
      <p:sp>
        <p:nvSpPr>
          <p:cNvPr id="39" name="Freeform 39"/>
          <p:cNvSpPr/>
          <p:nvPr/>
        </p:nvSpPr>
        <p:spPr>
          <a:xfrm>
            <a:off x="1028700" y="9414297"/>
            <a:ext cx="349139" cy="349139"/>
          </a:xfrm>
          <a:custGeom>
            <a:avLst/>
            <a:gdLst/>
            <a:ahLst/>
            <a:cxnLst/>
            <a:rect l="l" t="t" r="r" b="b"/>
            <a:pathLst>
              <a:path w="349139" h="349139">
                <a:moveTo>
                  <a:pt x="0" y="0"/>
                </a:moveTo>
                <a:lnTo>
                  <a:pt x="349139" y="0"/>
                </a:lnTo>
                <a:lnTo>
                  <a:pt x="349139" y="349138"/>
                </a:lnTo>
                <a:lnTo>
                  <a:pt x="0" y="34913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s-MX" noProof="0" dirty="0"/>
          </a:p>
        </p:txBody>
      </p:sp>
      <p:sp>
        <p:nvSpPr>
          <p:cNvPr id="40" name="TextBox 40"/>
          <p:cNvSpPr txBox="1"/>
          <p:nvPr/>
        </p:nvSpPr>
        <p:spPr>
          <a:xfrm>
            <a:off x="762001" y="2705100"/>
            <a:ext cx="9075573" cy="2051844"/>
          </a:xfrm>
          <a:prstGeom prst="rect">
            <a:avLst/>
          </a:prstGeom>
        </p:spPr>
        <p:txBody>
          <a:bodyPr wrap="square" lIns="0" tIns="0" rIns="0" bIns="0" rtlCol="0" anchor="t">
            <a:spAutoFit/>
          </a:bodyPr>
          <a:lstStyle/>
          <a:p>
            <a:pPr algn="l">
              <a:lnSpc>
                <a:spcPts val="8036"/>
              </a:lnSpc>
            </a:pPr>
            <a:r>
              <a:rPr lang="es-MX" sz="6696" b="1" spc="-140" noProof="0" dirty="0">
                <a:solidFill>
                  <a:srgbClr val="0F5995"/>
                </a:solidFill>
                <a:latin typeface="Open Sauce Heavy"/>
                <a:ea typeface="Open Sauce Heavy"/>
                <a:cs typeface="Open Sauce Heavy"/>
                <a:sym typeface="Open Sauce Heavy"/>
              </a:rPr>
              <a:t>REUNIÓN BIMESTRAL</a:t>
            </a:r>
          </a:p>
          <a:p>
            <a:pPr algn="l">
              <a:lnSpc>
                <a:spcPts val="8036"/>
              </a:lnSpc>
            </a:pPr>
            <a:r>
              <a:rPr lang="es-MX" sz="6696" b="1" spc="-140" noProof="0" dirty="0">
                <a:solidFill>
                  <a:srgbClr val="0F5995"/>
                </a:solidFill>
                <a:latin typeface="Open Sauce Heavy"/>
                <a:ea typeface="Open Sauce Heavy"/>
                <a:cs typeface="Open Sauce Heavy"/>
                <a:sym typeface="Open Sauce Heavy"/>
              </a:rPr>
              <a:t>SANOFI - ABC</a:t>
            </a:r>
          </a:p>
        </p:txBody>
      </p:sp>
      <p:sp>
        <p:nvSpPr>
          <p:cNvPr id="42" name="TextBox 42"/>
          <p:cNvSpPr txBox="1"/>
          <p:nvPr/>
        </p:nvSpPr>
        <p:spPr>
          <a:xfrm>
            <a:off x="1028699" y="7038296"/>
            <a:ext cx="3393155" cy="410818"/>
          </a:xfrm>
          <a:prstGeom prst="rect">
            <a:avLst/>
          </a:prstGeom>
        </p:spPr>
        <p:txBody>
          <a:bodyPr wrap="square" lIns="0" tIns="0" rIns="0" bIns="0" rtlCol="0" anchor="t">
            <a:spAutoFit/>
          </a:bodyPr>
          <a:lstStyle/>
          <a:p>
            <a:pPr algn="l">
              <a:lnSpc>
                <a:spcPts val="3522"/>
              </a:lnSpc>
              <a:spcBef>
                <a:spcPct val="0"/>
              </a:spcBef>
            </a:pPr>
            <a:r>
              <a:rPr lang="es-MX" sz="2516" noProof="0" dirty="0">
                <a:solidFill>
                  <a:srgbClr val="000000"/>
                </a:solidFill>
                <a:latin typeface="Open Sauce"/>
                <a:ea typeface="Open Sauce"/>
                <a:cs typeface="Open Sauce"/>
                <a:sym typeface="Open Sauce"/>
              </a:rPr>
              <a:t>Presentado por:</a:t>
            </a:r>
          </a:p>
        </p:txBody>
      </p:sp>
      <p:sp>
        <p:nvSpPr>
          <p:cNvPr id="43" name="TextBox 43"/>
          <p:cNvSpPr txBox="1"/>
          <p:nvPr/>
        </p:nvSpPr>
        <p:spPr>
          <a:xfrm>
            <a:off x="1047923" y="7712739"/>
            <a:ext cx="3902249" cy="525485"/>
          </a:xfrm>
          <a:prstGeom prst="rect">
            <a:avLst/>
          </a:prstGeom>
        </p:spPr>
        <p:txBody>
          <a:bodyPr lIns="0" tIns="0" rIns="0" bIns="0" rtlCol="0" anchor="t">
            <a:spAutoFit/>
          </a:bodyPr>
          <a:lstStyle/>
          <a:p>
            <a:pPr algn="l">
              <a:lnSpc>
                <a:spcPts val="4384"/>
              </a:lnSpc>
              <a:spcBef>
                <a:spcPct val="0"/>
              </a:spcBef>
            </a:pPr>
            <a:r>
              <a:rPr lang="es-MX" sz="3131" b="1" noProof="0" dirty="0">
                <a:solidFill>
                  <a:srgbClr val="0F5995"/>
                </a:solidFill>
                <a:latin typeface="Open Sauce Bold"/>
                <a:ea typeface="Open Sauce Bold"/>
                <a:cs typeface="Open Sauce Bold"/>
                <a:sym typeface="Open Sauce Bold"/>
              </a:rPr>
              <a:t>Equipo ABC</a:t>
            </a:r>
          </a:p>
        </p:txBody>
      </p:sp>
      <p:sp>
        <p:nvSpPr>
          <p:cNvPr id="44" name="TextBox 44"/>
          <p:cNvSpPr txBox="1"/>
          <p:nvPr/>
        </p:nvSpPr>
        <p:spPr>
          <a:xfrm>
            <a:off x="1599823" y="9330154"/>
            <a:ext cx="4002008" cy="426698"/>
          </a:xfrm>
          <a:prstGeom prst="rect">
            <a:avLst/>
          </a:prstGeom>
        </p:spPr>
        <p:txBody>
          <a:bodyPr lIns="0" tIns="0" rIns="0" bIns="0" rtlCol="0" anchor="t">
            <a:spAutoFit/>
          </a:bodyPr>
          <a:lstStyle/>
          <a:p>
            <a:pPr algn="l">
              <a:lnSpc>
                <a:spcPts val="3522"/>
              </a:lnSpc>
              <a:spcBef>
                <a:spcPct val="0"/>
              </a:spcBef>
            </a:pPr>
            <a:r>
              <a:rPr lang="es-MX" sz="2516" noProof="0" dirty="0">
                <a:solidFill>
                  <a:srgbClr val="FFFFFF"/>
                </a:solidFill>
                <a:latin typeface="Open Sauce"/>
                <a:ea typeface="Open Sauce"/>
                <a:cs typeface="Open Sauce"/>
                <a:sym typeface="Open Sauce"/>
              </a:rPr>
              <a:t>http://www.abcsc.mx/</a:t>
            </a:r>
          </a:p>
        </p:txBody>
      </p:sp>
      <p:pic>
        <p:nvPicPr>
          <p:cNvPr id="48" name="Imagen 47">
            <a:extLst>
              <a:ext uri="{FF2B5EF4-FFF2-40B4-BE49-F238E27FC236}">
                <a16:creationId xmlns:a16="http://schemas.microsoft.com/office/drawing/2014/main" id="{796C3E9F-3EDB-8E1A-FC2C-049BE004F80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30682" y="501561"/>
            <a:ext cx="3391174" cy="17473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55234" y="2759226"/>
            <a:ext cx="20233024" cy="10799376"/>
          </a:xfrm>
          <a:custGeom>
            <a:avLst/>
            <a:gdLst/>
            <a:ahLst/>
            <a:cxnLst/>
            <a:rect l="l" t="t" r="r" b="b"/>
            <a:pathLst>
              <a:path w="20233024" h="10799376">
                <a:moveTo>
                  <a:pt x="0" y="0"/>
                </a:moveTo>
                <a:lnTo>
                  <a:pt x="20233023" y="0"/>
                </a:lnTo>
                <a:lnTo>
                  <a:pt x="20233023" y="10799376"/>
                </a:lnTo>
                <a:lnTo>
                  <a:pt x="0" y="10799376"/>
                </a:lnTo>
                <a:lnTo>
                  <a:pt x="0" y="0"/>
                </a:lnTo>
                <a:close/>
              </a:path>
            </a:pathLst>
          </a:custGeom>
          <a:blipFill>
            <a:blip r:embed="rId2">
              <a:alphaModFix amt="2000"/>
              <a:extLst>
                <a:ext uri="{96DAC541-7B7A-43D3-8B79-37D633B846F1}">
                  <asvg:svgBlip xmlns:asvg="http://schemas.microsoft.com/office/drawing/2016/SVG/main" r:embed="rId3"/>
                </a:ext>
              </a:extLst>
            </a:blip>
            <a:stretch>
              <a:fillRect/>
            </a:stretch>
          </a:blipFill>
        </p:spPr>
        <p:txBody>
          <a:bodyPr/>
          <a:lstStyle/>
          <a:p>
            <a:endParaRPr lang="es-MX" noProof="0" dirty="0"/>
          </a:p>
        </p:txBody>
      </p:sp>
      <p:grpSp>
        <p:nvGrpSpPr>
          <p:cNvPr id="3" name="Group 3"/>
          <p:cNvGrpSpPr/>
          <p:nvPr/>
        </p:nvGrpSpPr>
        <p:grpSpPr>
          <a:xfrm>
            <a:off x="0" y="0"/>
            <a:ext cx="6240290" cy="10287000"/>
            <a:chOff x="0" y="0"/>
            <a:chExt cx="8320387" cy="13716000"/>
          </a:xfrm>
        </p:grpSpPr>
        <p:pic>
          <p:nvPicPr>
            <p:cNvPr id="4" name="Picture 4"/>
            <p:cNvPicPr>
              <a:picLocks noChangeAspect="1"/>
            </p:cNvPicPr>
            <p:nvPr/>
          </p:nvPicPr>
          <p:blipFill>
            <a:blip r:embed="rId4"/>
            <a:srcRect l="31043" r="31043"/>
            <a:stretch>
              <a:fillRect/>
            </a:stretch>
          </p:blipFill>
          <p:spPr>
            <a:xfrm>
              <a:off x="0" y="0"/>
              <a:ext cx="8320387" cy="13716000"/>
            </a:xfrm>
            <a:prstGeom prst="rect">
              <a:avLst/>
            </a:prstGeom>
          </p:spPr>
        </p:pic>
      </p:grpSp>
      <p:sp>
        <p:nvSpPr>
          <p:cNvPr id="16" name="TextBox 16"/>
          <p:cNvSpPr txBox="1"/>
          <p:nvPr/>
        </p:nvSpPr>
        <p:spPr>
          <a:xfrm>
            <a:off x="8083439" y="832338"/>
            <a:ext cx="9175861" cy="773610"/>
          </a:xfrm>
          <a:prstGeom prst="rect">
            <a:avLst/>
          </a:prstGeom>
        </p:spPr>
        <p:txBody>
          <a:bodyPr lIns="0" tIns="0" rIns="0" bIns="0" rtlCol="0" anchor="t">
            <a:spAutoFit/>
          </a:bodyPr>
          <a:lstStyle/>
          <a:p>
            <a:pPr algn="r">
              <a:lnSpc>
                <a:spcPts val="6544"/>
              </a:lnSpc>
            </a:pPr>
            <a:r>
              <a:rPr lang="es-MX" sz="5034" b="1" noProof="0" dirty="0">
                <a:solidFill>
                  <a:srgbClr val="0F5995"/>
                </a:solidFill>
                <a:latin typeface="Open Sauce Bold"/>
                <a:ea typeface="Open Sauce Bold"/>
                <a:cs typeface="Open Sauce Bold"/>
                <a:sym typeface="Open Sauce Bold"/>
              </a:rPr>
              <a:t>Agenda</a:t>
            </a:r>
          </a:p>
        </p:txBody>
      </p:sp>
      <p:grpSp>
        <p:nvGrpSpPr>
          <p:cNvPr id="24" name="Group 24"/>
          <p:cNvGrpSpPr/>
          <p:nvPr/>
        </p:nvGrpSpPr>
        <p:grpSpPr>
          <a:xfrm>
            <a:off x="5541202" y="-841073"/>
            <a:ext cx="1398176" cy="13038508"/>
            <a:chOff x="0" y="0"/>
            <a:chExt cx="368244" cy="3434010"/>
          </a:xfrm>
        </p:grpSpPr>
        <p:sp>
          <p:nvSpPr>
            <p:cNvPr id="25" name="Freeform 25"/>
            <p:cNvSpPr/>
            <p:nvPr/>
          </p:nvSpPr>
          <p:spPr>
            <a:xfrm>
              <a:off x="0" y="0"/>
              <a:ext cx="368244" cy="3434010"/>
            </a:xfrm>
            <a:custGeom>
              <a:avLst/>
              <a:gdLst/>
              <a:ahLst/>
              <a:cxnLst/>
              <a:rect l="l" t="t" r="r" b="b"/>
              <a:pathLst>
                <a:path w="368244" h="3434010">
                  <a:moveTo>
                    <a:pt x="0" y="0"/>
                  </a:moveTo>
                  <a:lnTo>
                    <a:pt x="368244" y="0"/>
                  </a:lnTo>
                  <a:lnTo>
                    <a:pt x="368244" y="3434010"/>
                  </a:lnTo>
                  <a:lnTo>
                    <a:pt x="0" y="3434010"/>
                  </a:lnTo>
                  <a:close/>
                </a:path>
              </a:pathLst>
            </a:custGeom>
            <a:gradFill rotWithShape="1">
              <a:gsLst>
                <a:gs pos="0">
                  <a:srgbClr val="366980">
                    <a:alpha val="100000"/>
                  </a:srgbClr>
                </a:gs>
                <a:gs pos="100000">
                  <a:srgbClr val="0B51AE">
                    <a:alpha val="0"/>
                  </a:srgbClr>
                </a:gs>
              </a:gsLst>
              <a:lin ang="5400000"/>
            </a:gradFill>
          </p:spPr>
          <p:txBody>
            <a:bodyPr/>
            <a:lstStyle/>
            <a:p>
              <a:endParaRPr lang="es-MX" noProof="0" dirty="0"/>
            </a:p>
          </p:txBody>
        </p:sp>
        <p:sp>
          <p:nvSpPr>
            <p:cNvPr id="26" name="TextBox 26"/>
            <p:cNvSpPr txBox="1"/>
            <p:nvPr/>
          </p:nvSpPr>
          <p:spPr>
            <a:xfrm>
              <a:off x="0" y="-38100"/>
              <a:ext cx="368244" cy="3472110"/>
            </a:xfrm>
            <a:prstGeom prst="rect">
              <a:avLst/>
            </a:prstGeom>
          </p:spPr>
          <p:txBody>
            <a:bodyPr lIns="50800" tIns="50800" rIns="50800" bIns="50800" rtlCol="0" anchor="ctr"/>
            <a:lstStyle/>
            <a:p>
              <a:pPr algn="ctr">
                <a:lnSpc>
                  <a:spcPts val="2659"/>
                </a:lnSpc>
                <a:spcBef>
                  <a:spcPct val="0"/>
                </a:spcBef>
              </a:pPr>
              <a:endParaRPr lang="es-MX" noProof="0" dirty="0"/>
            </a:p>
          </p:txBody>
        </p:sp>
      </p:grpSp>
      <p:grpSp>
        <p:nvGrpSpPr>
          <p:cNvPr id="61" name="Group 5">
            <a:extLst>
              <a:ext uri="{FF2B5EF4-FFF2-40B4-BE49-F238E27FC236}">
                <a16:creationId xmlns:a16="http://schemas.microsoft.com/office/drawing/2014/main" id="{79218766-7A33-CDAC-0D10-B493372E53A3}"/>
              </a:ext>
            </a:extLst>
          </p:cNvPr>
          <p:cNvGrpSpPr/>
          <p:nvPr/>
        </p:nvGrpSpPr>
        <p:grpSpPr>
          <a:xfrm>
            <a:off x="8083439" y="2171700"/>
            <a:ext cx="7743680" cy="726774"/>
            <a:chOff x="0" y="0"/>
            <a:chExt cx="2039488" cy="191414"/>
          </a:xfrm>
        </p:grpSpPr>
        <p:sp>
          <p:nvSpPr>
            <p:cNvPr id="62" name="Freeform 6">
              <a:extLst>
                <a:ext uri="{FF2B5EF4-FFF2-40B4-BE49-F238E27FC236}">
                  <a16:creationId xmlns:a16="http://schemas.microsoft.com/office/drawing/2014/main" id="{FAC4F5A8-EC67-17A0-0C5E-BD57A2FEA245}"/>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63" name="TextBox 7">
              <a:extLst>
                <a:ext uri="{FF2B5EF4-FFF2-40B4-BE49-F238E27FC236}">
                  <a16:creationId xmlns:a16="http://schemas.microsoft.com/office/drawing/2014/main" id="{877FF17C-073B-6A8B-8F6B-B707804627A4}"/>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64" name="TextBox 18">
            <a:extLst>
              <a:ext uri="{FF2B5EF4-FFF2-40B4-BE49-F238E27FC236}">
                <a16:creationId xmlns:a16="http://schemas.microsoft.com/office/drawing/2014/main" id="{84EEA9D7-5277-C3F4-8EAD-A972F87F7219}"/>
              </a:ext>
            </a:extLst>
          </p:cNvPr>
          <p:cNvSpPr txBox="1"/>
          <p:nvPr/>
        </p:nvSpPr>
        <p:spPr>
          <a:xfrm>
            <a:off x="8543979" y="2247477"/>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Operaciones totales</a:t>
            </a:r>
          </a:p>
        </p:txBody>
      </p:sp>
      <p:grpSp>
        <p:nvGrpSpPr>
          <p:cNvPr id="65" name="Group 5">
            <a:extLst>
              <a:ext uri="{FF2B5EF4-FFF2-40B4-BE49-F238E27FC236}">
                <a16:creationId xmlns:a16="http://schemas.microsoft.com/office/drawing/2014/main" id="{664A92C7-3A04-9FBF-EB7A-3F1D565C3FE4}"/>
              </a:ext>
            </a:extLst>
          </p:cNvPr>
          <p:cNvGrpSpPr/>
          <p:nvPr/>
        </p:nvGrpSpPr>
        <p:grpSpPr>
          <a:xfrm>
            <a:off x="8083439" y="4415930"/>
            <a:ext cx="7743680" cy="726774"/>
            <a:chOff x="0" y="0"/>
            <a:chExt cx="2039488" cy="191414"/>
          </a:xfrm>
        </p:grpSpPr>
        <p:sp>
          <p:nvSpPr>
            <p:cNvPr id="66" name="Freeform 6">
              <a:extLst>
                <a:ext uri="{FF2B5EF4-FFF2-40B4-BE49-F238E27FC236}">
                  <a16:creationId xmlns:a16="http://schemas.microsoft.com/office/drawing/2014/main" id="{BA0501C9-10D5-5D6C-D257-BAE804EEA69E}"/>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67" name="TextBox 7">
              <a:extLst>
                <a:ext uri="{FF2B5EF4-FFF2-40B4-BE49-F238E27FC236}">
                  <a16:creationId xmlns:a16="http://schemas.microsoft.com/office/drawing/2014/main" id="{4E68CBBC-6D69-CFBA-00E5-CE5345CD628A}"/>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68" name="TextBox 18">
            <a:extLst>
              <a:ext uri="{FF2B5EF4-FFF2-40B4-BE49-F238E27FC236}">
                <a16:creationId xmlns:a16="http://schemas.microsoft.com/office/drawing/2014/main" id="{A8A18325-84C4-1459-3877-5624610BAAE9}"/>
              </a:ext>
            </a:extLst>
          </p:cNvPr>
          <p:cNvSpPr txBox="1"/>
          <p:nvPr/>
        </p:nvSpPr>
        <p:spPr>
          <a:xfrm>
            <a:off x="8543979" y="4491707"/>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Tiempos promedio de facturación</a:t>
            </a:r>
          </a:p>
        </p:txBody>
      </p:sp>
      <p:grpSp>
        <p:nvGrpSpPr>
          <p:cNvPr id="69" name="Group 5">
            <a:extLst>
              <a:ext uri="{FF2B5EF4-FFF2-40B4-BE49-F238E27FC236}">
                <a16:creationId xmlns:a16="http://schemas.microsoft.com/office/drawing/2014/main" id="{B788C0E1-3721-4B16-288B-844395B999AD}"/>
              </a:ext>
            </a:extLst>
          </p:cNvPr>
          <p:cNvGrpSpPr/>
          <p:nvPr/>
        </p:nvGrpSpPr>
        <p:grpSpPr>
          <a:xfrm>
            <a:off x="8083439" y="5471785"/>
            <a:ext cx="7743680" cy="726774"/>
            <a:chOff x="0" y="0"/>
            <a:chExt cx="2039488" cy="191414"/>
          </a:xfrm>
        </p:grpSpPr>
        <p:sp>
          <p:nvSpPr>
            <p:cNvPr id="70" name="Freeform 6">
              <a:extLst>
                <a:ext uri="{FF2B5EF4-FFF2-40B4-BE49-F238E27FC236}">
                  <a16:creationId xmlns:a16="http://schemas.microsoft.com/office/drawing/2014/main" id="{57613D1D-DCEB-9098-C92B-D7F17BFE4106}"/>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71" name="TextBox 7">
              <a:extLst>
                <a:ext uri="{FF2B5EF4-FFF2-40B4-BE49-F238E27FC236}">
                  <a16:creationId xmlns:a16="http://schemas.microsoft.com/office/drawing/2014/main" id="{A089169E-905B-BFB5-AFCE-5A120B3E1DDC}"/>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72" name="TextBox 18">
            <a:extLst>
              <a:ext uri="{FF2B5EF4-FFF2-40B4-BE49-F238E27FC236}">
                <a16:creationId xmlns:a16="http://schemas.microsoft.com/office/drawing/2014/main" id="{E73B85EC-21D7-9044-DE09-A60AEBBB2FA0}"/>
              </a:ext>
            </a:extLst>
          </p:cNvPr>
          <p:cNvSpPr txBox="1"/>
          <p:nvPr/>
        </p:nvSpPr>
        <p:spPr>
          <a:xfrm>
            <a:off x="8543979" y="5547562"/>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Estado de cuenta</a:t>
            </a:r>
          </a:p>
        </p:txBody>
      </p:sp>
      <p:grpSp>
        <p:nvGrpSpPr>
          <p:cNvPr id="73" name="Group 5">
            <a:extLst>
              <a:ext uri="{FF2B5EF4-FFF2-40B4-BE49-F238E27FC236}">
                <a16:creationId xmlns:a16="http://schemas.microsoft.com/office/drawing/2014/main" id="{D0191028-D565-A215-156B-557735FA1231}"/>
              </a:ext>
            </a:extLst>
          </p:cNvPr>
          <p:cNvGrpSpPr/>
          <p:nvPr/>
        </p:nvGrpSpPr>
        <p:grpSpPr>
          <a:xfrm>
            <a:off x="8083439" y="6556472"/>
            <a:ext cx="7743680" cy="726774"/>
            <a:chOff x="0" y="0"/>
            <a:chExt cx="2039488" cy="191414"/>
          </a:xfrm>
        </p:grpSpPr>
        <p:sp>
          <p:nvSpPr>
            <p:cNvPr id="74" name="Freeform 6">
              <a:extLst>
                <a:ext uri="{FF2B5EF4-FFF2-40B4-BE49-F238E27FC236}">
                  <a16:creationId xmlns:a16="http://schemas.microsoft.com/office/drawing/2014/main" id="{F2B3EEC1-6A2F-4826-6354-6AC6E6EFFB0C}"/>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75" name="TextBox 7">
              <a:extLst>
                <a:ext uri="{FF2B5EF4-FFF2-40B4-BE49-F238E27FC236}">
                  <a16:creationId xmlns:a16="http://schemas.microsoft.com/office/drawing/2014/main" id="{824910CF-0A19-B81F-62A6-3C91AA25499B}"/>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76" name="TextBox 18">
            <a:extLst>
              <a:ext uri="{FF2B5EF4-FFF2-40B4-BE49-F238E27FC236}">
                <a16:creationId xmlns:a16="http://schemas.microsoft.com/office/drawing/2014/main" id="{C68349F8-F91D-4781-53F9-300CA41AA0BD}"/>
              </a:ext>
            </a:extLst>
          </p:cNvPr>
          <p:cNvSpPr txBox="1"/>
          <p:nvPr/>
        </p:nvSpPr>
        <p:spPr>
          <a:xfrm>
            <a:off x="8543979" y="6632249"/>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Motivos de retraso</a:t>
            </a:r>
          </a:p>
        </p:txBody>
      </p:sp>
      <p:grpSp>
        <p:nvGrpSpPr>
          <p:cNvPr id="77" name="Group 5">
            <a:extLst>
              <a:ext uri="{FF2B5EF4-FFF2-40B4-BE49-F238E27FC236}">
                <a16:creationId xmlns:a16="http://schemas.microsoft.com/office/drawing/2014/main" id="{582DA4A0-2BC9-C36F-EA31-55E9AEDC1BCE}"/>
              </a:ext>
            </a:extLst>
          </p:cNvPr>
          <p:cNvGrpSpPr/>
          <p:nvPr/>
        </p:nvGrpSpPr>
        <p:grpSpPr>
          <a:xfrm>
            <a:off x="8083439" y="7577627"/>
            <a:ext cx="7743680" cy="726774"/>
            <a:chOff x="0" y="0"/>
            <a:chExt cx="2039488" cy="191414"/>
          </a:xfrm>
        </p:grpSpPr>
        <p:sp>
          <p:nvSpPr>
            <p:cNvPr id="78" name="Freeform 6">
              <a:extLst>
                <a:ext uri="{FF2B5EF4-FFF2-40B4-BE49-F238E27FC236}">
                  <a16:creationId xmlns:a16="http://schemas.microsoft.com/office/drawing/2014/main" id="{AEF22DBE-DA27-1288-2CE9-AFAAD1AD1695}"/>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79" name="TextBox 7">
              <a:extLst>
                <a:ext uri="{FF2B5EF4-FFF2-40B4-BE49-F238E27FC236}">
                  <a16:creationId xmlns:a16="http://schemas.microsoft.com/office/drawing/2014/main" id="{62B81981-1167-96FE-9535-852A2F956FF3}"/>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80" name="TextBox 18">
            <a:extLst>
              <a:ext uri="{FF2B5EF4-FFF2-40B4-BE49-F238E27FC236}">
                <a16:creationId xmlns:a16="http://schemas.microsoft.com/office/drawing/2014/main" id="{CB747527-A9E0-9C6C-C8C6-B3D3991A925F}"/>
              </a:ext>
            </a:extLst>
          </p:cNvPr>
          <p:cNvSpPr txBox="1"/>
          <p:nvPr/>
        </p:nvSpPr>
        <p:spPr>
          <a:xfrm>
            <a:off x="8543979" y="7653404"/>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Hot </a:t>
            </a:r>
            <a:r>
              <a:rPr lang="es-MX" sz="2932" b="1" noProof="0" dirty="0" err="1">
                <a:solidFill>
                  <a:srgbClr val="FFFFFF"/>
                </a:solidFill>
                <a:latin typeface="Open Sauce Bold"/>
                <a:ea typeface="Open Sauce Bold"/>
                <a:cs typeface="Open Sauce Bold"/>
                <a:sym typeface="Open Sauce Bold"/>
              </a:rPr>
              <a:t>Topics</a:t>
            </a:r>
            <a:endParaRPr lang="es-MX" sz="2932" b="1" noProof="0" dirty="0">
              <a:solidFill>
                <a:srgbClr val="FFFFFF"/>
              </a:solidFill>
              <a:latin typeface="Open Sauce Bold"/>
              <a:ea typeface="Open Sauce Bold"/>
              <a:cs typeface="Open Sauce Bold"/>
              <a:sym typeface="Open Sauce Bold"/>
            </a:endParaRPr>
          </a:p>
        </p:txBody>
      </p:sp>
      <p:grpSp>
        <p:nvGrpSpPr>
          <p:cNvPr id="81" name="Group 5">
            <a:extLst>
              <a:ext uri="{FF2B5EF4-FFF2-40B4-BE49-F238E27FC236}">
                <a16:creationId xmlns:a16="http://schemas.microsoft.com/office/drawing/2014/main" id="{E3598C99-7EE6-C054-8861-19E21E5635B0}"/>
              </a:ext>
            </a:extLst>
          </p:cNvPr>
          <p:cNvGrpSpPr/>
          <p:nvPr/>
        </p:nvGrpSpPr>
        <p:grpSpPr>
          <a:xfrm>
            <a:off x="8083439" y="3281093"/>
            <a:ext cx="7743680" cy="726774"/>
            <a:chOff x="0" y="0"/>
            <a:chExt cx="2039488" cy="191414"/>
          </a:xfrm>
        </p:grpSpPr>
        <p:sp>
          <p:nvSpPr>
            <p:cNvPr id="82" name="Freeform 6">
              <a:extLst>
                <a:ext uri="{FF2B5EF4-FFF2-40B4-BE49-F238E27FC236}">
                  <a16:creationId xmlns:a16="http://schemas.microsoft.com/office/drawing/2014/main" id="{C5EB382F-626C-CC44-73A9-A5160AB6BA03}"/>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83" name="TextBox 7">
              <a:extLst>
                <a:ext uri="{FF2B5EF4-FFF2-40B4-BE49-F238E27FC236}">
                  <a16:creationId xmlns:a16="http://schemas.microsoft.com/office/drawing/2014/main" id="{9275F2A1-A49A-EFA0-4CB3-B2C76559126B}"/>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84" name="TextBox 18">
            <a:extLst>
              <a:ext uri="{FF2B5EF4-FFF2-40B4-BE49-F238E27FC236}">
                <a16:creationId xmlns:a16="http://schemas.microsoft.com/office/drawing/2014/main" id="{3213927F-516C-3672-2C37-B237D3CA0EDF}"/>
              </a:ext>
            </a:extLst>
          </p:cNvPr>
          <p:cNvSpPr txBox="1"/>
          <p:nvPr/>
        </p:nvSpPr>
        <p:spPr>
          <a:xfrm>
            <a:off x="8543979" y="3356870"/>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Operaciones en tiempo</a:t>
            </a:r>
          </a:p>
        </p:txBody>
      </p:sp>
      <p:grpSp>
        <p:nvGrpSpPr>
          <p:cNvPr id="85" name="Group 5">
            <a:extLst>
              <a:ext uri="{FF2B5EF4-FFF2-40B4-BE49-F238E27FC236}">
                <a16:creationId xmlns:a16="http://schemas.microsoft.com/office/drawing/2014/main" id="{4972E456-B895-C3FC-73B3-57A03AAACD80}"/>
              </a:ext>
            </a:extLst>
          </p:cNvPr>
          <p:cNvGrpSpPr/>
          <p:nvPr/>
        </p:nvGrpSpPr>
        <p:grpSpPr>
          <a:xfrm>
            <a:off x="8083439" y="8607919"/>
            <a:ext cx="7743680" cy="726774"/>
            <a:chOff x="0" y="0"/>
            <a:chExt cx="2039488" cy="191414"/>
          </a:xfrm>
        </p:grpSpPr>
        <p:sp>
          <p:nvSpPr>
            <p:cNvPr id="86" name="Freeform 6">
              <a:extLst>
                <a:ext uri="{FF2B5EF4-FFF2-40B4-BE49-F238E27FC236}">
                  <a16:creationId xmlns:a16="http://schemas.microsoft.com/office/drawing/2014/main" id="{D21BBD83-E0F9-816A-8447-9DBD9E7A185F}"/>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87" name="TextBox 7">
              <a:extLst>
                <a:ext uri="{FF2B5EF4-FFF2-40B4-BE49-F238E27FC236}">
                  <a16:creationId xmlns:a16="http://schemas.microsoft.com/office/drawing/2014/main" id="{8B245551-AFFC-FDEF-2EDD-C1AA5D9E63DF}"/>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88" name="TextBox 18">
            <a:extLst>
              <a:ext uri="{FF2B5EF4-FFF2-40B4-BE49-F238E27FC236}">
                <a16:creationId xmlns:a16="http://schemas.microsoft.com/office/drawing/2014/main" id="{F516F953-6B40-D029-A43E-54017214F155}"/>
              </a:ext>
            </a:extLst>
          </p:cNvPr>
          <p:cNvSpPr txBox="1"/>
          <p:nvPr/>
        </p:nvSpPr>
        <p:spPr>
          <a:xfrm>
            <a:off x="8543979" y="8683696"/>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CAPAs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8A5C1-FA75-0FF7-C8A7-5EEF7E11E844}"/>
            </a:ext>
          </a:extLst>
        </p:cNvPr>
        <p:cNvGrpSpPr/>
        <p:nvPr/>
      </p:nvGrpSpPr>
      <p:grpSpPr>
        <a:xfrm>
          <a:off x="0" y="0"/>
          <a:ext cx="0" cy="0"/>
          <a:chOff x="0" y="0"/>
          <a:chExt cx="0" cy="0"/>
        </a:xfrm>
      </p:grpSpPr>
      <p:graphicFrame>
        <p:nvGraphicFramePr>
          <p:cNvPr id="5" name="Gráfico 4">
            <a:extLst>
              <a:ext uri="{FF2B5EF4-FFF2-40B4-BE49-F238E27FC236}">
                <a16:creationId xmlns:a16="http://schemas.microsoft.com/office/drawing/2014/main" id="{33ECF5F7-A34D-70BD-40D8-6465BD48E283}"/>
              </a:ext>
            </a:extLst>
          </p:cNvPr>
          <p:cNvGraphicFramePr>
            <a:graphicFrameLocks/>
          </p:cNvGraphicFramePr>
          <p:nvPr>
            <p:extLst>
              <p:ext uri="{D42A27DB-BD31-4B8C-83A1-F6EECF244321}">
                <p14:modId xmlns:p14="http://schemas.microsoft.com/office/powerpoint/2010/main" val="4215192873"/>
              </p:ext>
            </p:extLst>
          </p:nvPr>
        </p:nvGraphicFramePr>
        <p:xfrm>
          <a:off x="9910472" y="1654751"/>
          <a:ext cx="8509315" cy="3488749"/>
        </p:xfrm>
        <a:graphic>
          <a:graphicData uri="http://schemas.openxmlformats.org/drawingml/2006/chart">
            <c:chart xmlns:c="http://schemas.openxmlformats.org/drawingml/2006/chart" xmlns:r="http://schemas.openxmlformats.org/officeDocument/2006/relationships" r:id="rId2"/>
          </a:graphicData>
        </a:graphic>
      </p:graphicFrame>
      <p:sp>
        <p:nvSpPr>
          <p:cNvPr id="2" name="Freeform 2">
            <a:extLst>
              <a:ext uri="{FF2B5EF4-FFF2-40B4-BE49-F238E27FC236}">
                <a16:creationId xmlns:a16="http://schemas.microsoft.com/office/drawing/2014/main" id="{8CF3A748-4AA8-7264-6045-B01CE1330D99}"/>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r>
              <a:rPr lang="es-MX" noProof="0" dirty="0"/>
              <a:t> </a:t>
            </a:r>
          </a:p>
        </p:txBody>
      </p:sp>
      <p:grpSp>
        <p:nvGrpSpPr>
          <p:cNvPr id="23" name="Group 23">
            <a:extLst>
              <a:ext uri="{FF2B5EF4-FFF2-40B4-BE49-F238E27FC236}">
                <a16:creationId xmlns:a16="http://schemas.microsoft.com/office/drawing/2014/main" id="{8A6DC74B-5419-C0B5-A937-7B7C4290C721}"/>
              </a:ext>
            </a:extLst>
          </p:cNvPr>
          <p:cNvGrpSpPr/>
          <p:nvPr/>
        </p:nvGrpSpPr>
        <p:grpSpPr>
          <a:xfrm>
            <a:off x="1623730" y="9686925"/>
            <a:ext cx="15030952" cy="2314575"/>
            <a:chOff x="0" y="0"/>
            <a:chExt cx="3958769" cy="609600"/>
          </a:xfrm>
        </p:grpSpPr>
        <p:sp>
          <p:nvSpPr>
            <p:cNvPr id="24" name="Freeform 24">
              <a:extLst>
                <a:ext uri="{FF2B5EF4-FFF2-40B4-BE49-F238E27FC236}">
                  <a16:creationId xmlns:a16="http://schemas.microsoft.com/office/drawing/2014/main" id="{84601A52-8C2A-2496-1534-FCDD41F81FBE}"/>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5" name="TextBox 25">
              <a:extLst>
                <a:ext uri="{FF2B5EF4-FFF2-40B4-BE49-F238E27FC236}">
                  <a16:creationId xmlns:a16="http://schemas.microsoft.com/office/drawing/2014/main" id="{E9A11253-45E9-1D03-DA40-024B04E2EA50}"/>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6" name="TextBox 26">
            <a:extLst>
              <a:ext uri="{FF2B5EF4-FFF2-40B4-BE49-F238E27FC236}">
                <a16:creationId xmlns:a16="http://schemas.microsoft.com/office/drawing/2014/main" id="{0B4A9451-4582-D54A-4A8F-D0B34639247E}"/>
              </a:ext>
            </a:extLst>
          </p:cNvPr>
          <p:cNvSpPr txBox="1"/>
          <p:nvPr/>
        </p:nvSpPr>
        <p:spPr>
          <a:xfrm>
            <a:off x="3063601" y="649921"/>
            <a:ext cx="12151210" cy="721672"/>
          </a:xfrm>
          <a:prstGeom prst="rect">
            <a:avLst/>
          </a:prstGeom>
        </p:spPr>
        <p:txBody>
          <a:bodyPr wrap="square" lIns="0" tIns="0" rIns="0" bIns="0" rtlCol="0" anchor="t">
            <a:spAutoFit/>
          </a:bodyPr>
          <a:lstStyle/>
          <a:p>
            <a:pPr algn="ctr">
              <a:lnSpc>
                <a:spcPts val="6400"/>
              </a:lnSpc>
            </a:pPr>
            <a:r>
              <a:rPr lang="es-MX" sz="3600" b="1" noProof="0" dirty="0">
                <a:solidFill>
                  <a:srgbClr val="0F5995"/>
                </a:solidFill>
                <a:latin typeface="Open Sauce" panose="020B0604020202020204" charset="0"/>
                <a:ea typeface="Open Sauce Bold"/>
                <a:cs typeface="Open Sauce Bold"/>
                <a:sym typeface="Open Sauce Bold"/>
              </a:rPr>
              <a:t>Operaciones </a:t>
            </a:r>
            <a:r>
              <a:rPr lang="es-MX" sz="3600" b="1" dirty="0">
                <a:solidFill>
                  <a:srgbClr val="0F5995"/>
                </a:solidFill>
                <a:latin typeface="Open Sauce" panose="020B0604020202020204" charset="0"/>
                <a:ea typeface="Open Sauce Bold"/>
                <a:cs typeface="Open Sauce Bold"/>
                <a:sym typeface="Open Sauce Bold"/>
              </a:rPr>
              <a:t>Enero</a:t>
            </a:r>
            <a:r>
              <a:rPr lang="es-MX" sz="3600" b="1" noProof="0" dirty="0">
                <a:solidFill>
                  <a:srgbClr val="0F5995"/>
                </a:solidFill>
                <a:latin typeface="Open Sauce" panose="020B0604020202020204" charset="0"/>
                <a:ea typeface="Open Sauce Bold"/>
                <a:cs typeface="Open Sauce Bold"/>
                <a:sym typeface="Open Sauce Bold"/>
              </a:rPr>
              <a:t> - </a:t>
            </a:r>
            <a:r>
              <a:rPr lang="es-MX" sz="3600" b="1" dirty="0">
                <a:solidFill>
                  <a:srgbClr val="0F5995"/>
                </a:solidFill>
                <a:latin typeface="Open Sauce" panose="020B0604020202020204" charset="0"/>
                <a:ea typeface="Open Sauce Bold"/>
                <a:cs typeface="Open Sauce Bold"/>
                <a:sym typeface="Open Sauce Bold"/>
              </a:rPr>
              <a:t>Febrero</a:t>
            </a:r>
            <a:endParaRPr lang="es-MX" sz="3600" b="1" noProof="0" dirty="0">
              <a:solidFill>
                <a:srgbClr val="0F5995"/>
              </a:solidFill>
              <a:latin typeface="Open Sauce" panose="020B0604020202020204" charset="0"/>
              <a:ea typeface="Open Sauce Bold"/>
              <a:cs typeface="Open Sauce Bold"/>
              <a:sym typeface="Open Sauce Bold"/>
            </a:endParaRPr>
          </a:p>
        </p:txBody>
      </p:sp>
      <p:sp>
        <p:nvSpPr>
          <p:cNvPr id="31" name="Freeform 31">
            <a:extLst>
              <a:ext uri="{FF2B5EF4-FFF2-40B4-BE49-F238E27FC236}">
                <a16:creationId xmlns:a16="http://schemas.microsoft.com/office/drawing/2014/main" id="{BF2A7A41-8D9D-F8B9-303A-AEB449A68129}"/>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CC48BA80-3AB8-A939-CE60-5EEB7B523836}"/>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sp>
        <p:nvSpPr>
          <p:cNvPr id="21" name="CuadroTexto 20">
            <a:extLst>
              <a:ext uri="{FF2B5EF4-FFF2-40B4-BE49-F238E27FC236}">
                <a16:creationId xmlns:a16="http://schemas.microsoft.com/office/drawing/2014/main" id="{745B546A-B8B3-60C8-6DB4-9B1D1156A564}"/>
              </a:ext>
            </a:extLst>
          </p:cNvPr>
          <p:cNvSpPr txBox="1"/>
          <p:nvPr/>
        </p:nvSpPr>
        <p:spPr>
          <a:xfrm>
            <a:off x="836759" y="1854806"/>
            <a:ext cx="1358907" cy="1015663"/>
          </a:xfrm>
          <a:prstGeom prst="rect">
            <a:avLst/>
          </a:prstGeom>
          <a:noFill/>
        </p:spPr>
        <p:txBody>
          <a:bodyPr wrap="square" rtlCol="0">
            <a:spAutoFit/>
          </a:bodyPr>
          <a:lstStyle/>
          <a:p>
            <a:pPr algn="ctr"/>
            <a:r>
              <a:rPr lang="es-ES" sz="6000" noProof="0" dirty="0">
                <a:solidFill>
                  <a:srgbClr val="002366"/>
                </a:solidFill>
              </a:rPr>
              <a:t>51</a:t>
            </a:r>
            <a:endParaRPr lang="es-MX" sz="6000" noProof="0" dirty="0">
              <a:solidFill>
                <a:srgbClr val="002366"/>
              </a:solidFill>
            </a:endParaRPr>
          </a:p>
        </p:txBody>
      </p:sp>
      <p:sp>
        <p:nvSpPr>
          <p:cNvPr id="22" name="CuadroTexto 21">
            <a:extLst>
              <a:ext uri="{FF2B5EF4-FFF2-40B4-BE49-F238E27FC236}">
                <a16:creationId xmlns:a16="http://schemas.microsoft.com/office/drawing/2014/main" id="{9E5C6D64-169D-5E2E-B33E-E9F68AC41C3A}"/>
              </a:ext>
            </a:extLst>
          </p:cNvPr>
          <p:cNvSpPr txBox="1"/>
          <p:nvPr/>
        </p:nvSpPr>
        <p:spPr>
          <a:xfrm>
            <a:off x="762000" y="1654751"/>
            <a:ext cx="1507787" cy="400110"/>
          </a:xfrm>
          <a:prstGeom prst="rect">
            <a:avLst/>
          </a:prstGeom>
          <a:noFill/>
        </p:spPr>
        <p:txBody>
          <a:bodyPr wrap="square" rtlCol="0">
            <a:spAutoFit/>
          </a:bodyPr>
          <a:lstStyle/>
          <a:p>
            <a:pPr algn="ctr"/>
            <a:r>
              <a:rPr lang="es-MX" sz="2000" noProof="0" dirty="0"/>
              <a:t>TOTAL</a:t>
            </a:r>
          </a:p>
        </p:txBody>
      </p:sp>
      <p:sp>
        <p:nvSpPr>
          <p:cNvPr id="27" name="CuadroTexto 26">
            <a:extLst>
              <a:ext uri="{FF2B5EF4-FFF2-40B4-BE49-F238E27FC236}">
                <a16:creationId xmlns:a16="http://schemas.microsoft.com/office/drawing/2014/main" id="{2D0F49EB-DE96-A1E1-9D51-069999468DCC}"/>
              </a:ext>
            </a:extLst>
          </p:cNvPr>
          <p:cNvSpPr txBox="1"/>
          <p:nvPr/>
        </p:nvSpPr>
        <p:spPr>
          <a:xfrm>
            <a:off x="2928374" y="1852405"/>
            <a:ext cx="963725" cy="1015663"/>
          </a:xfrm>
          <a:prstGeom prst="rect">
            <a:avLst/>
          </a:prstGeom>
          <a:noFill/>
        </p:spPr>
        <p:txBody>
          <a:bodyPr wrap="none" rtlCol="0">
            <a:spAutoFit/>
          </a:bodyPr>
          <a:lstStyle/>
          <a:p>
            <a:pPr algn="ctr"/>
            <a:r>
              <a:rPr lang="es-ES" sz="6000" dirty="0">
                <a:solidFill>
                  <a:srgbClr val="0F4696"/>
                </a:solidFill>
              </a:rPr>
              <a:t>21</a:t>
            </a:r>
            <a:endParaRPr lang="es-MX" sz="6000" noProof="0" dirty="0">
              <a:solidFill>
                <a:srgbClr val="0F4696"/>
              </a:solidFill>
            </a:endParaRPr>
          </a:p>
        </p:txBody>
      </p:sp>
      <p:sp>
        <p:nvSpPr>
          <p:cNvPr id="28" name="CuadroTexto 27">
            <a:extLst>
              <a:ext uri="{FF2B5EF4-FFF2-40B4-BE49-F238E27FC236}">
                <a16:creationId xmlns:a16="http://schemas.microsoft.com/office/drawing/2014/main" id="{190821FB-BE0D-CC64-A84C-52DBE3F56FE2}"/>
              </a:ext>
            </a:extLst>
          </p:cNvPr>
          <p:cNvSpPr txBox="1"/>
          <p:nvPr/>
        </p:nvSpPr>
        <p:spPr>
          <a:xfrm>
            <a:off x="2860887" y="1654751"/>
            <a:ext cx="1101247" cy="400110"/>
          </a:xfrm>
          <a:prstGeom prst="rect">
            <a:avLst/>
          </a:prstGeom>
          <a:noFill/>
        </p:spPr>
        <p:txBody>
          <a:bodyPr wrap="square" rtlCol="0">
            <a:spAutoFit/>
          </a:bodyPr>
          <a:lstStyle/>
          <a:p>
            <a:pPr algn="ctr"/>
            <a:r>
              <a:rPr lang="es-MX" sz="2000" noProof="0" dirty="0"/>
              <a:t>AICM</a:t>
            </a:r>
          </a:p>
        </p:txBody>
      </p:sp>
      <p:sp>
        <p:nvSpPr>
          <p:cNvPr id="29" name="CuadroTexto 28">
            <a:extLst>
              <a:ext uri="{FF2B5EF4-FFF2-40B4-BE49-F238E27FC236}">
                <a16:creationId xmlns:a16="http://schemas.microsoft.com/office/drawing/2014/main" id="{D59380E2-999C-BCF4-6AE7-2C1F3496A7A3}"/>
              </a:ext>
            </a:extLst>
          </p:cNvPr>
          <p:cNvSpPr txBox="1"/>
          <p:nvPr/>
        </p:nvSpPr>
        <p:spPr>
          <a:xfrm>
            <a:off x="6478812" y="1847963"/>
            <a:ext cx="1019095" cy="1015663"/>
          </a:xfrm>
          <a:prstGeom prst="rect">
            <a:avLst/>
          </a:prstGeom>
          <a:noFill/>
        </p:spPr>
        <p:txBody>
          <a:bodyPr wrap="square" rtlCol="0">
            <a:spAutoFit/>
          </a:bodyPr>
          <a:lstStyle/>
          <a:p>
            <a:pPr algn="ctr"/>
            <a:r>
              <a:rPr lang="es-MX" sz="6000" noProof="0" dirty="0">
                <a:solidFill>
                  <a:srgbClr val="3264B4"/>
                </a:solidFill>
              </a:rPr>
              <a:t>1</a:t>
            </a:r>
            <a:r>
              <a:rPr lang="es-MX" sz="6000" dirty="0">
                <a:solidFill>
                  <a:srgbClr val="3264B4"/>
                </a:solidFill>
              </a:rPr>
              <a:t>1</a:t>
            </a:r>
            <a:endParaRPr lang="es-MX" sz="6000" noProof="0" dirty="0">
              <a:solidFill>
                <a:srgbClr val="3264B4"/>
              </a:solidFill>
            </a:endParaRPr>
          </a:p>
        </p:txBody>
      </p:sp>
      <p:sp>
        <p:nvSpPr>
          <p:cNvPr id="30" name="CuadroTexto 29">
            <a:extLst>
              <a:ext uri="{FF2B5EF4-FFF2-40B4-BE49-F238E27FC236}">
                <a16:creationId xmlns:a16="http://schemas.microsoft.com/office/drawing/2014/main" id="{E51DEDBA-FB7D-AF43-FFE8-E099CBEC1098}"/>
              </a:ext>
            </a:extLst>
          </p:cNvPr>
          <p:cNvSpPr txBox="1"/>
          <p:nvPr/>
        </p:nvSpPr>
        <p:spPr>
          <a:xfrm>
            <a:off x="8023058" y="1852236"/>
            <a:ext cx="1089913" cy="1015663"/>
          </a:xfrm>
          <a:prstGeom prst="rect">
            <a:avLst/>
          </a:prstGeom>
          <a:noFill/>
        </p:spPr>
        <p:txBody>
          <a:bodyPr wrap="square" rtlCol="0">
            <a:spAutoFit/>
          </a:bodyPr>
          <a:lstStyle/>
          <a:p>
            <a:pPr algn="ctr"/>
            <a:r>
              <a:rPr lang="es-MX" sz="6000" noProof="0" dirty="0">
                <a:solidFill>
                  <a:srgbClr val="96B4E6"/>
                </a:solidFill>
              </a:rPr>
              <a:t>0</a:t>
            </a:r>
          </a:p>
        </p:txBody>
      </p:sp>
      <p:sp>
        <p:nvSpPr>
          <p:cNvPr id="33" name="CuadroTexto 32">
            <a:extLst>
              <a:ext uri="{FF2B5EF4-FFF2-40B4-BE49-F238E27FC236}">
                <a16:creationId xmlns:a16="http://schemas.microsoft.com/office/drawing/2014/main" id="{3710EEA5-B919-F3CD-9743-2589C5F25CEC}"/>
              </a:ext>
            </a:extLst>
          </p:cNvPr>
          <p:cNvSpPr txBox="1"/>
          <p:nvPr/>
        </p:nvSpPr>
        <p:spPr>
          <a:xfrm>
            <a:off x="4646157" y="1694218"/>
            <a:ext cx="1368827" cy="400110"/>
          </a:xfrm>
          <a:prstGeom prst="rect">
            <a:avLst/>
          </a:prstGeom>
          <a:noFill/>
        </p:spPr>
        <p:txBody>
          <a:bodyPr wrap="square" rtlCol="0">
            <a:spAutoFit/>
          </a:bodyPr>
          <a:lstStyle/>
          <a:p>
            <a:pPr algn="ctr"/>
            <a:r>
              <a:rPr lang="es-MX" sz="2000" noProof="0" dirty="0"/>
              <a:t>VERACRUZ</a:t>
            </a:r>
          </a:p>
        </p:txBody>
      </p:sp>
      <p:sp>
        <p:nvSpPr>
          <p:cNvPr id="46" name="CuadroTexto 45">
            <a:extLst>
              <a:ext uri="{FF2B5EF4-FFF2-40B4-BE49-F238E27FC236}">
                <a16:creationId xmlns:a16="http://schemas.microsoft.com/office/drawing/2014/main" id="{43265327-57FC-55BB-4384-69878DC196AB}"/>
              </a:ext>
            </a:extLst>
          </p:cNvPr>
          <p:cNvSpPr txBox="1"/>
          <p:nvPr/>
        </p:nvSpPr>
        <p:spPr>
          <a:xfrm>
            <a:off x="4572614" y="1852405"/>
            <a:ext cx="1505473" cy="1015663"/>
          </a:xfrm>
          <a:prstGeom prst="rect">
            <a:avLst/>
          </a:prstGeom>
          <a:noFill/>
        </p:spPr>
        <p:txBody>
          <a:bodyPr wrap="square" rtlCol="0">
            <a:spAutoFit/>
          </a:bodyPr>
          <a:lstStyle/>
          <a:p>
            <a:pPr algn="ctr"/>
            <a:r>
              <a:rPr lang="es-ES" sz="6000" dirty="0">
                <a:solidFill>
                  <a:srgbClr val="648CD2"/>
                </a:solidFill>
              </a:rPr>
              <a:t>1</a:t>
            </a:r>
            <a:r>
              <a:rPr lang="es-MX" sz="6000" dirty="0">
                <a:solidFill>
                  <a:srgbClr val="648CD2"/>
                </a:solidFill>
              </a:rPr>
              <a:t>9</a:t>
            </a:r>
            <a:endParaRPr lang="es-MX" sz="6000" noProof="0" dirty="0">
              <a:solidFill>
                <a:srgbClr val="648CD2"/>
              </a:solidFill>
            </a:endParaRPr>
          </a:p>
        </p:txBody>
      </p:sp>
      <p:sp>
        <p:nvSpPr>
          <p:cNvPr id="47" name="CuadroTexto 46">
            <a:extLst>
              <a:ext uri="{FF2B5EF4-FFF2-40B4-BE49-F238E27FC236}">
                <a16:creationId xmlns:a16="http://schemas.microsoft.com/office/drawing/2014/main" id="{05693D07-69A2-977B-1885-376E171E7D63}"/>
              </a:ext>
            </a:extLst>
          </p:cNvPr>
          <p:cNvSpPr txBox="1"/>
          <p:nvPr/>
        </p:nvSpPr>
        <p:spPr>
          <a:xfrm>
            <a:off x="6437737" y="1668660"/>
            <a:ext cx="1101247" cy="400110"/>
          </a:xfrm>
          <a:prstGeom prst="rect">
            <a:avLst/>
          </a:prstGeom>
          <a:noFill/>
        </p:spPr>
        <p:txBody>
          <a:bodyPr wrap="square" rtlCol="0">
            <a:spAutoFit/>
          </a:bodyPr>
          <a:lstStyle/>
          <a:p>
            <a:pPr algn="ctr"/>
            <a:r>
              <a:rPr lang="es-MX" sz="2000" noProof="0" dirty="0"/>
              <a:t>AIFA</a:t>
            </a:r>
          </a:p>
        </p:txBody>
      </p:sp>
      <p:sp>
        <p:nvSpPr>
          <p:cNvPr id="48" name="CuadroTexto 47">
            <a:extLst>
              <a:ext uri="{FF2B5EF4-FFF2-40B4-BE49-F238E27FC236}">
                <a16:creationId xmlns:a16="http://schemas.microsoft.com/office/drawing/2014/main" id="{EC817F05-60C3-9A82-6611-67FD4C76BB08}"/>
              </a:ext>
            </a:extLst>
          </p:cNvPr>
          <p:cNvSpPr txBox="1"/>
          <p:nvPr/>
        </p:nvSpPr>
        <p:spPr>
          <a:xfrm>
            <a:off x="8037937" y="1668660"/>
            <a:ext cx="1101247" cy="400110"/>
          </a:xfrm>
          <a:prstGeom prst="rect">
            <a:avLst/>
          </a:prstGeom>
          <a:noFill/>
        </p:spPr>
        <p:txBody>
          <a:bodyPr wrap="square" rtlCol="0">
            <a:spAutoFit/>
          </a:bodyPr>
          <a:lstStyle/>
          <a:p>
            <a:pPr algn="ctr"/>
            <a:r>
              <a:rPr lang="es-MX" sz="2000" noProof="0" dirty="0"/>
              <a:t>LAREDO</a:t>
            </a:r>
          </a:p>
        </p:txBody>
      </p:sp>
      <p:sp>
        <p:nvSpPr>
          <p:cNvPr id="49" name="CuadroTexto 48">
            <a:extLst>
              <a:ext uri="{FF2B5EF4-FFF2-40B4-BE49-F238E27FC236}">
                <a16:creationId xmlns:a16="http://schemas.microsoft.com/office/drawing/2014/main" id="{3B777C3C-8CCF-D2DB-EE8C-C06F89C89B0C}"/>
              </a:ext>
            </a:extLst>
          </p:cNvPr>
          <p:cNvSpPr txBox="1"/>
          <p:nvPr/>
        </p:nvSpPr>
        <p:spPr>
          <a:xfrm>
            <a:off x="9423803" y="1668659"/>
            <a:ext cx="1696581" cy="400110"/>
          </a:xfrm>
          <a:prstGeom prst="rect">
            <a:avLst/>
          </a:prstGeom>
          <a:noFill/>
        </p:spPr>
        <p:txBody>
          <a:bodyPr wrap="square" rtlCol="0">
            <a:spAutoFit/>
          </a:bodyPr>
          <a:lstStyle/>
          <a:p>
            <a:pPr algn="ctr"/>
            <a:r>
              <a:rPr lang="es-MX" sz="2000" noProof="0" dirty="0"/>
              <a:t>MANZANILLO</a:t>
            </a:r>
          </a:p>
        </p:txBody>
      </p:sp>
      <p:sp>
        <p:nvSpPr>
          <p:cNvPr id="50" name="CuadroTexto 49">
            <a:extLst>
              <a:ext uri="{FF2B5EF4-FFF2-40B4-BE49-F238E27FC236}">
                <a16:creationId xmlns:a16="http://schemas.microsoft.com/office/drawing/2014/main" id="{B37FE333-774D-FE06-4A5A-102DB271A693}"/>
              </a:ext>
            </a:extLst>
          </p:cNvPr>
          <p:cNvSpPr txBox="1"/>
          <p:nvPr/>
        </p:nvSpPr>
        <p:spPr>
          <a:xfrm>
            <a:off x="9401462" y="1852236"/>
            <a:ext cx="1396934" cy="1015663"/>
          </a:xfrm>
          <a:prstGeom prst="rect">
            <a:avLst/>
          </a:prstGeom>
          <a:noFill/>
        </p:spPr>
        <p:txBody>
          <a:bodyPr wrap="square" rtlCol="0">
            <a:spAutoFit/>
          </a:bodyPr>
          <a:lstStyle/>
          <a:p>
            <a:pPr algn="ctr"/>
            <a:r>
              <a:rPr lang="es-ES" sz="6000" dirty="0">
                <a:solidFill>
                  <a:srgbClr val="C8DCF5"/>
                </a:solidFill>
              </a:rPr>
              <a:t>0</a:t>
            </a:r>
            <a:endParaRPr lang="es-MX" sz="6000" noProof="0" dirty="0">
              <a:solidFill>
                <a:srgbClr val="C8DCF5"/>
              </a:solidFill>
            </a:endParaRPr>
          </a:p>
        </p:txBody>
      </p:sp>
      <p:graphicFrame>
        <p:nvGraphicFramePr>
          <p:cNvPr id="4" name="Gráfico 3">
            <a:extLst>
              <a:ext uri="{FF2B5EF4-FFF2-40B4-BE49-F238E27FC236}">
                <a16:creationId xmlns:a16="http://schemas.microsoft.com/office/drawing/2014/main" id="{337F1E46-AFD5-F97B-CDD8-AF3A82BCE136}"/>
              </a:ext>
            </a:extLst>
          </p:cNvPr>
          <p:cNvGraphicFramePr>
            <a:graphicFrameLocks/>
          </p:cNvGraphicFramePr>
          <p:nvPr>
            <p:extLst>
              <p:ext uri="{D42A27DB-BD31-4B8C-83A1-F6EECF244321}">
                <p14:modId xmlns:p14="http://schemas.microsoft.com/office/powerpoint/2010/main" val="725877521"/>
              </p:ext>
            </p:extLst>
          </p:nvPr>
        </p:nvGraphicFramePr>
        <p:xfrm>
          <a:off x="9962165" y="5143500"/>
          <a:ext cx="8325835" cy="449357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 name="Gráfico 2">
            <a:extLst>
              <a:ext uri="{FF2B5EF4-FFF2-40B4-BE49-F238E27FC236}">
                <a16:creationId xmlns:a16="http://schemas.microsoft.com/office/drawing/2014/main" id="{6E49983D-55C4-D5DB-F720-6344940C98D4}"/>
              </a:ext>
            </a:extLst>
          </p:cNvPr>
          <p:cNvGraphicFramePr>
            <a:graphicFrameLocks/>
          </p:cNvGraphicFramePr>
          <p:nvPr>
            <p:extLst>
              <p:ext uri="{D42A27DB-BD31-4B8C-83A1-F6EECF244321}">
                <p14:modId xmlns:p14="http://schemas.microsoft.com/office/powerpoint/2010/main" val="1104261377"/>
              </p:ext>
            </p:extLst>
          </p:nvPr>
        </p:nvGraphicFramePr>
        <p:xfrm>
          <a:off x="168918" y="2920315"/>
          <a:ext cx="10118082" cy="6716764"/>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003621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540D0-945E-9B19-B30D-6417239160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FD6CD2-4639-E847-D4E0-6EAF523E6143}"/>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066F0728-5360-2FA2-F0BA-819D894074DB}"/>
              </a:ext>
            </a:extLst>
          </p:cNvPr>
          <p:cNvSpPr/>
          <p:nvPr/>
        </p:nvSpPr>
        <p:spPr>
          <a:xfrm flipH="1" flipV="1">
            <a:off x="12759687"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solidFill>
                <a:schemeClr val="bg1"/>
              </a:solidFill>
            </a:endParaRPr>
          </a:p>
        </p:txBody>
      </p:sp>
      <p:sp>
        <p:nvSpPr>
          <p:cNvPr id="7" name="Freeform 7">
            <a:extLst>
              <a:ext uri="{FF2B5EF4-FFF2-40B4-BE49-F238E27FC236}">
                <a16:creationId xmlns:a16="http://schemas.microsoft.com/office/drawing/2014/main" id="{EA4EDBED-CC84-E651-1F17-9A33C7EFE594}"/>
              </a:ext>
            </a:extLst>
          </p:cNvPr>
          <p:cNvSpPr/>
          <p:nvPr/>
        </p:nvSpPr>
        <p:spPr>
          <a:xfrm>
            <a:off x="-1407319" y="6326098"/>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53095A73-6154-94B0-C842-FA1861BC9A7B}"/>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C2868E91-DE9F-EAEC-308B-17FDA9626471}"/>
              </a:ext>
            </a:extLst>
          </p:cNvPr>
          <p:cNvSpPr/>
          <p:nvPr/>
        </p:nvSpPr>
        <p:spPr>
          <a:xfrm>
            <a:off x="589519" y="2485706"/>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E52C2B42-5C4B-EC4D-A7F0-BFA5F1844F75}"/>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AC07DA7D-93F0-0DBD-7644-EF1F9313588A}"/>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95EA546E-4ACB-ABB0-9048-4B0E98F50FED}"/>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16" name="TextBox 4">
            <a:extLst>
              <a:ext uri="{FF2B5EF4-FFF2-40B4-BE49-F238E27FC236}">
                <a16:creationId xmlns:a16="http://schemas.microsoft.com/office/drawing/2014/main" id="{B846FAC1-48BB-8B34-ED4D-50408A715DFA}"/>
              </a:ext>
            </a:extLst>
          </p:cNvPr>
          <p:cNvSpPr txBox="1"/>
          <p:nvPr/>
        </p:nvSpPr>
        <p:spPr>
          <a:xfrm>
            <a:off x="4662678" y="842163"/>
            <a:ext cx="8947584" cy="855875"/>
          </a:xfrm>
          <a:prstGeom prst="rect">
            <a:avLst/>
          </a:prstGeom>
        </p:spPr>
        <p:txBody>
          <a:bodyPr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Target de operaciones</a:t>
            </a:r>
          </a:p>
        </p:txBody>
      </p:sp>
      <p:sp>
        <p:nvSpPr>
          <p:cNvPr id="6" name="Rectangle 2">
            <a:extLst>
              <a:ext uri="{FF2B5EF4-FFF2-40B4-BE49-F238E27FC236}">
                <a16:creationId xmlns:a16="http://schemas.microsoft.com/office/drawing/2014/main" id="{AFD30868-8F55-1EA1-5C05-F88453A177C0}"/>
              </a:ext>
            </a:extLst>
          </p:cNvPr>
          <p:cNvSpPr>
            <a:spLocks noChangeArrowheads="1"/>
          </p:cNvSpPr>
          <p:nvPr/>
        </p:nvSpPr>
        <p:spPr bwMode="auto">
          <a:xfrm>
            <a:off x="4513327" y="9165935"/>
            <a:ext cx="1038304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1600" b="1" noProof="0" dirty="0">
                <a:solidFill>
                  <a:schemeClr val="tx2"/>
                </a:solidFill>
                <a:latin typeface="Arial" panose="020B0604020202020204" pitchFamily="34" charset="0"/>
              </a:rPr>
              <a:t>* Los motivos de retrasos son ájenos a la agencia</a:t>
            </a:r>
          </a:p>
        </p:txBody>
      </p:sp>
      <p:graphicFrame>
        <p:nvGraphicFramePr>
          <p:cNvPr id="29" name="Tabla 28">
            <a:extLst>
              <a:ext uri="{FF2B5EF4-FFF2-40B4-BE49-F238E27FC236}">
                <a16:creationId xmlns:a16="http://schemas.microsoft.com/office/drawing/2014/main" id="{60E5AE32-1115-3FF7-48C7-9A3B99650F6D}"/>
              </a:ext>
            </a:extLst>
          </p:cNvPr>
          <p:cNvGraphicFramePr>
            <a:graphicFrameLocks noGrp="1"/>
          </p:cNvGraphicFramePr>
          <p:nvPr>
            <p:extLst>
              <p:ext uri="{D42A27DB-BD31-4B8C-83A1-F6EECF244321}">
                <p14:modId xmlns:p14="http://schemas.microsoft.com/office/powerpoint/2010/main" val="586979827"/>
              </p:ext>
            </p:extLst>
          </p:nvPr>
        </p:nvGraphicFramePr>
        <p:xfrm>
          <a:off x="7335229" y="3049423"/>
          <a:ext cx="3267906" cy="1133300"/>
        </p:xfrm>
        <a:graphic>
          <a:graphicData uri="http://schemas.openxmlformats.org/drawingml/2006/table">
            <a:tbl>
              <a:tblPr firstRow="1" bandRow="1">
                <a:tableStyleId>{5C22544A-7EE6-4342-B048-85BDC9FD1C3A}</a:tableStyleId>
              </a:tblPr>
              <a:tblGrid>
                <a:gridCol w="1089302">
                  <a:extLst>
                    <a:ext uri="{9D8B030D-6E8A-4147-A177-3AD203B41FA5}">
                      <a16:colId xmlns:a16="http://schemas.microsoft.com/office/drawing/2014/main" val="1563215096"/>
                    </a:ext>
                  </a:extLst>
                </a:gridCol>
                <a:gridCol w="1089302">
                  <a:extLst>
                    <a:ext uri="{9D8B030D-6E8A-4147-A177-3AD203B41FA5}">
                      <a16:colId xmlns:a16="http://schemas.microsoft.com/office/drawing/2014/main" val="848966625"/>
                    </a:ext>
                  </a:extLst>
                </a:gridCol>
                <a:gridCol w="1089302">
                  <a:extLst>
                    <a:ext uri="{9D8B030D-6E8A-4147-A177-3AD203B41FA5}">
                      <a16:colId xmlns:a16="http://schemas.microsoft.com/office/drawing/2014/main" val="1154454183"/>
                    </a:ext>
                  </a:extLst>
                </a:gridCol>
              </a:tblGrid>
              <a:tr h="566650">
                <a:tc>
                  <a:txBody>
                    <a:bodyPr/>
                    <a:lstStyle/>
                    <a:p>
                      <a:pPr algn="ctr" fontAlgn="b">
                        <a:buNone/>
                      </a:pPr>
                      <a:r>
                        <a:rPr lang="es-MX" sz="2000" b="1" i="0" u="none" strike="noStrike" noProof="0" dirty="0">
                          <a:solidFill>
                            <a:schemeClr val="bg1"/>
                          </a:solidFill>
                          <a:effectLst/>
                          <a:latin typeface="Aptos Narrow" panose="020B0004020202020204" pitchFamily="34" charset="0"/>
                        </a:rPr>
                        <a:t>Estado</a:t>
                      </a: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E</a:t>
                      </a:r>
                      <a:r>
                        <a:rPr lang="es-MX" sz="2000" b="1" i="0" u="none" strike="noStrike" noProof="0" dirty="0" err="1">
                          <a:solidFill>
                            <a:schemeClr val="bg1"/>
                          </a:solidFill>
                          <a:effectLst/>
                          <a:latin typeface="Aptos Narrow" panose="020B0004020202020204" pitchFamily="34" charset="0"/>
                        </a:rPr>
                        <a:t>ne</a:t>
                      </a:r>
                      <a:endParaRPr lang="es-MX" sz="2000" b="1" i="0" u="none" strike="noStrike" noProof="0" dirty="0">
                        <a:solidFill>
                          <a:schemeClr val="bg1"/>
                        </a:solidFill>
                        <a:effectLst/>
                        <a:latin typeface="Aptos Narrow" panose="020B0004020202020204" pitchFamily="34" charset="0"/>
                      </a:endParaRP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F</a:t>
                      </a:r>
                      <a:r>
                        <a:rPr lang="es-MX" sz="2000" b="1" i="0" u="none" strike="noStrike" noProof="0" dirty="0" err="1">
                          <a:solidFill>
                            <a:schemeClr val="bg1"/>
                          </a:solidFill>
                          <a:effectLst/>
                          <a:latin typeface="Aptos Narrow" panose="020B0004020202020204" pitchFamily="34" charset="0"/>
                        </a:rPr>
                        <a:t>eb</a:t>
                      </a:r>
                      <a:endParaRPr lang="es-MX" sz="2000" b="1" i="0" u="none" strike="noStrike" noProof="0" dirty="0">
                        <a:solidFill>
                          <a:schemeClr val="bg1"/>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3816041850"/>
                  </a:ext>
                </a:extLst>
              </a:tr>
              <a:tr h="566650">
                <a:tc>
                  <a:txBody>
                    <a:bodyPr/>
                    <a:lstStyle/>
                    <a:p>
                      <a:pPr algn="l" fontAlgn="b">
                        <a:buNone/>
                      </a:pPr>
                      <a:r>
                        <a:rPr lang="es-MX" sz="2000" b="0" i="0" u="none" strike="noStrike" noProof="0" dirty="0" err="1">
                          <a:solidFill>
                            <a:srgbClr val="000000"/>
                          </a:solidFill>
                          <a:effectLst/>
                          <a:latin typeface="Aptos Narrow" panose="020B0004020202020204" pitchFamily="34" charset="0"/>
                        </a:rPr>
                        <a:t>On</a:t>
                      </a:r>
                      <a:r>
                        <a:rPr lang="es-MX" sz="2000" b="0" i="0" u="none" strike="noStrike" noProof="0" dirty="0">
                          <a:solidFill>
                            <a:srgbClr val="000000"/>
                          </a:solidFill>
                          <a:effectLst/>
                          <a:latin typeface="Aptos Narrow" panose="020B0004020202020204" pitchFamily="34" charset="0"/>
                        </a:rPr>
                        <a:t> Time</a:t>
                      </a:r>
                    </a:p>
                  </a:txBody>
                  <a:tcPr marL="0" marR="0" marT="0" marB="0" anchor="ctr"/>
                </a:tc>
                <a:tc>
                  <a:txBody>
                    <a:bodyPr/>
                    <a:lstStyle/>
                    <a:p>
                      <a:pPr algn="ctr" fontAlgn="b">
                        <a:buNone/>
                      </a:pPr>
                      <a:r>
                        <a:rPr lang="es-MX" sz="2000" b="1" i="0" u="none" strike="noStrike" noProof="0" dirty="0">
                          <a:solidFill>
                            <a:schemeClr val="bg1"/>
                          </a:solidFill>
                          <a:effectLst/>
                          <a:latin typeface="Aptos Narrow" panose="020B0004020202020204" pitchFamily="34" charset="0"/>
                        </a:rPr>
                        <a:t>100%</a:t>
                      </a:r>
                    </a:p>
                  </a:txBody>
                  <a:tcPr marL="0" marR="0" marT="0" marB="0" anchor="ctr">
                    <a:solidFill>
                      <a:schemeClr val="tx2"/>
                    </a:solidFill>
                  </a:tcPr>
                </a:tc>
                <a:tc>
                  <a:txBody>
                    <a:bodyPr/>
                    <a:lstStyle/>
                    <a:p>
                      <a:pPr algn="ctr" fontAlgn="b">
                        <a:buNone/>
                      </a:pPr>
                      <a:r>
                        <a:rPr lang="es-MX" sz="2000" b="1" i="0" u="none" strike="noStrike" noProof="0" dirty="0">
                          <a:solidFill>
                            <a:schemeClr val="tx1"/>
                          </a:solidFill>
                          <a:effectLst/>
                          <a:latin typeface="Aptos Narrow" panose="020B0004020202020204" pitchFamily="34" charset="0"/>
                        </a:rPr>
                        <a:t>100%</a:t>
                      </a:r>
                    </a:p>
                  </a:txBody>
                  <a:tcPr marL="0" marR="0" marT="0" marB="0" anchor="ctr">
                    <a:solidFill>
                      <a:schemeClr val="tx2">
                        <a:lumMod val="20000"/>
                        <a:lumOff val="80000"/>
                      </a:schemeClr>
                    </a:solidFill>
                  </a:tcPr>
                </a:tc>
                <a:extLst>
                  <a:ext uri="{0D108BD9-81ED-4DB2-BD59-A6C34878D82A}">
                    <a16:rowId xmlns:a16="http://schemas.microsoft.com/office/drawing/2014/main" val="3852259067"/>
                  </a:ext>
                </a:extLst>
              </a:tr>
            </a:tbl>
          </a:graphicData>
        </a:graphic>
      </p:graphicFrame>
      <p:sp>
        <p:nvSpPr>
          <p:cNvPr id="30" name="TextBox 12">
            <a:extLst>
              <a:ext uri="{FF2B5EF4-FFF2-40B4-BE49-F238E27FC236}">
                <a16:creationId xmlns:a16="http://schemas.microsoft.com/office/drawing/2014/main" id="{A29ED4D2-A37A-FDEC-4BB9-58E8EB7D0F2E}"/>
              </a:ext>
            </a:extLst>
          </p:cNvPr>
          <p:cNvSpPr txBox="1"/>
          <p:nvPr/>
        </p:nvSpPr>
        <p:spPr>
          <a:xfrm>
            <a:off x="4908748" y="4550919"/>
            <a:ext cx="7128131" cy="475195"/>
          </a:xfrm>
          <a:prstGeom prst="rect">
            <a:avLst/>
          </a:prstGeom>
        </p:spPr>
        <p:txBody>
          <a:bodyPr wrap="square" lIns="0" tIns="0" rIns="0" bIns="0" rtlCol="0" anchor="t">
            <a:spAutoFit/>
          </a:bodyPr>
          <a:lstStyle/>
          <a:p>
            <a:pPr algn="ctr">
              <a:lnSpc>
                <a:spcPts val="3987"/>
              </a:lnSpc>
            </a:pPr>
            <a:r>
              <a:rPr lang="es-MX" sz="3067" b="1" noProof="0" dirty="0">
                <a:solidFill>
                  <a:srgbClr val="0F5995"/>
                </a:solidFill>
                <a:latin typeface="Open Sauce Bold"/>
                <a:ea typeface="Open Sauce Bold"/>
                <a:cs typeface="Open Sauce Bold"/>
                <a:sym typeface="Open Sauce Bold"/>
              </a:rPr>
              <a:t>% Operaciones ONTIME - aduana</a:t>
            </a:r>
          </a:p>
        </p:txBody>
      </p:sp>
      <p:sp>
        <p:nvSpPr>
          <p:cNvPr id="31" name="TextBox 12">
            <a:extLst>
              <a:ext uri="{FF2B5EF4-FFF2-40B4-BE49-F238E27FC236}">
                <a16:creationId xmlns:a16="http://schemas.microsoft.com/office/drawing/2014/main" id="{3EA7FE16-98A4-65AF-FA20-1ED0E0D9D812}"/>
              </a:ext>
            </a:extLst>
          </p:cNvPr>
          <p:cNvSpPr txBox="1"/>
          <p:nvPr/>
        </p:nvSpPr>
        <p:spPr>
          <a:xfrm>
            <a:off x="4981282" y="2197477"/>
            <a:ext cx="7128131" cy="475195"/>
          </a:xfrm>
          <a:prstGeom prst="rect">
            <a:avLst/>
          </a:prstGeom>
        </p:spPr>
        <p:txBody>
          <a:bodyPr wrap="square" lIns="0" tIns="0" rIns="0" bIns="0" rtlCol="0" anchor="t">
            <a:spAutoFit/>
          </a:bodyPr>
          <a:lstStyle/>
          <a:p>
            <a:pPr algn="ctr">
              <a:lnSpc>
                <a:spcPts val="3987"/>
              </a:lnSpc>
            </a:pPr>
            <a:r>
              <a:rPr lang="es-MX" sz="3067" b="1" noProof="0" dirty="0">
                <a:solidFill>
                  <a:srgbClr val="0F5995"/>
                </a:solidFill>
                <a:latin typeface="Open Sauce Bold"/>
                <a:ea typeface="Open Sauce Bold"/>
                <a:cs typeface="Open Sauce Bold"/>
                <a:sym typeface="Open Sauce Bold"/>
              </a:rPr>
              <a:t>% Operaciones ONTIME - general</a:t>
            </a:r>
          </a:p>
        </p:txBody>
      </p:sp>
      <p:graphicFrame>
        <p:nvGraphicFramePr>
          <p:cNvPr id="32" name="Tabla 31">
            <a:extLst>
              <a:ext uri="{FF2B5EF4-FFF2-40B4-BE49-F238E27FC236}">
                <a16:creationId xmlns:a16="http://schemas.microsoft.com/office/drawing/2014/main" id="{DD5BC37F-A249-8F89-2FDB-9912A33B06F9}"/>
              </a:ext>
            </a:extLst>
          </p:cNvPr>
          <p:cNvGraphicFramePr>
            <a:graphicFrameLocks noGrp="1"/>
          </p:cNvGraphicFramePr>
          <p:nvPr>
            <p:extLst>
              <p:ext uri="{D42A27DB-BD31-4B8C-83A1-F6EECF244321}">
                <p14:modId xmlns:p14="http://schemas.microsoft.com/office/powerpoint/2010/main" val="2808393364"/>
              </p:ext>
            </p:extLst>
          </p:nvPr>
        </p:nvGraphicFramePr>
        <p:xfrm>
          <a:off x="6331991" y="5544267"/>
          <a:ext cx="5274381" cy="3045954"/>
        </p:xfrm>
        <a:graphic>
          <a:graphicData uri="http://schemas.openxmlformats.org/drawingml/2006/table">
            <a:tbl>
              <a:tblPr firstRow="1" bandRow="1">
                <a:tableStyleId>{5C22544A-7EE6-4342-B048-85BDC9FD1C3A}</a:tableStyleId>
              </a:tblPr>
              <a:tblGrid>
                <a:gridCol w="2034037">
                  <a:extLst>
                    <a:ext uri="{9D8B030D-6E8A-4147-A177-3AD203B41FA5}">
                      <a16:colId xmlns:a16="http://schemas.microsoft.com/office/drawing/2014/main" val="3003527931"/>
                    </a:ext>
                  </a:extLst>
                </a:gridCol>
                <a:gridCol w="1606068">
                  <a:extLst>
                    <a:ext uri="{9D8B030D-6E8A-4147-A177-3AD203B41FA5}">
                      <a16:colId xmlns:a16="http://schemas.microsoft.com/office/drawing/2014/main" val="3702585108"/>
                    </a:ext>
                  </a:extLst>
                </a:gridCol>
                <a:gridCol w="1634276">
                  <a:extLst>
                    <a:ext uri="{9D8B030D-6E8A-4147-A177-3AD203B41FA5}">
                      <a16:colId xmlns:a16="http://schemas.microsoft.com/office/drawing/2014/main" val="3958895015"/>
                    </a:ext>
                  </a:extLst>
                </a:gridCol>
              </a:tblGrid>
              <a:tr h="507659">
                <a:tc>
                  <a:txBody>
                    <a:bodyPr/>
                    <a:lstStyle/>
                    <a:p>
                      <a:pPr algn="ctr" fontAlgn="b">
                        <a:buNone/>
                      </a:pPr>
                      <a:r>
                        <a:rPr lang="es-MX" sz="2000" b="1" i="0" u="none" strike="noStrike" noProof="0" dirty="0">
                          <a:solidFill>
                            <a:schemeClr val="bg1"/>
                          </a:solidFill>
                          <a:effectLst/>
                          <a:latin typeface="Aptos Narrow" panose="020B0004020202020204" pitchFamily="34" charset="0"/>
                        </a:rPr>
                        <a:t>Aduana</a:t>
                      </a: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E</a:t>
                      </a:r>
                      <a:r>
                        <a:rPr lang="es-MX" sz="2000" b="1" i="0" u="none" strike="noStrike" noProof="0" dirty="0" err="1">
                          <a:solidFill>
                            <a:schemeClr val="bg1"/>
                          </a:solidFill>
                          <a:effectLst/>
                          <a:latin typeface="Aptos Narrow" panose="020B0004020202020204" pitchFamily="34" charset="0"/>
                        </a:rPr>
                        <a:t>ne</a:t>
                      </a:r>
                      <a:endParaRPr lang="es-MX" sz="2000" b="1" i="0" u="none" strike="noStrike" noProof="0" dirty="0">
                        <a:solidFill>
                          <a:schemeClr val="bg1"/>
                        </a:solidFill>
                        <a:effectLst/>
                        <a:latin typeface="Aptos Narrow" panose="020B0004020202020204" pitchFamily="34" charset="0"/>
                      </a:endParaRP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F</a:t>
                      </a:r>
                      <a:r>
                        <a:rPr lang="es-MX" sz="2000" b="1" i="0" u="none" strike="noStrike" noProof="0" dirty="0" err="1">
                          <a:solidFill>
                            <a:schemeClr val="bg1"/>
                          </a:solidFill>
                          <a:effectLst/>
                          <a:latin typeface="Aptos Narrow" panose="020B0004020202020204" pitchFamily="34" charset="0"/>
                        </a:rPr>
                        <a:t>eb</a:t>
                      </a:r>
                      <a:endParaRPr lang="es-MX" sz="2000" b="1" i="0" u="none" strike="noStrike" noProof="0" dirty="0">
                        <a:solidFill>
                          <a:schemeClr val="bg1"/>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1322997731"/>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AICM</a:t>
                      </a:r>
                    </a:p>
                  </a:txBody>
                  <a:tcPr marL="0" marR="0" marT="0" marB="0" anchor="ct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extLst>
                  <a:ext uri="{0D108BD9-81ED-4DB2-BD59-A6C34878D82A}">
                    <a16:rowId xmlns:a16="http://schemas.microsoft.com/office/drawing/2014/main" val="261337565"/>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AIFA</a:t>
                      </a:r>
                    </a:p>
                  </a:txBody>
                  <a:tcPr marL="0" marR="0" marT="0" marB="0" anchor="ct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100%</a:t>
                      </a:r>
                    </a:p>
                  </a:txBody>
                  <a:tcPr marL="0" marR="0" marT="0" marB="0" anchor="ctr">
                    <a:solidFill>
                      <a:schemeClr val="tx2"/>
                    </a:solidFill>
                  </a:tcPr>
                </a:tc>
                <a:extLst>
                  <a:ext uri="{0D108BD9-81ED-4DB2-BD59-A6C34878D82A}">
                    <a16:rowId xmlns:a16="http://schemas.microsoft.com/office/drawing/2014/main" val="1629009538"/>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LAREDO</a:t>
                      </a:r>
                    </a:p>
                  </a:txBody>
                  <a:tcPr marL="0" marR="0" marT="0" marB="0" anchor="ctr"/>
                </a:tc>
                <a:tc rowSpan="2">
                  <a:txBody>
                    <a:bodyPr/>
                    <a:lstStyle/>
                    <a:p>
                      <a:pPr algn="ctr" fontAlgn="b">
                        <a:buNone/>
                      </a:pPr>
                      <a:r>
                        <a:rPr lang="es-MX" sz="1600" b="0" i="0" u="none" strike="noStrike" noProof="0" dirty="0">
                          <a:solidFill>
                            <a:srgbClr val="000000"/>
                          </a:solidFill>
                          <a:effectLst/>
                          <a:latin typeface="Arial" panose="020B0604020202020204" pitchFamily="34" charset="0"/>
                          <a:cs typeface="Arial" panose="020B0604020202020204" pitchFamily="34" charset="0"/>
                        </a:rPr>
                        <a:t>Sin Operaciones</a:t>
                      </a:r>
                    </a:p>
                  </a:txBody>
                  <a:tcPr marL="0" marR="0" marT="0" marB="0" anchor="ctr">
                    <a:solidFill>
                      <a:schemeClr val="bg1"/>
                    </a:solidFill>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600" b="0" i="0" u="none" strike="noStrike" noProof="0" dirty="0">
                          <a:solidFill>
                            <a:srgbClr val="000000"/>
                          </a:solidFill>
                          <a:effectLst/>
                          <a:latin typeface="Arial" panose="020B0604020202020204" pitchFamily="34" charset="0"/>
                          <a:cs typeface="Arial" panose="020B0604020202020204" pitchFamily="34" charset="0"/>
                        </a:rPr>
                        <a:t>Sin Operaciones</a:t>
                      </a:r>
                      <a:endParaRPr lang="es-MX" sz="1600" b="0" i="0" u="none" strike="noStrike" noProof="0" dirty="0">
                        <a:solidFill>
                          <a:srgbClr val="000000"/>
                        </a:solidFill>
                        <a:effectLst/>
                        <a:latin typeface="Arial" panose="020B0604020202020204" pitchFamily="34" charset="0"/>
                        <a:cs typeface="Arial" panose="020B0604020202020204" pitchFamily="34" charset="0"/>
                      </a:endParaRPr>
                    </a:p>
                  </a:txBody>
                  <a:tcPr marL="0" marR="0" marT="0" marB="0" anchor="ctr">
                    <a:solidFill>
                      <a:schemeClr val="bg1"/>
                    </a:solidFill>
                  </a:tcPr>
                </a:tc>
                <a:extLst>
                  <a:ext uri="{0D108BD9-81ED-4DB2-BD59-A6C34878D82A}">
                    <a16:rowId xmlns:a16="http://schemas.microsoft.com/office/drawing/2014/main" val="4287651005"/>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MANZANILLO</a:t>
                      </a:r>
                    </a:p>
                  </a:txBody>
                  <a:tcPr marL="0" marR="0" marT="0" marB="0" anchor="ctr"/>
                </a:tc>
                <a:tc vMerge="1">
                  <a:txBody>
                    <a:bodyPr/>
                    <a:lstStyle/>
                    <a:p>
                      <a:endParaRPr dirty="0"/>
                    </a:p>
                  </a:txBody>
                  <a:tcPr marL="0" marR="0" marT="0" marB="0" anchor="ctr">
                    <a:solidFill>
                      <a:schemeClr val="tx2"/>
                    </a:solidFill>
                  </a:tcP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s-MX" sz="1800" b="0" i="0" u="none" strike="noStrike" noProof="0" dirty="0">
                        <a:solidFill>
                          <a:schemeClr val="bg1"/>
                        </a:solidFill>
                        <a:effectLst/>
                        <a:latin typeface="Arial" panose="020B0604020202020204" pitchFamily="34" charset="0"/>
                        <a:cs typeface="Arial" panose="020B0604020202020204" pitchFamily="34" charset="0"/>
                      </a:endParaRPr>
                    </a:p>
                  </a:txBody>
                  <a:tcPr marL="0" marR="0" marT="0" marB="0" anchor="ctr">
                    <a:solidFill>
                      <a:schemeClr val="tx2"/>
                    </a:solidFill>
                  </a:tcPr>
                </a:tc>
                <a:extLst>
                  <a:ext uri="{0D108BD9-81ED-4DB2-BD59-A6C34878D82A}">
                    <a16:rowId xmlns:a16="http://schemas.microsoft.com/office/drawing/2014/main" val="2022701914"/>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VERACRUZ</a:t>
                      </a:r>
                    </a:p>
                  </a:txBody>
                  <a:tcPr marL="0" marR="0" marT="0" marB="0" anchor="ct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lumMod val="60000"/>
                        <a:lumOff val="40000"/>
                      </a:schemeClr>
                    </a:solidFill>
                  </a:tcPr>
                </a:tc>
                <a:extLst>
                  <a:ext uri="{0D108BD9-81ED-4DB2-BD59-A6C34878D82A}">
                    <a16:rowId xmlns:a16="http://schemas.microsoft.com/office/drawing/2014/main" val="1523476112"/>
                  </a:ext>
                </a:extLst>
              </a:tr>
            </a:tbl>
          </a:graphicData>
        </a:graphic>
      </p:graphicFrame>
    </p:spTree>
    <p:extLst>
      <p:ext uri="{BB962C8B-B14F-4D97-AF65-F5344CB8AC3E}">
        <p14:creationId xmlns:p14="http://schemas.microsoft.com/office/powerpoint/2010/main" val="4249576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97E7A-5D2B-56EF-D6B3-BD0769AF1C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E5C41DA-34A0-C8F8-A6FF-A32F96992FFE}"/>
              </a:ext>
            </a:extLst>
          </p:cNvPr>
          <p:cNvSpPr/>
          <p:nvPr/>
        </p:nvSpPr>
        <p:spPr>
          <a:xfrm flipV="1">
            <a:off x="-971364" y="1"/>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pPr defTabSz="914445"/>
            <a:endParaRPr lang="es-MX" noProof="0" dirty="0">
              <a:solidFill>
                <a:prstClr val="black"/>
              </a:solidFill>
              <a:latin typeface="Calibri"/>
            </a:endParaRPr>
          </a:p>
        </p:txBody>
      </p:sp>
      <p:sp>
        <p:nvSpPr>
          <p:cNvPr id="3" name="Freeform 3">
            <a:extLst>
              <a:ext uri="{FF2B5EF4-FFF2-40B4-BE49-F238E27FC236}">
                <a16:creationId xmlns:a16="http://schemas.microsoft.com/office/drawing/2014/main" id="{D00E9CE9-09ED-FE1F-B5CD-19771F0A5944}"/>
              </a:ext>
            </a:extLst>
          </p:cNvPr>
          <p:cNvSpPr/>
          <p:nvPr/>
        </p:nvSpPr>
        <p:spPr>
          <a:xfrm flipH="1" flipV="1">
            <a:off x="12759688" y="1"/>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pPr defTabSz="914445"/>
            <a:endParaRPr lang="es-MX" noProof="0" dirty="0">
              <a:solidFill>
                <a:prstClr val="black"/>
              </a:solidFill>
              <a:latin typeface="Calibri"/>
            </a:endParaRPr>
          </a:p>
        </p:txBody>
      </p:sp>
      <p:sp>
        <p:nvSpPr>
          <p:cNvPr id="4" name="TextBox 4">
            <a:extLst>
              <a:ext uri="{FF2B5EF4-FFF2-40B4-BE49-F238E27FC236}">
                <a16:creationId xmlns:a16="http://schemas.microsoft.com/office/drawing/2014/main" id="{210293D2-E596-E851-9634-5361DBB386B5}"/>
              </a:ext>
            </a:extLst>
          </p:cNvPr>
          <p:cNvSpPr txBox="1"/>
          <p:nvPr/>
        </p:nvSpPr>
        <p:spPr>
          <a:xfrm>
            <a:off x="4670208" y="812306"/>
            <a:ext cx="8947584" cy="855940"/>
          </a:xfrm>
          <a:prstGeom prst="rect">
            <a:avLst/>
          </a:prstGeom>
        </p:spPr>
        <p:txBody>
          <a:bodyPr lIns="0" tIns="0" rIns="0" bIns="0" rtlCol="0" anchor="t">
            <a:spAutoFit/>
          </a:bodyPr>
          <a:lstStyle/>
          <a:p>
            <a:pPr algn="ctr" defTabSz="914445">
              <a:lnSpc>
                <a:spcPts val="7206"/>
              </a:lnSpc>
            </a:pPr>
            <a:r>
              <a:rPr lang="es-MX" sz="5544" b="1" noProof="0" dirty="0">
                <a:solidFill>
                  <a:srgbClr val="0F5995"/>
                </a:solidFill>
                <a:latin typeface="Open Sauce Bold"/>
                <a:ea typeface="Open Sauce Bold"/>
                <a:cs typeface="Open Sauce Bold"/>
                <a:sym typeface="Open Sauce Bold"/>
              </a:rPr>
              <a:t>Target por Franquicia</a:t>
            </a:r>
          </a:p>
        </p:txBody>
      </p:sp>
      <p:sp>
        <p:nvSpPr>
          <p:cNvPr id="7" name="Freeform 7">
            <a:extLst>
              <a:ext uri="{FF2B5EF4-FFF2-40B4-BE49-F238E27FC236}">
                <a16:creationId xmlns:a16="http://schemas.microsoft.com/office/drawing/2014/main" id="{A0DAAEEF-15D2-01B8-A429-8A04D48F8E93}"/>
              </a:ext>
            </a:extLst>
          </p:cNvPr>
          <p:cNvSpPr/>
          <p:nvPr/>
        </p:nvSpPr>
        <p:spPr>
          <a:xfrm>
            <a:off x="-1296525" y="6302642"/>
            <a:ext cx="20881052" cy="5455175"/>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pPr defTabSz="914445"/>
            <a:endParaRPr lang="es-MX" noProof="0" dirty="0">
              <a:solidFill>
                <a:prstClr val="black"/>
              </a:solidFill>
              <a:latin typeface="Calibri"/>
            </a:endParaRPr>
          </a:p>
        </p:txBody>
      </p:sp>
      <p:sp>
        <p:nvSpPr>
          <p:cNvPr id="12" name="TextBox 12">
            <a:extLst>
              <a:ext uri="{FF2B5EF4-FFF2-40B4-BE49-F238E27FC236}">
                <a16:creationId xmlns:a16="http://schemas.microsoft.com/office/drawing/2014/main" id="{D01C9EF9-F74A-1FE6-6D9A-6DD5307F1A2A}"/>
              </a:ext>
            </a:extLst>
          </p:cNvPr>
          <p:cNvSpPr txBox="1"/>
          <p:nvPr/>
        </p:nvSpPr>
        <p:spPr>
          <a:xfrm>
            <a:off x="2852706" y="2172473"/>
            <a:ext cx="12573000" cy="475195"/>
          </a:xfrm>
          <a:prstGeom prst="rect">
            <a:avLst/>
          </a:prstGeom>
        </p:spPr>
        <p:txBody>
          <a:bodyPr wrap="square" lIns="0" tIns="0" rIns="0" bIns="0" rtlCol="0" anchor="t">
            <a:spAutoFit/>
          </a:bodyPr>
          <a:lstStyle/>
          <a:p>
            <a:pPr algn="ctr" defTabSz="914445">
              <a:lnSpc>
                <a:spcPts val="3987"/>
              </a:lnSpc>
            </a:pPr>
            <a:r>
              <a:rPr lang="es-MX" sz="3068" b="1" noProof="0" dirty="0">
                <a:solidFill>
                  <a:srgbClr val="0F5995"/>
                </a:solidFill>
                <a:latin typeface="Open Sauce Bold"/>
                <a:ea typeface="Open Sauce Bold"/>
                <a:cs typeface="Open Sauce Bold"/>
                <a:sym typeface="Open Sauce Bold"/>
              </a:rPr>
              <a:t>Operaciones DELAYED por tipo de Mercancía</a:t>
            </a:r>
          </a:p>
        </p:txBody>
      </p:sp>
      <p:sp>
        <p:nvSpPr>
          <p:cNvPr id="14" name="Freeform 14">
            <a:extLst>
              <a:ext uri="{FF2B5EF4-FFF2-40B4-BE49-F238E27FC236}">
                <a16:creationId xmlns:a16="http://schemas.microsoft.com/office/drawing/2014/main" id="{D949F626-7C54-C15E-6178-AC6E8F442CD4}"/>
              </a:ext>
            </a:extLst>
          </p:cNvPr>
          <p:cNvSpPr/>
          <p:nvPr/>
        </p:nvSpPr>
        <p:spPr>
          <a:xfrm>
            <a:off x="16523117" y="8591048"/>
            <a:ext cx="878363" cy="878363"/>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914445"/>
            <a:endParaRPr lang="es-MX" noProof="0" dirty="0">
              <a:solidFill>
                <a:prstClr val="black"/>
              </a:solidFill>
              <a:latin typeface="Calibri"/>
            </a:endParaRPr>
          </a:p>
        </p:txBody>
      </p:sp>
      <p:sp>
        <p:nvSpPr>
          <p:cNvPr id="15" name="Freeform 15">
            <a:extLst>
              <a:ext uri="{FF2B5EF4-FFF2-40B4-BE49-F238E27FC236}">
                <a16:creationId xmlns:a16="http://schemas.microsoft.com/office/drawing/2014/main" id="{3CA8A10A-168E-E72B-DF19-4F93C407E2F2}"/>
              </a:ext>
            </a:extLst>
          </p:cNvPr>
          <p:cNvSpPr/>
          <p:nvPr/>
        </p:nvSpPr>
        <p:spPr>
          <a:xfrm>
            <a:off x="589520" y="2485706"/>
            <a:ext cx="878363" cy="878363"/>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914445"/>
            <a:endParaRPr lang="es-MX" noProof="0" dirty="0">
              <a:solidFill>
                <a:prstClr val="black"/>
              </a:solidFill>
              <a:latin typeface="Calibri"/>
            </a:endParaRPr>
          </a:p>
        </p:txBody>
      </p:sp>
      <p:grpSp>
        <p:nvGrpSpPr>
          <p:cNvPr id="24" name="Group 23">
            <a:extLst>
              <a:ext uri="{FF2B5EF4-FFF2-40B4-BE49-F238E27FC236}">
                <a16:creationId xmlns:a16="http://schemas.microsoft.com/office/drawing/2014/main" id="{5C4BC02C-03D5-A522-8A83-D1FC2CAB91FA}"/>
              </a:ext>
            </a:extLst>
          </p:cNvPr>
          <p:cNvGrpSpPr/>
          <p:nvPr/>
        </p:nvGrpSpPr>
        <p:grpSpPr>
          <a:xfrm>
            <a:off x="1623731" y="9686925"/>
            <a:ext cx="15030953" cy="2314575"/>
            <a:chOff x="0" y="0"/>
            <a:chExt cx="3958769" cy="609600"/>
          </a:xfrm>
        </p:grpSpPr>
        <p:sp>
          <p:nvSpPr>
            <p:cNvPr id="25" name="Freeform 24">
              <a:extLst>
                <a:ext uri="{FF2B5EF4-FFF2-40B4-BE49-F238E27FC236}">
                  <a16:creationId xmlns:a16="http://schemas.microsoft.com/office/drawing/2014/main" id="{5EDBBB8D-CB99-F10D-B802-3F7CEF284D18}"/>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pPr defTabSz="914445"/>
              <a:endParaRPr lang="es-MX" noProof="0" dirty="0">
                <a:solidFill>
                  <a:prstClr val="black"/>
                </a:solidFill>
                <a:latin typeface="Calibri"/>
              </a:endParaRPr>
            </a:p>
          </p:txBody>
        </p:sp>
        <p:sp>
          <p:nvSpPr>
            <p:cNvPr id="26" name="TextBox 25">
              <a:extLst>
                <a:ext uri="{FF2B5EF4-FFF2-40B4-BE49-F238E27FC236}">
                  <a16:creationId xmlns:a16="http://schemas.microsoft.com/office/drawing/2014/main" id="{7C198AF5-EAD2-8FAC-5F4A-C71E2C626AD6}"/>
                </a:ext>
              </a:extLst>
            </p:cNvPr>
            <p:cNvSpPr txBox="1"/>
            <p:nvPr/>
          </p:nvSpPr>
          <p:spPr>
            <a:xfrm>
              <a:off x="127000" y="-38100"/>
              <a:ext cx="3704769" cy="647700"/>
            </a:xfrm>
            <a:prstGeom prst="rect">
              <a:avLst/>
            </a:prstGeom>
          </p:spPr>
          <p:txBody>
            <a:bodyPr lIns="50801" tIns="50801" rIns="50801" bIns="50801" rtlCol="0" anchor="ctr"/>
            <a:lstStyle/>
            <a:p>
              <a:pPr algn="ctr" defTabSz="914445">
                <a:lnSpc>
                  <a:spcPts val="2660"/>
                </a:lnSpc>
              </a:pPr>
              <a:endParaRPr lang="es-MX" noProof="0" dirty="0">
                <a:solidFill>
                  <a:prstClr val="black"/>
                </a:solidFill>
                <a:latin typeface="Calibri"/>
              </a:endParaRPr>
            </a:p>
          </p:txBody>
        </p:sp>
      </p:grpSp>
      <p:graphicFrame>
        <p:nvGraphicFramePr>
          <p:cNvPr id="8" name="Tabla 7">
            <a:extLst>
              <a:ext uri="{FF2B5EF4-FFF2-40B4-BE49-F238E27FC236}">
                <a16:creationId xmlns:a16="http://schemas.microsoft.com/office/drawing/2014/main" id="{2FABF070-D0F3-23A8-95FF-6996743B16D0}"/>
              </a:ext>
            </a:extLst>
          </p:cNvPr>
          <p:cNvGraphicFramePr>
            <a:graphicFrameLocks noGrp="1"/>
          </p:cNvGraphicFramePr>
          <p:nvPr>
            <p:extLst>
              <p:ext uri="{D42A27DB-BD31-4B8C-83A1-F6EECF244321}">
                <p14:modId xmlns:p14="http://schemas.microsoft.com/office/powerpoint/2010/main" val="423599331"/>
              </p:ext>
            </p:extLst>
          </p:nvPr>
        </p:nvGraphicFramePr>
        <p:xfrm>
          <a:off x="2218109" y="4383712"/>
          <a:ext cx="5400000" cy="50292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070557458"/>
                    </a:ext>
                  </a:extLst>
                </a:gridCol>
                <a:gridCol w="1800000">
                  <a:extLst>
                    <a:ext uri="{9D8B030D-6E8A-4147-A177-3AD203B41FA5}">
                      <a16:colId xmlns:a16="http://schemas.microsoft.com/office/drawing/2014/main" val="3167215385"/>
                    </a:ext>
                  </a:extLst>
                </a:gridCol>
                <a:gridCol w="1800000">
                  <a:extLst>
                    <a:ext uri="{9D8B030D-6E8A-4147-A177-3AD203B41FA5}">
                      <a16:colId xmlns:a16="http://schemas.microsoft.com/office/drawing/2014/main" val="1555968617"/>
                    </a:ext>
                  </a:extLst>
                </a:gridCol>
              </a:tblGrid>
              <a:tr h="457200">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FRANQUICIA</a:t>
                      </a:r>
                    </a:p>
                  </a:txBody>
                  <a:tcPr marL="0" marR="0" marT="0" marB="0" anchor="ct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MERCANCÍA</a:t>
                      </a:r>
                    </a:p>
                  </a:txBody>
                  <a:tcPr anchor="ct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CANTIDAD</a:t>
                      </a:r>
                    </a:p>
                  </a:txBody>
                  <a:tcPr anchor="ctr"/>
                </a:tc>
                <a:extLst>
                  <a:ext uri="{0D108BD9-81ED-4DB2-BD59-A6C34878D82A}">
                    <a16:rowId xmlns:a16="http://schemas.microsoft.com/office/drawing/2014/main" val="2503408164"/>
                  </a:ext>
                </a:extLst>
              </a:tr>
              <a:tr h="457200">
                <a:tc gridSpan="3">
                  <a:txBody>
                    <a:bodyPr/>
                    <a:lstStyle/>
                    <a:p>
                      <a:pPr algn="ctr" fontAlgn="b">
                        <a:buNone/>
                      </a:pPr>
                      <a:r>
                        <a:rPr lang="es-ES" sz="2400" b="0" i="0" u="none" strike="noStrike" noProof="0" dirty="0">
                          <a:solidFill>
                            <a:srgbClr val="000000"/>
                          </a:solidFill>
                          <a:effectLst/>
                          <a:latin typeface="Aptos Narrow" panose="020B0004020202020204" pitchFamily="34" charset="0"/>
                        </a:rPr>
                        <a:t>ENERO</a:t>
                      </a:r>
                      <a:endParaRPr lang="es-MX" sz="2400" b="0" i="0" u="none" strike="noStrike" noProof="0" dirty="0">
                        <a:solidFill>
                          <a:srgbClr val="000000"/>
                        </a:solidFill>
                        <a:effectLst/>
                        <a:latin typeface="Aptos Narrow" panose="020B0004020202020204" pitchFamily="34" charset="0"/>
                      </a:endParaRPr>
                    </a:p>
                  </a:txBody>
                  <a:tcPr marL="0" marR="0" marT="0" marB="0" anchor="ctr"/>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05596536"/>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CHC</a:t>
                      </a:r>
                    </a:p>
                  </a:txBody>
                  <a:tcPr marL="0" marR="0" marT="0" marB="0" anchor="ctr"/>
                </a:tc>
                <a:tc>
                  <a:txBody>
                    <a:bodyPr/>
                    <a:lstStyle/>
                    <a:p>
                      <a:pPr algn="ctr" fontAlgn="b">
                        <a:buNone/>
                      </a:pPr>
                      <a:r>
                        <a:rPr lang="es-MX" sz="2400" b="1" i="0" u="none" strike="noStrike" noProof="0" dirty="0">
                          <a:solidFill>
                            <a:srgbClr val="000000"/>
                          </a:solidFill>
                          <a:effectLst/>
                          <a:latin typeface="Aptos Narrow" panose="020B0004020202020204" pitchFamily="34" charset="0"/>
                        </a:rPr>
                        <a:t>SINUBERASE</a:t>
                      </a:r>
                    </a:p>
                  </a:txBody>
                  <a:tcPr marL="0" marR="0" marT="0" marB="0" anchor="b"/>
                </a:tc>
                <a:tc>
                  <a:txBody>
                    <a:bodyPr/>
                    <a:lstStyle/>
                    <a:p>
                      <a:pPr algn="ctr" fontAlgn="b">
                        <a:buNone/>
                      </a:pPr>
                      <a:r>
                        <a:rPr lang="es-MX" sz="2400" b="1" i="0" u="none" strike="noStrike" noProof="0" dirty="0">
                          <a:solidFill>
                            <a:srgbClr val="000000"/>
                          </a:solidFill>
                          <a:effectLst/>
                          <a:latin typeface="Aptos Narrow" panose="020B0004020202020204" pitchFamily="34" charset="0"/>
                        </a:rPr>
                        <a:t>2</a:t>
                      </a:r>
                    </a:p>
                  </a:txBody>
                  <a:tcPr marL="0" marR="0" marT="0" marB="0" anchor="b"/>
                </a:tc>
                <a:extLst>
                  <a:ext uri="{0D108BD9-81ED-4DB2-BD59-A6C34878D82A}">
                    <a16:rowId xmlns:a16="http://schemas.microsoft.com/office/drawing/2014/main" val="3374833321"/>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GENMED</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LASIX</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88636040"/>
                  </a:ext>
                </a:extLst>
              </a:tr>
              <a:tr h="457200">
                <a:tc gridSpan="3">
                  <a:txBody>
                    <a:bodyPr/>
                    <a:lstStyle/>
                    <a:p>
                      <a:pPr algn="ctr" fontAlgn="b">
                        <a:buNone/>
                      </a:pPr>
                      <a:r>
                        <a:rPr lang="es-ES" sz="2400" b="0" i="0" u="none" strike="noStrike" noProof="0" dirty="0">
                          <a:solidFill>
                            <a:srgbClr val="000000"/>
                          </a:solidFill>
                          <a:effectLst/>
                          <a:latin typeface="Aptos Narrow" panose="020B0004020202020204" pitchFamily="34" charset="0"/>
                        </a:rPr>
                        <a:t>FEBRERO</a:t>
                      </a:r>
                      <a:endParaRPr lang="es-MX" sz="2400" b="0" i="0" u="none" strike="noStrike" noProof="0" dirty="0">
                        <a:solidFill>
                          <a:srgbClr val="000000"/>
                        </a:solidFill>
                        <a:effectLst/>
                        <a:latin typeface="Aptos Narrow" panose="020B0004020202020204" pitchFamily="34" charset="0"/>
                      </a:endParaRPr>
                    </a:p>
                  </a:txBody>
                  <a:tcPr marL="0" marR="0" marT="0" marB="0" anchor="ctr"/>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692629432"/>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GENMED</a:t>
                      </a:r>
                    </a:p>
                  </a:txBody>
                  <a:tcPr marL="0" marR="0" marT="0" marB="0" anchor="ctr"/>
                </a:tc>
                <a:tc>
                  <a:txBody>
                    <a:bodyPr/>
                    <a:lstStyle/>
                    <a:p>
                      <a:pPr algn="ctr" fontAlgn="b">
                        <a:buNone/>
                      </a:pPr>
                      <a:r>
                        <a:rPr lang="es-MX" sz="2400" b="1" i="0" u="none" strike="noStrike" noProof="0" dirty="0">
                          <a:solidFill>
                            <a:srgbClr val="000000"/>
                          </a:solidFill>
                          <a:effectLst/>
                          <a:latin typeface="Aptos Narrow" panose="020B0004020202020204" pitchFamily="34" charset="0"/>
                        </a:rPr>
                        <a:t>SOLIQUA</a:t>
                      </a: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29715678"/>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GENMED</a:t>
                      </a: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R</a:t>
                      </a:r>
                      <a:r>
                        <a:rPr lang="es-MX" sz="2400" b="1" i="0" u="none" strike="noStrike" noProof="0" dirty="0">
                          <a:solidFill>
                            <a:srgbClr val="000000"/>
                          </a:solidFill>
                          <a:effectLst/>
                          <a:latin typeface="Aptos Narrow" panose="020B0004020202020204" pitchFamily="34" charset="0"/>
                        </a:rPr>
                        <a:t>EGIVAS</a:t>
                      </a:r>
                    </a:p>
                  </a:txBody>
                  <a:tcPr marL="0" marR="0" marT="0" marB="0" anchor="b"/>
                </a:tc>
                <a:tc>
                  <a:txBody>
                    <a:bodyPr/>
                    <a:lstStyle/>
                    <a:p>
                      <a:pPr algn="ctr" fontAlgn="b">
                        <a:buNone/>
                      </a:pPr>
                      <a:r>
                        <a:rPr lang="es-MX" sz="2400" b="1" i="0" u="none" strike="noStrike" noProof="0" dirty="0">
                          <a:solidFill>
                            <a:srgbClr val="000000"/>
                          </a:solidFill>
                          <a:effectLst/>
                          <a:latin typeface="Aptos Narrow" panose="020B0004020202020204" pitchFamily="34" charset="0"/>
                        </a:rPr>
                        <a:t>1</a:t>
                      </a:r>
                    </a:p>
                  </a:txBody>
                  <a:tcPr marL="0" marR="0" marT="0" marB="0" anchor="b"/>
                </a:tc>
                <a:extLst>
                  <a:ext uri="{0D108BD9-81ED-4DB2-BD59-A6C34878D82A}">
                    <a16:rowId xmlns:a16="http://schemas.microsoft.com/office/drawing/2014/main" val="1304147283"/>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HUÉRFANOS</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SARCLISA</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730375718"/>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GENMED</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LANTUS</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2</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15168372"/>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BIOLÓGICOS</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HEXACIMA</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2</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58995976"/>
                  </a:ext>
                </a:extLst>
              </a:tr>
              <a:tr h="457200">
                <a:tc gridSpan="2">
                  <a:txBody>
                    <a:bodyPr/>
                    <a:lstStyle/>
                    <a:p>
                      <a:pPr algn="r" fontAlgn="b">
                        <a:buNone/>
                      </a:pPr>
                      <a:r>
                        <a:rPr lang="es-MX" sz="2400" b="1" i="0" u="none" strike="noStrike" noProof="0" dirty="0">
                          <a:solidFill>
                            <a:srgbClr val="000000"/>
                          </a:solidFill>
                          <a:effectLst/>
                          <a:latin typeface="Aptos Narrow" panose="020B0004020202020204" pitchFamily="34" charset="0"/>
                        </a:rPr>
                        <a:t>TOTAL</a:t>
                      </a:r>
                    </a:p>
                  </a:txBody>
                  <a:tcPr marL="0" marR="0" marT="0" marB="0" anchor="b"/>
                </a:tc>
                <a:tc hMerge="1">
                  <a:txBody>
                    <a:bodyPr/>
                    <a:lstStyle/>
                    <a:p>
                      <a:pPr algn="ctr" fontAlgn="b">
                        <a:buNone/>
                      </a:pPr>
                      <a:endParaRPr lang="es-MX" sz="2400" b="1"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10</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80220209"/>
                  </a:ext>
                </a:extLst>
              </a:tr>
            </a:tbl>
          </a:graphicData>
        </a:graphic>
      </p:graphicFrame>
      <p:sp>
        <p:nvSpPr>
          <p:cNvPr id="5" name="TextBox 12">
            <a:extLst>
              <a:ext uri="{FF2B5EF4-FFF2-40B4-BE49-F238E27FC236}">
                <a16:creationId xmlns:a16="http://schemas.microsoft.com/office/drawing/2014/main" id="{B9563292-BCA6-5B5D-9BCF-F252BDBCCD88}"/>
              </a:ext>
            </a:extLst>
          </p:cNvPr>
          <p:cNvSpPr txBox="1"/>
          <p:nvPr/>
        </p:nvSpPr>
        <p:spPr>
          <a:xfrm>
            <a:off x="3528158" y="3399828"/>
            <a:ext cx="2799080" cy="475195"/>
          </a:xfrm>
          <a:prstGeom prst="rect">
            <a:avLst/>
          </a:prstGeom>
        </p:spPr>
        <p:txBody>
          <a:bodyPr wrap="square" lIns="0" tIns="0" rIns="0" bIns="0" rtlCol="0" anchor="t">
            <a:spAutoFit/>
          </a:bodyPr>
          <a:lstStyle/>
          <a:p>
            <a:pPr algn="ctr" defTabSz="914445">
              <a:lnSpc>
                <a:spcPts val="3987"/>
              </a:lnSpc>
            </a:pPr>
            <a:r>
              <a:rPr lang="es-MX" sz="3200" b="1" noProof="0" dirty="0">
                <a:solidFill>
                  <a:srgbClr val="0F5995"/>
                </a:solidFill>
                <a:latin typeface="Arial" panose="020B0604020202020204" pitchFamily="34" charset="0"/>
                <a:ea typeface="Open Sauce Bold"/>
                <a:cs typeface="Arial" panose="020B0604020202020204" pitchFamily="34" charset="0"/>
                <a:sym typeface="Open Sauce Bold"/>
              </a:rPr>
              <a:t>VERACRUZ</a:t>
            </a:r>
          </a:p>
        </p:txBody>
      </p:sp>
      <p:sp>
        <p:nvSpPr>
          <p:cNvPr id="10" name="TextBox 12">
            <a:extLst>
              <a:ext uri="{FF2B5EF4-FFF2-40B4-BE49-F238E27FC236}">
                <a16:creationId xmlns:a16="http://schemas.microsoft.com/office/drawing/2014/main" id="{6E2EF275-6D95-ED0A-C9C5-5801B7DE3AEE}"/>
              </a:ext>
            </a:extLst>
          </p:cNvPr>
          <p:cNvSpPr txBox="1"/>
          <p:nvPr/>
        </p:nvSpPr>
        <p:spPr>
          <a:xfrm>
            <a:off x="11132743" y="3399828"/>
            <a:ext cx="2799080" cy="475195"/>
          </a:xfrm>
          <a:prstGeom prst="rect">
            <a:avLst/>
          </a:prstGeom>
        </p:spPr>
        <p:txBody>
          <a:bodyPr wrap="square" lIns="0" tIns="0" rIns="0" bIns="0" rtlCol="0" anchor="t">
            <a:spAutoFit/>
          </a:bodyPr>
          <a:lstStyle/>
          <a:p>
            <a:pPr algn="ctr" defTabSz="914445">
              <a:lnSpc>
                <a:spcPts val="3987"/>
              </a:lnSpc>
            </a:pPr>
            <a:r>
              <a:rPr lang="es-ES" sz="3200" b="1" dirty="0">
                <a:solidFill>
                  <a:srgbClr val="0F5995"/>
                </a:solidFill>
                <a:latin typeface="Arial" panose="020B0604020202020204" pitchFamily="34" charset="0"/>
                <a:ea typeface="Open Sauce Bold"/>
                <a:cs typeface="Arial" panose="020B0604020202020204" pitchFamily="34" charset="0"/>
                <a:sym typeface="Open Sauce Bold"/>
              </a:rPr>
              <a:t>AIFA</a:t>
            </a:r>
            <a:endParaRPr lang="es-MX" sz="3200" b="1" noProof="0" dirty="0">
              <a:solidFill>
                <a:srgbClr val="0F5995"/>
              </a:solidFill>
              <a:latin typeface="Arial" panose="020B0604020202020204" pitchFamily="34" charset="0"/>
              <a:ea typeface="Open Sauce Bold"/>
              <a:cs typeface="Arial" panose="020B0604020202020204" pitchFamily="34" charset="0"/>
              <a:sym typeface="Open Sauce Bold"/>
            </a:endParaRPr>
          </a:p>
        </p:txBody>
      </p:sp>
      <p:graphicFrame>
        <p:nvGraphicFramePr>
          <p:cNvPr id="11" name="Tabla 10">
            <a:extLst>
              <a:ext uri="{FF2B5EF4-FFF2-40B4-BE49-F238E27FC236}">
                <a16:creationId xmlns:a16="http://schemas.microsoft.com/office/drawing/2014/main" id="{318E29FB-DF8A-95F5-B902-75303EF4923E}"/>
              </a:ext>
            </a:extLst>
          </p:cNvPr>
          <p:cNvGraphicFramePr>
            <a:graphicFrameLocks noGrp="1"/>
          </p:cNvGraphicFramePr>
          <p:nvPr>
            <p:extLst>
              <p:ext uri="{D42A27DB-BD31-4B8C-83A1-F6EECF244321}">
                <p14:modId xmlns:p14="http://schemas.microsoft.com/office/powerpoint/2010/main" val="3050330825"/>
              </p:ext>
            </p:extLst>
          </p:nvPr>
        </p:nvGraphicFramePr>
        <p:xfrm>
          <a:off x="9832283" y="4383712"/>
          <a:ext cx="5400000" cy="18288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070557458"/>
                    </a:ext>
                  </a:extLst>
                </a:gridCol>
                <a:gridCol w="1800000">
                  <a:extLst>
                    <a:ext uri="{9D8B030D-6E8A-4147-A177-3AD203B41FA5}">
                      <a16:colId xmlns:a16="http://schemas.microsoft.com/office/drawing/2014/main" val="3167215385"/>
                    </a:ext>
                  </a:extLst>
                </a:gridCol>
                <a:gridCol w="1800000">
                  <a:extLst>
                    <a:ext uri="{9D8B030D-6E8A-4147-A177-3AD203B41FA5}">
                      <a16:colId xmlns:a16="http://schemas.microsoft.com/office/drawing/2014/main" val="1555968617"/>
                    </a:ext>
                  </a:extLst>
                </a:gridCol>
              </a:tblGrid>
              <a:tr h="457200">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FRANQUICIA</a:t>
                      </a:r>
                    </a:p>
                  </a:txBody>
                  <a:tcPr marL="0" marR="0" marT="0" marB="0" anchor="ctr">
                    <a:solidFill>
                      <a:schemeClr val="accent1"/>
                    </a:solidFill>
                  </a:tcP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MERCANCÍA</a:t>
                      </a:r>
                    </a:p>
                  </a:txBody>
                  <a:tcPr anchor="ctr">
                    <a:solidFill>
                      <a:schemeClr val="accent1"/>
                    </a:solidFill>
                  </a:tcP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CANTIDAD</a:t>
                      </a:r>
                    </a:p>
                  </a:txBody>
                  <a:tcPr anchor="ctr">
                    <a:solidFill>
                      <a:schemeClr val="accent1"/>
                    </a:solidFill>
                  </a:tcPr>
                </a:tc>
                <a:extLst>
                  <a:ext uri="{0D108BD9-81ED-4DB2-BD59-A6C34878D82A}">
                    <a16:rowId xmlns:a16="http://schemas.microsoft.com/office/drawing/2014/main" val="2503408164"/>
                  </a:ext>
                </a:extLst>
              </a:tr>
              <a:tr h="457200">
                <a:tc gridSpan="3">
                  <a:txBody>
                    <a:bodyPr/>
                    <a:lstStyle/>
                    <a:p>
                      <a:pPr algn="ctr" fontAlgn="b">
                        <a:buNone/>
                      </a:pPr>
                      <a:r>
                        <a:rPr lang="es-ES" sz="2400" b="0" i="0" u="none" strike="noStrike" noProof="0" dirty="0">
                          <a:solidFill>
                            <a:srgbClr val="000000"/>
                          </a:solidFill>
                          <a:effectLst/>
                          <a:latin typeface="Aptos Narrow" panose="020B0004020202020204" pitchFamily="34" charset="0"/>
                        </a:rPr>
                        <a:t>ENERO</a:t>
                      </a:r>
                      <a:endParaRPr lang="es-MX" sz="2400" b="0" i="0" u="none" strike="noStrike" noProof="0" dirty="0">
                        <a:solidFill>
                          <a:srgbClr val="000000"/>
                        </a:solidFill>
                        <a:effectLst/>
                        <a:latin typeface="Aptos Narrow" panose="020B0004020202020204" pitchFamily="34" charset="0"/>
                      </a:endParaRPr>
                    </a:p>
                  </a:txBody>
                  <a:tcPr marL="0" marR="0" marT="0" marB="0" anchor="ctr"/>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53781699"/>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GENMED</a:t>
                      </a: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CLEXANE</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8</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332462876"/>
                  </a:ext>
                </a:extLst>
              </a:tr>
              <a:tr h="457200">
                <a:tc gridSpan="2">
                  <a:txBody>
                    <a:bodyPr/>
                    <a:lstStyle/>
                    <a:p>
                      <a:pPr algn="r" fontAlgn="b">
                        <a:buNone/>
                      </a:pPr>
                      <a:r>
                        <a:rPr lang="es-MX" sz="2400" b="1" i="0" u="none" strike="noStrike" noProof="0" dirty="0">
                          <a:solidFill>
                            <a:srgbClr val="000000"/>
                          </a:solidFill>
                          <a:effectLst/>
                          <a:latin typeface="Aptos Narrow" panose="020B0004020202020204" pitchFamily="34" charset="0"/>
                        </a:rPr>
                        <a:t>TOTAL</a:t>
                      </a:r>
                    </a:p>
                  </a:txBody>
                  <a:tcPr marL="0" marR="0" marT="0" marB="0" anchor="b"/>
                </a:tc>
                <a:tc hMerge="1">
                  <a:txBody>
                    <a:bodyPr/>
                    <a:lstStyle/>
                    <a:p>
                      <a:pPr algn="ctr" fontAlgn="b">
                        <a:buNone/>
                      </a:pPr>
                      <a:endParaRPr lang="es-MX" sz="2400" b="1"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8</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80220209"/>
                  </a:ext>
                </a:extLst>
              </a:tr>
            </a:tbl>
          </a:graphicData>
        </a:graphic>
      </p:graphicFrame>
    </p:spTree>
    <p:extLst>
      <p:ext uri="{BB962C8B-B14F-4D97-AF65-F5344CB8AC3E}">
        <p14:creationId xmlns:p14="http://schemas.microsoft.com/office/powerpoint/2010/main" val="3239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71B13-CFE4-822E-464F-AFE8E7D138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876B28-0333-622E-5EDA-5C889DB3282E}"/>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3EC9239C-F800-20AC-B01F-9BB1588FD167}"/>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A8FF6B48-8B3B-EB80-87D8-550960BF6D62}"/>
              </a:ext>
            </a:extLst>
          </p:cNvPr>
          <p:cNvSpPr txBox="1"/>
          <p:nvPr/>
        </p:nvSpPr>
        <p:spPr>
          <a:xfrm>
            <a:off x="3505200" y="812305"/>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Motivos de retraso</a:t>
            </a:r>
          </a:p>
        </p:txBody>
      </p:sp>
      <p:sp>
        <p:nvSpPr>
          <p:cNvPr id="7" name="Freeform 7">
            <a:extLst>
              <a:ext uri="{FF2B5EF4-FFF2-40B4-BE49-F238E27FC236}">
                <a16:creationId xmlns:a16="http://schemas.microsoft.com/office/drawing/2014/main" id="{2FF5FF81-2269-BB93-7381-6293C88EE884}"/>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A757AE82-6888-7CB7-962F-247CC0C12DAC}"/>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650EA86D-8079-CE3B-25F5-D1625E89D586}"/>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0BECDCF0-99B1-CC29-8A08-937602D4B124}"/>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FE17F628-7CFE-28FD-41CF-E059E0BBE1A3}"/>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B7608C18-A023-4CDB-591F-78AAC60C9C0D}"/>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1" name="Rectangle 2">
            <a:extLst>
              <a:ext uri="{FF2B5EF4-FFF2-40B4-BE49-F238E27FC236}">
                <a16:creationId xmlns:a16="http://schemas.microsoft.com/office/drawing/2014/main" id="{AFBE5CC1-2630-F2EB-568B-ADDE704EC603}"/>
              </a:ext>
            </a:extLst>
          </p:cNvPr>
          <p:cNvSpPr>
            <a:spLocks noChangeArrowheads="1"/>
          </p:cNvSpPr>
          <p:nvPr/>
        </p:nvSpPr>
        <p:spPr bwMode="auto">
          <a:xfrm>
            <a:off x="2278475" y="2207376"/>
            <a:ext cx="8858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AIFA</a:t>
            </a:r>
          </a:p>
        </p:txBody>
      </p:sp>
      <p:sp>
        <p:nvSpPr>
          <p:cNvPr id="6" name="Rectangle 2">
            <a:extLst>
              <a:ext uri="{FF2B5EF4-FFF2-40B4-BE49-F238E27FC236}">
                <a16:creationId xmlns:a16="http://schemas.microsoft.com/office/drawing/2014/main" id="{49EF6334-B27F-FD38-7862-3262BDC3BDCA}"/>
              </a:ext>
            </a:extLst>
          </p:cNvPr>
          <p:cNvSpPr>
            <a:spLocks noChangeArrowheads="1"/>
          </p:cNvSpPr>
          <p:nvPr/>
        </p:nvSpPr>
        <p:spPr bwMode="auto">
          <a:xfrm>
            <a:off x="2721385" y="2930820"/>
            <a:ext cx="22701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Almacén lleno</a:t>
            </a:r>
          </a:p>
        </p:txBody>
      </p:sp>
      <p:sp>
        <p:nvSpPr>
          <p:cNvPr id="8" name="Rectangle 2">
            <a:extLst>
              <a:ext uri="{FF2B5EF4-FFF2-40B4-BE49-F238E27FC236}">
                <a16:creationId xmlns:a16="http://schemas.microsoft.com/office/drawing/2014/main" id="{1C0F4146-3CA6-EF0A-365C-61CD654118C5}"/>
              </a:ext>
            </a:extLst>
          </p:cNvPr>
          <p:cNvSpPr>
            <a:spLocks noChangeArrowheads="1"/>
          </p:cNvSpPr>
          <p:nvPr/>
        </p:nvSpPr>
        <p:spPr bwMode="auto">
          <a:xfrm>
            <a:off x="3856471" y="3372148"/>
            <a:ext cx="826290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dirty="0">
                <a:latin typeface="Arial" panose="020B0604020202020204" pitchFamily="34" charset="0"/>
                <a:cs typeface="Arial" panose="020B0604020202020204" pitchFamily="34" charset="0"/>
              </a:rPr>
              <a:t>ENERO</a:t>
            </a:r>
          </a:p>
          <a:p>
            <a:pPr lvl="0" eaLnBrk="0" fontAlgn="base" hangingPunct="0">
              <a:spcBef>
                <a:spcPct val="0"/>
              </a:spcBef>
              <a:spcAft>
                <a:spcPct val="0"/>
              </a:spcAft>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AIFA-25-002797,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AIFA-26-000008,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AIFA-26-000009,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AIFA-25-002816,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AIFA-26-000013,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AIFA-25-002817,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AIFA-26-000014,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AIFA-26-000015, mercancía CLEXANE (ENOXAPARINA SODICA)</a:t>
            </a:r>
            <a:br>
              <a:rPr lang="es-MX" noProof="0" dirty="0">
                <a:latin typeface="Arial" panose="020B0604020202020204" pitchFamily="34" charset="0"/>
              </a:rPr>
            </a:br>
            <a:endParaRPr lang="es-MX" noProof="0" dirty="0">
              <a:latin typeface="Arial" panose="020B0604020202020204" pitchFamily="34" charset="0"/>
            </a:endParaRPr>
          </a:p>
        </p:txBody>
      </p:sp>
    </p:spTree>
    <p:extLst>
      <p:ext uri="{BB962C8B-B14F-4D97-AF65-F5344CB8AC3E}">
        <p14:creationId xmlns:p14="http://schemas.microsoft.com/office/powerpoint/2010/main" val="3323270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3369-6B43-4142-079E-46FFC52157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DA9FF5-8823-C974-75A7-6D73F6C5AF50}"/>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6A802DCA-0B95-06BA-969C-5F43A081DB31}"/>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43D9E745-BAF3-4F3B-9C08-7BB979C4ED0B}"/>
              </a:ext>
            </a:extLst>
          </p:cNvPr>
          <p:cNvSpPr txBox="1"/>
          <p:nvPr/>
        </p:nvSpPr>
        <p:spPr>
          <a:xfrm>
            <a:off x="3505200" y="812305"/>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Motivos de retraso</a:t>
            </a:r>
          </a:p>
        </p:txBody>
      </p:sp>
      <p:sp>
        <p:nvSpPr>
          <p:cNvPr id="7" name="Freeform 7">
            <a:extLst>
              <a:ext uri="{FF2B5EF4-FFF2-40B4-BE49-F238E27FC236}">
                <a16:creationId xmlns:a16="http://schemas.microsoft.com/office/drawing/2014/main" id="{807CB608-E720-4D3F-030D-3C7FFFAB2E17}"/>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38AB747F-BB33-B95A-1C2E-ACE2D57A8519}"/>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31A4C9B1-F062-46D3-10D4-62F28CAFBF29}"/>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022D4A5D-AE28-239F-B9B6-68C59731D5A9}"/>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1DF6688E-65F1-6518-17CF-31409A321187}"/>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1B84034B-07A6-725B-99DA-F039BFC36AC2}"/>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1" name="Rectangle 2">
            <a:extLst>
              <a:ext uri="{FF2B5EF4-FFF2-40B4-BE49-F238E27FC236}">
                <a16:creationId xmlns:a16="http://schemas.microsoft.com/office/drawing/2014/main" id="{94DA42DA-AA11-065A-75ED-2A0272453B1D}"/>
              </a:ext>
            </a:extLst>
          </p:cNvPr>
          <p:cNvSpPr>
            <a:spLocks noChangeArrowheads="1"/>
          </p:cNvSpPr>
          <p:nvPr/>
        </p:nvSpPr>
        <p:spPr bwMode="auto">
          <a:xfrm>
            <a:off x="2278475" y="2207376"/>
            <a:ext cx="18966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VERACRUZ</a:t>
            </a:r>
          </a:p>
        </p:txBody>
      </p:sp>
      <p:sp>
        <p:nvSpPr>
          <p:cNvPr id="6" name="Rectangle 2">
            <a:extLst>
              <a:ext uri="{FF2B5EF4-FFF2-40B4-BE49-F238E27FC236}">
                <a16:creationId xmlns:a16="http://schemas.microsoft.com/office/drawing/2014/main" id="{E79897D2-F44B-A527-D445-B67A71AE10E3}"/>
              </a:ext>
            </a:extLst>
          </p:cNvPr>
          <p:cNvSpPr>
            <a:spLocks noChangeArrowheads="1"/>
          </p:cNvSpPr>
          <p:nvPr/>
        </p:nvSpPr>
        <p:spPr bwMode="auto">
          <a:xfrm>
            <a:off x="826967" y="2852749"/>
            <a:ext cx="22701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Almacén lleno</a:t>
            </a:r>
          </a:p>
        </p:txBody>
      </p:sp>
      <p:sp>
        <p:nvSpPr>
          <p:cNvPr id="8" name="Rectangle 2">
            <a:extLst>
              <a:ext uri="{FF2B5EF4-FFF2-40B4-BE49-F238E27FC236}">
                <a16:creationId xmlns:a16="http://schemas.microsoft.com/office/drawing/2014/main" id="{3E7E0FA2-00BD-E309-2BFB-96D20177DAFB}"/>
              </a:ext>
            </a:extLst>
          </p:cNvPr>
          <p:cNvSpPr>
            <a:spLocks noChangeArrowheads="1"/>
          </p:cNvSpPr>
          <p:nvPr/>
        </p:nvSpPr>
        <p:spPr bwMode="auto">
          <a:xfrm>
            <a:off x="1123788" y="3560624"/>
            <a:ext cx="7277249"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noProof="0" dirty="0">
                <a:latin typeface="Arial" panose="020B0604020202020204" pitchFamily="34" charset="0"/>
                <a:cs typeface="Arial" panose="020B0604020202020204" pitchFamily="34" charset="0"/>
              </a:rPr>
              <a:t>ENERO </a:t>
            </a:r>
          </a:p>
          <a:p>
            <a:pPr lvl="0" eaLnBrk="0" fontAlgn="base" hangingPunct="0">
              <a:spcBef>
                <a:spcPct val="0"/>
              </a:spcBef>
              <a:spcAft>
                <a:spcPct val="0"/>
              </a:spcAft>
            </a:pPr>
            <a:endParaRPr lang="es-MX" dirty="0">
              <a:latin typeface="Arial" panose="020B0604020202020204" pitchFamily="34" charset="0"/>
              <a:cs typeface="Arial" panose="020B0604020202020204" pitchFamily="34" charset="0"/>
            </a:endParaRPr>
          </a:p>
          <a:p>
            <a:pPr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VER-25-1291, mercancía LASIX 20MG/2ML</a:t>
            </a:r>
          </a:p>
          <a:p>
            <a:pPr eaLnBrk="0" fontAlgn="base" hangingPunct="0">
              <a:spcBef>
                <a:spcPct val="0"/>
              </a:spcBef>
              <a:spcAft>
                <a:spcPct val="0"/>
              </a:spcAft>
              <a:buFontTx/>
              <a:buChar char="•"/>
            </a:pPr>
            <a:endParaRPr lang="es-ES"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VER-26-0049, mercancía SINUBERASE 2BCFU/5ML SUSP BT10 M24 MX</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VER-26-0048, mercancía SINUBERASE 4BCFU/5ML SUSP BT20 M24 MX</a:t>
            </a:r>
            <a:br>
              <a:rPr lang="es-MX" dirty="0">
                <a:latin typeface="Arial" panose="020B0604020202020204" pitchFamily="34" charset="0"/>
                <a:cs typeface="Arial" panose="020B0604020202020204" pitchFamily="34" charset="0"/>
              </a:rPr>
            </a:b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FEBRERO</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VER-26-0144, mercancía REGIVAS 400MG</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VER-26-0054, mercancía SARCLISA 500 MG/25ML</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VER-26-0053, mercancía LANTUS 100 UI/ML</a:t>
            </a:r>
          </a:p>
          <a:p>
            <a:pPr lvl="0" eaLnBrk="0" fontAlgn="base" hangingPunct="0">
              <a:spcBef>
                <a:spcPct val="0"/>
              </a:spcBef>
              <a:spcAft>
                <a:spcPct val="0"/>
              </a:spcAft>
              <a:buFontTx/>
              <a:buChar char="•"/>
            </a:pPr>
            <a:endParaRPr lang="es-ES"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VER-26-0052, mercancía LANTUS 100 UI/ML</a:t>
            </a:r>
          </a:p>
          <a:p>
            <a:pPr lvl="0" eaLnBrk="0" fontAlgn="base" hangingPunct="0">
              <a:spcBef>
                <a:spcPct val="0"/>
              </a:spcBef>
              <a:spcAft>
                <a:spcPct val="0"/>
              </a:spcAft>
            </a:pPr>
            <a:endParaRPr lang="es-MX" noProof="0" dirty="0">
              <a:latin typeface="Arial" panose="020B0604020202020204" pitchFamily="34" charset="0"/>
              <a:cs typeface="Arial" panose="020B0604020202020204" pitchFamily="34" charset="0"/>
            </a:endParaRPr>
          </a:p>
          <a:p>
            <a:pPr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VER-26-0055, mercancía SOLIQUA S.INY 100U/ML</a:t>
            </a:r>
          </a:p>
        </p:txBody>
      </p:sp>
      <p:sp>
        <p:nvSpPr>
          <p:cNvPr id="5" name="Rectangle 2">
            <a:extLst>
              <a:ext uri="{FF2B5EF4-FFF2-40B4-BE49-F238E27FC236}">
                <a16:creationId xmlns:a16="http://schemas.microsoft.com/office/drawing/2014/main" id="{9D57A140-FA9D-B8C3-DB34-3E82EC34803E}"/>
              </a:ext>
            </a:extLst>
          </p:cNvPr>
          <p:cNvSpPr>
            <a:spLocks noChangeArrowheads="1"/>
          </p:cNvSpPr>
          <p:nvPr/>
        </p:nvSpPr>
        <p:spPr bwMode="auto">
          <a:xfrm>
            <a:off x="9139206" y="2856900"/>
            <a:ext cx="18421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ES" sz="2400" b="1" dirty="0">
                <a:solidFill>
                  <a:schemeClr val="tx2"/>
                </a:solidFill>
                <a:latin typeface="Arial" panose="020B0604020202020204" pitchFamily="34" charset="0"/>
              </a:rPr>
              <a:t>R</a:t>
            </a:r>
            <a:r>
              <a:rPr lang="es-MX" sz="2400" b="1" dirty="0" err="1">
                <a:solidFill>
                  <a:schemeClr val="tx2"/>
                </a:solidFill>
                <a:latin typeface="Arial" panose="020B0604020202020204" pitchFamily="34" charset="0"/>
              </a:rPr>
              <a:t>egulación</a:t>
            </a:r>
            <a:endParaRPr lang="es-MX" sz="2400" b="1" noProof="0" dirty="0">
              <a:solidFill>
                <a:schemeClr val="tx2"/>
              </a:solidFill>
              <a:latin typeface="Arial" panose="020B0604020202020204" pitchFamily="34" charset="0"/>
            </a:endParaRPr>
          </a:p>
        </p:txBody>
      </p:sp>
      <p:sp>
        <p:nvSpPr>
          <p:cNvPr id="10" name="Rectangle 2">
            <a:extLst>
              <a:ext uri="{FF2B5EF4-FFF2-40B4-BE49-F238E27FC236}">
                <a16:creationId xmlns:a16="http://schemas.microsoft.com/office/drawing/2014/main" id="{45EF3624-B80A-8936-37F8-CA1C3836AFBC}"/>
              </a:ext>
            </a:extLst>
          </p:cNvPr>
          <p:cNvSpPr>
            <a:spLocks noChangeArrowheads="1"/>
          </p:cNvSpPr>
          <p:nvPr/>
        </p:nvSpPr>
        <p:spPr bwMode="auto">
          <a:xfrm>
            <a:off x="9139206" y="3655510"/>
            <a:ext cx="843160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dirty="0">
                <a:latin typeface="Arial" panose="020B0604020202020204" pitchFamily="34" charset="0"/>
                <a:cs typeface="Arial" panose="020B0604020202020204" pitchFamily="34" charset="0"/>
              </a:rPr>
              <a:t>FEBRERO</a:t>
            </a:r>
            <a:r>
              <a:rPr lang="es-MX" noProof="0" dirty="0">
                <a:latin typeface="Arial" panose="020B0604020202020204" pitchFamily="34" charset="0"/>
                <a:cs typeface="Arial" panose="020B0604020202020204" pitchFamily="34" charset="0"/>
              </a:rPr>
              <a:t> </a:t>
            </a:r>
            <a:br>
              <a:rPr lang="es-MX" noProof="0" dirty="0">
                <a:latin typeface="Arial" panose="020B0604020202020204" pitchFamily="34" charset="0"/>
                <a:cs typeface="Arial" panose="020B0604020202020204" pitchFamily="34" charset="0"/>
              </a:rPr>
            </a:br>
            <a:endParaRPr lang="es-MX" noProof="0"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"VER-26-0140" mercancía "HEXACIMA 5 ML 10 D INJSU VL10 MX“</a:t>
            </a:r>
          </a:p>
          <a:p>
            <a:pPr lvl="0" eaLnBrk="0" fontAlgn="base" hangingPunct="0">
              <a:spcBef>
                <a:spcPct val="0"/>
              </a:spcBef>
              <a:spcAft>
                <a:spcPct val="0"/>
              </a:spcAft>
              <a:buFontTx/>
              <a:buChar char="•"/>
            </a:pPr>
            <a:endParaRPr lang="es-ES"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"VER-26-0141" mercancía "HEXACIMA 5 ML 10 D INJSU VL10 MX"</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4063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B6BED-8536-B96E-7256-BE539579C79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DC10972-D008-BB7D-B0B4-ACEBF9025547}"/>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63FE2722-DA56-1938-8E4A-FD3BFE0D7BDE}"/>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8208DBFB-AD42-A7D5-1AA9-808B080C6882}"/>
              </a:ext>
            </a:extLst>
          </p:cNvPr>
          <p:cNvSpPr txBox="1"/>
          <p:nvPr/>
        </p:nvSpPr>
        <p:spPr>
          <a:xfrm>
            <a:off x="3505200" y="812305"/>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Motivos de retraso</a:t>
            </a:r>
          </a:p>
        </p:txBody>
      </p:sp>
      <p:sp>
        <p:nvSpPr>
          <p:cNvPr id="7" name="Freeform 7">
            <a:extLst>
              <a:ext uri="{FF2B5EF4-FFF2-40B4-BE49-F238E27FC236}">
                <a16:creationId xmlns:a16="http://schemas.microsoft.com/office/drawing/2014/main" id="{F768F3CB-7696-21F9-EAB5-0C4D859CE015}"/>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836AF0A8-8CCC-92C8-33FD-2C5C6DEE1016}"/>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41F9D291-1AA9-B7F7-3698-7FD028300177}"/>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3ABBA354-5D1A-FE13-B6BA-9DDB6E82FA2F}"/>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070A7C51-8978-2F1B-A187-49C8F7994C66}"/>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5E887CED-859E-65BE-6129-D6C67746B95A}"/>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18" name="Tabla 17">
            <a:extLst>
              <a:ext uri="{FF2B5EF4-FFF2-40B4-BE49-F238E27FC236}">
                <a16:creationId xmlns:a16="http://schemas.microsoft.com/office/drawing/2014/main" id="{BD3B37EE-8D1C-69B9-6EDC-AF657597BB7B}"/>
              </a:ext>
            </a:extLst>
          </p:cNvPr>
          <p:cNvGraphicFramePr>
            <a:graphicFrameLocks noGrp="1"/>
          </p:cNvGraphicFramePr>
          <p:nvPr>
            <p:extLst>
              <p:ext uri="{D42A27DB-BD31-4B8C-83A1-F6EECF244321}">
                <p14:modId xmlns:p14="http://schemas.microsoft.com/office/powerpoint/2010/main" val="4122064187"/>
              </p:ext>
            </p:extLst>
          </p:nvPr>
        </p:nvGraphicFramePr>
        <p:xfrm>
          <a:off x="785566" y="2431142"/>
          <a:ext cx="16716870" cy="1854200"/>
        </p:xfrm>
        <a:graphic>
          <a:graphicData uri="http://schemas.openxmlformats.org/drawingml/2006/table">
            <a:tbl>
              <a:tblPr firstRow="1" bandRow="1">
                <a:tableStyleId>{5C22544A-7EE6-4342-B048-85BDC9FD1C3A}</a:tableStyleId>
              </a:tblPr>
              <a:tblGrid>
                <a:gridCol w="3343374">
                  <a:extLst>
                    <a:ext uri="{9D8B030D-6E8A-4147-A177-3AD203B41FA5}">
                      <a16:colId xmlns:a16="http://schemas.microsoft.com/office/drawing/2014/main" val="4122495543"/>
                    </a:ext>
                  </a:extLst>
                </a:gridCol>
                <a:gridCol w="3343374">
                  <a:extLst>
                    <a:ext uri="{9D8B030D-6E8A-4147-A177-3AD203B41FA5}">
                      <a16:colId xmlns:a16="http://schemas.microsoft.com/office/drawing/2014/main" val="1550966259"/>
                    </a:ext>
                  </a:extLst>
                </a:gridCol>
                <a:gridCol w="3343374">
                  <a:extLst>
                    <a:ext uri="{9D8B030D-6E8A-4147-A177-3AD203B41FA5}">
                      <a16:colId xmlns:a16="http://schemas.microsoft.com/office/drawing/2014/main" val="754553552"/>
                    </a:ext>
                  </a:extLst>
                </a:gridCol>
                <a:gridCol w="3343374">
                  <a:extLst>
                    <a:ext uri="{9D8B030D-6E8A-4147-A177-3AD203B41FA5}">
                      <a16:colId xmlns:a16="http://schemas.microsoft.com/office/drawing/2014/main" val="2386725391"/>
                    </a:ext>
                  </a:extLst>
                </a:gridCol>
                <a:gridCol w="3343374">
                  <a:extLst>
                    <a:ext uri="{9D8B030D-6E8A-4147-A177-3AD203B41FA5}">
                      <a16:colId xmlns:a16="http://schemas.microsoft.com/office/drawing/2014/main" val="4022324379"/>
                    </a:ext>
                  </a:extLst>
                </a:gridCol>
              </a:tblGrid>
              <a:tr h="370840">
                <a:tc gridSpan="5">
                  <a:txBody>
                    <a:bodyPr/>
                    <a:lstStyle/>
                    <a:p>
                      <a:pPr algn="ctr"/>
                      <a:r>
                        <a:rPr lang="es-ES" noProof="0" dirty="0">
                          <a:solidFill>
                            <a:schemeClr val="tx1"/>
                          </a:solidFill>
                        </a:rPr>
                        <a:t>AIFA</a:t>
                      </a:r>
                      <a:endParaRPr lang="es-MX" noProof="0" dirty="0">
                        <a:solidFill>
                          <a:schemeClr val="tx1"/>
                        </a:solidFill>
                      </a:endParaRPr>
                    </a:p>
                  </a:txBody>
                  <a:tcPr>
                    <a:noFill/>
                  </a:tcPr>
                </a:tc>
                <a:tc hMerge="1">
                  <a:txBody>
                    <a:bodyPr/>
                    <a:lstStyle/>
                    <a:p>
                      <a:pPr algn="ctr"/>
                      <a:endParaRPr lang="es-MX" noProof="0" dirty="0"/>
                    </a:p>
                  </a:txBody>
                  <a:tcPr/>
                </a:tc>
                <a:tc hMerge="1">
                  <a:txBody>
                    <a:bodyPr/>
                    <a:lstStyle/>
                    <a:p>
                      <a:endParaRPr lang="es-MX"/>
                    </a:p>
                  </a:txBody>
                  <a:tcPr/>
                </a:tc>
                <a:tc hMerge="1">
                  <a:txBody>
                    <a:bodyPr/>
                    <a:lstStyle/>
                    <a:p>
                      <a:pPr algn="ctr"/>
                      <a:endParaRPr lang="es-MX" noProof="0" dirty="0"/>
                    </a:p>
                  </a:txBody>
                  <a:tcPr/>
                </a:tc>
                <a:tc hMerge="1">
                  <a:txBody>
                    <a:bodyPr/>
                    <a:lstStyle/>
                    <a:p>
                      <a:endParaRPr lang="es-MX"/>
                    </a:p>
                  </a:txBody>
                  <a:tcPr/>
                </a:tc>
                <a:extLst>
                  <a:ext uri="{0D108BD9-81ED-4DB2-BD59-A6C34878D82A}">
                    <a16:rowId xmlns:a16="http://schemas.microsoft.com/office/drawing/2014/main" val="1331959027"/>
                  </a:ext>
                </a:extLst>
              </a:tr>
              <a:tr h="370840">
                <a:tc>
                  <a:txBody>
                    <a:bodyPr/>
                    <a:lstStyle/>
                    <a:p>
                      <a:endParaRPr lang="es-MX" noProof="0" dirty="0">
                        <a:solidFill>
                          <a:schemeClr val="bg1"/>
                        </a:solidFill>
                      </a:endParaRPr>
                    </a:p>
                  </a:txBody>
                  <a:tcPr>
                    <a:noFill/>
                  </a:tcPr>
                </a:tc>
                <a:tc gridSpan="2">
                  <a:txBody>
                    <a:bodyPr/>
                    <a:lstStyle/>
                    <a:p>
                      <a:pPr algn="ctr"/>
                      <a:r>
                        <a:rPr lang="es-ES" noProof="0" dirty="0">
                          <a:solidFill>
                            <a:schemeClr val="bg1"/>
                          </a:solidFill>
                        </a:rPr>
                        <a:t>ENERO</a:t>
                      </a:r>
                      <a:endParaRPr lang="es-MX" noProof="0" dirty="0">
                        <a:solidFill>
                          <a:schemeClr val="bg1"/>
                        </a:solidFill>
                      </a:endParaRPr>
                    </a:p>
                  </a:txBody>
                  <a:tcPr>
                    <a:solidFill>
                      <a:schemeClr val="accent1"/>
                    </a:solidFill>
                  </a:tcPr>
                </a:tc>
                <a:tc hMerge="1">
                  <a:txBody>
                    <a:bodyPr/>
                    <a:lstStyle/>
                    <a:p>
                      <a:endParaRPr lang="es-MX"/>
                    </a:p>
                  </a:txBody>
                  <a:tcPr/>
                </a:tc>
                <a:tc gridSpan="2">
                  <a:txBody>
                    <a:bodyPr/>
                    <a:lstStyle/>
                    <a:p>
                      <a:pPr algn="ctr"/>
                      <a:r>
                        <a:rPr lang="es-ES" noProof="0" dirty="0">
                          <a:solidFill>
                            <a:schemeClr val="bg1"/>
                          </a:solidFill>
                        </a:rPr>
                        <a:t>FEBRERO</a:t>
                      </a:r>
                      <a:endParaRPr lang="es-MX" noProof="0" dirty="0">
                        <a:solidFill>
                          <a:schemeClr val="bg1"/>
                        </a:solidFill>
                      </a:endParaRPr>
                    </a:p>
                  </a:txBody>
                  <a:tcPr>
                    <a:solidFill>
                      <a:schemeClr val="accent1"/>
                    </a:solidFill>
                  </a:tcPr>
                </a:tc>
                <a:tc hMerge="1">
                  <a:txBody>
                    <a:bodyPr/>
                    <a:lstStyle/>
                    <a:p>
                      <a:endParaRPr lang="es-MX"/>
                    </a:p>
                  </a:txBody>
                  <a:tcPr/>
                </a:tc>
                <a:extLst>
                  <a:ext uri="{0D108BD9-81ED-4DB2-BD59-A6C34878D82A}">
                    <a16:rowId xmlns:a16="http://schemas.microsoft.com/office/drawing/2014/main" val="2921361359"/>
                  </a:ext>
                </a:extLst>
              </a:tr>
              <a:tr h="370840">
                <a:tc>
                  <a:txBody>
                    <a:bodyPr/>
                    <a:lstStyle/>
                    <a:p>
                      <a:endParaRPr lang="es-MX" noProof="0" dirty="0">
                        <a:solidFill>
                          <a:schemeClr val="bg1"/>
                        </a:solidFill>
                      </a:endParaRPr>
                    </a:p>
                  </a:txBody>
                  <a:tcPr>
                    <a:noFill/>
                  </a:tcPr>
                </a:tc>
                <a:tc gridSpan="2">
                  <a:txBody>
                    <a:bodyPr/>
                    <a:lstStyle/>
                    <a:p>
                      <a:pPr algn="ctr"/>
                      <a:r>
                        <a:rPr lang="es-MX" noProof="0" dirty="0">
                          <a:solidFill>
                            <a:schemeClr val="bg1"/>
                          </a:solidFill>
                        </a:rPr>
                        <a:t>IMPUTABLE A:</a:t>
                      </a:r>
                    </a:p>
                  </a:txBody>
                  <a:tcPr>
                    <a:solidFill>
                      <a:schemeClr val="accent1"/>
                    </a:solidFill>
                  </a:tcPr>
                </a:tc>
                <a:tc hMerge="1">
                  <a:txBody>
                    <a:bodyPr/>
                    <a:lstStyle/>
                    <a:p>
                      <a:endParaRPr lang="es-MX"/>
                    </a:p>
                  </a:txBody>
                  <a:tcPr/>
                </a:tc>
                <a:tc gridSpan="2">
                  <a:txBody>
                    <a:bodyPr/>
                    <a:lstStyle/>
                    <a:p>
                      <a:pPr algn="ctr"/>
                      <a:r>
                        <a:rPr lang="es-MX" noProof="0" dirty="0">
                          <a:solidFill>
                            <a:schemeClr val="bg1"/>
                          </a:solidFill>
                        </a:rPr>
                        <a:t>IMPUTABLE A:</a:t>
                      </a:r>
                    </a:p>
                  </a:txBody>
                  <a:tcPr>
                    <a:solidFill>
                      <a:schemeClr val="accent1"/>
                    </a:solidFill>
                  </a:tcPr>
                </a:tc>
                <a:tc hMerge="1">
                  <a:txBody>
                    <a:bodyPr/>
                    <a:lstStyle/>
                    <a:p>
                      <a:endParaRPr lang="es-MX"/>
                    </a:p>
                  </a:txBody>
                  <a:tcPr/>
                </a:tc>
                <a:extLst>
                  <a:ext uri="{0D108BD9-81ED-4DB2-BD59-A6C34878D82A}">
                    <a16:rowId xmlns:a16="http://schemas.microsoft.com/office/drawing/2014/main" val="20315035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b="1" noProof="0" dirty="0">
                          <a:solidFill>
                            <a:schemeClr val="bg1"/>
                          </a:solidFill>
                        </a:rPr>
                        <a:t>Motivo de retraso</a:t>
                      </a:r>
                    </a:p>
                  </a:txBody>
                  <a:tcPr>
                    <a:solidFill>
                      <a:schemeClr val="accent1"/>
                    </a:solidFill>
                  </a:tcPr>
                </a:tc>
                <a:tc>
                  <a:txBody>
                    <a:bodyPr/>
                    <a:lstStyle/>
                    <a:p>
                      <a:pPr algn="ctr"/>
                      <a:r>
                        <a:rPr lang="es-MX" noProof="0" dirty="0">
                          <a:solidFill>
                            <a:schemeClr val="bg1"/>
                          </a:solidFill>
                        </a:rPr>
                        <a:t>ABC</a:t>
                      </a:r>
                    </a:p>
                  </a:txBody>
                  <a:tcPr>
                    <a:solidFill>
                      <a:schemeClr val="accent1"/>
                    </a:solidFill>
                  </a:tcPr>
                </a:tc>
                <a:tc>
                  <a:txBody>
                    <a:bodyPr/>
                    <a:lstStyle/>
                    <a:p>
                      <a:pPr algn="ctr"/>
                      <a:r>
                        <a:rPr lang="es-MX" noProof="0" dirty="0">
                          <a:solidFill>
                            <a:schemeClr val="bg1"/>
                          </a:solidFill>
                        </a:rPr>
                        <a:t>CLIENTE</a:t>
                      </a:r>
                    </a:p>
                  </a:txBody>
                  <a:tcPr>
                    <a:solidFill>
                      <a:schemeClr val="accent1"/>
                    </a:solidFill>
                  </a:tcPr>
                </a:tc>
                <a:tc>
                  <a:txBody>
                    <a:bodyPr/>
                    <a:lstStyle/>
                    <a:p>
                      <a:pPr algn="ctr"/>
                      <a:r>
                        <a:rPr lang="es-MX" noProof="0" dirty="0">
                          <a:solidFill>
                            <a:schemeClr val="bg1"/>
                          </a:solidFill>
                        </a:rPr>
                        <a:t>ABC</a:t>
                      </a:r>
                    </a:p>
                  </a:txBody>
                  <a:tcPr>
                    <a:solidFill>
                      <a:schemeClr val="accent1"/>
                    </a:solidFill>
                  </a:tcPr>
                </a:tc>
                <a:tc>
                  <a:txBody>
                    <a:bodyPr/>
                    <a:lstStyle/>
                    <a:p>
                      <a:pPr algn="ctr"/>
                      <a:r>
                        <a:rPr lang="es-MX" noProof="0" dirty="0">
                          <a:solidFill>
                            <a:schemeClr val="bg1"/>
                          </a:solidFill>
                        </a:rPr>
                        <a:t>CLIENTE</a:t>
                      </a:r>
                    </a:p>
                  </a:txBody>
                  <a:tcPr>
                    <a:solidFill>
                      <a:schemeClr val="accent1"/>
                    </a:solidFill>
                  </a:tcPr>
                </a:tc>
                <a:extLst>
                  <a:ext uri="{0D108BD9-81ED-4DB2-BD59-A6C34878D82A}">
                    <a16:rowId xmlns:a16="http://schemas.microsoft.com/office/drawing/2014/main" val="8763273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0" noProof="0" dirty="0"/>
                        <a:t>ESPACIO EN EL ALMACEN</a:t>
                      </a:r>
                      <a:endParaRPr lang="es-MX" sz="1800" b="0" noProof="0" dirty="0"/>
                    </a:p>
                  </a:txBody>
                  <a:tcPr/>
                </a:tc>
                <a:tc>
                  <a:txBody>
                    <a:bodyPr/>
                    <a:lstStyle/>
                    <a:p>
                      <a:pPr algn="ctr"/>
                      <a:r>
                        <a:rPr lang="es-ES" sz="1800" b="0" noProof="0" dirty="0"/>
                        <a:t>0</a:t>
                      </a:r>
                      <a:endParaRPr lang="es-MX" sz="1800" b="0" noProof="0" dirty="0"/>
                    </a:p>
                  </a:txBody>
                  <a:tcPr>
                    <a:solidFill>
                      <a:srgbClr val="FFFFFF"/>
                    </a:solidFill>
                  </a:tcPr>
                </a:tc>
                <a:tc>
                  <a:txBody>
                    <a:bodyPr/>
                    <a:lstStyle/>
                    <a:p>
                      <a:pPr algn="ctr"/>
                      <a:r>
                        <a:rPr lang="es-ES" sz="1800" b="0" noProof="0" dirty="0">
                          <a:solidFill>
                            <a:schemeClr val="bg1"/>
                          </a:solidFill>
                        </a:rPr>
                        <a:t>8</a:t>
                      </a:r>
                      <a:endParaRPr lang="es-MX" sz="1800" b="0" noProof="0" dirty="0">
                        <a:solidFill>
                          <a:schemeClr val="bg1"/>
                        </a:solidFill>
                      </a:endParaRPr>
                    </a:p>
                  </a:txBody>
                  <a:tcPr>
                    <a:solidFill>
                      <a:schemeClr val="tx2"/>
                    </a:solidFill>
                  </a:tcPr>
                </a:tc>
                <a:tc>
                  <a:txBody>
                    <a:bodyPr/>
                    <a:lstStyle/>
                    <a:p>
                      <a:pPr algn="ctr"/>
                      <a:r>
                        <a:rPr lang="es-ES" sz="1800" b="0" noProof="0" dirty="0"/>
                        <a:t>0</a:t>
                      </a:r>
                      <a:endParaRPr lang="es-MX" sz="1800" b="0" noProof="0" dirty="0"/>
                    </a:p>
                  </a:txBody>
                  <a:tcPr>
                    <a:solidFill>
                      <a:srgbClr val="FFFFFF"/>
                    </a:solidFill>
                  </a:tcPr>
                </a:tc>
                <a:tc>
                  <a:txBody>
                    <a:bodyPr/>
                    <a:lstStyle/>
                    <a:p>
                      <a:pPr algn="ctr"/>
                      <a:r>
                        <a:rPr lang="es-ES" sz="1800" b="0" noProof="0" dirty="0">
                          <a:solidFill>
                            <a:schemeClr val="tx1"/>
                          </a:solidFill>
                        </a:rPr>
                        <a:t>0</a:t>
                      </a:r>
                      <a:endParaRPr lang="es-MX" sz="1800" b="0" noProof="0" dirty="0">
                        <a:solidFill>
                          <a:schemeClr val="tx1"/>
                        </a:solidFill>
                      </a:endParaRPr>
                    </a:p>
                  </a:txBody>
                  <a:tcPr>
                    <a:noFill/>
                  </a:tcPr>
                </a:tc>
                <a:extLst>
                  <a:ext uri="{0D108BD9-81ED-4DB2-BD59-A6C34878D82A}">
                    <a16:rowId xmlns:a16="http://schemas.microsoft.com/office/drawing/2014/main" val="766867185"/>
                  </a:ext>
                </a:extLst>
              </a:tr>
            </a:tbl>
          </a:graphicData>
        </a:graphic>
      </p:graphicFrame>
      <p:graphicFrame>
        <p:nvGraphicFramePr>
          <p:cNvPr id="5" name="Tabla 4">
            <a:extLst>
              <a:ext uri="{FF2B5EF4-FFF2-40B4-BE49-F238E27FC236}">
                <a16:creationId xmlns:a16="http://schemas.microsoft.com/office/drawing/2014/main" id="{39D644F8-954C-349F-0B30-502F49C302B0}"/>
              </a:ext>
            </a:extLst>
          </p:cNvPr>
          <p:cNvGraphicFramePr>
            <a:graphicFrameLocks noGrp="1"/>
          </p:cNvGraphicFramePr>
          <p:nvPr>
            <p:extLst>
              <p:ext uri="{D42A27DB-BD31-4B8C-83A1-F6EECF244321}">
                <p14:modId xmlns:p14="http://schemas.microsoft.com/office/powerpoint/2010/main" val="2605046530"/>
              </p:ext>
            </p:extLst>
          </p:nvPr>
        </p:nvGraphicFramePr>
        <p:xfrm>
          <a:off x="785566" y="5352921"/>
          <a:ext cx="16716870" cy="2280875"/>
        </p:xfrm>
        <a:graphic>
          <a:graphicData uri="http://schemas.openxmlformats.org/drawingml/2006/table">
            <a:tbl>
              <a:tblPr firstRow="1" bandRow="1">
                <a:tableStyleId>{5C22544A-7EE6-4342-B048-85BDC9FD1C3A}</a:tableStyleId>
              </a:tblPr>
              <a:tblGrid>
                <a:gridCol w="3343374">
                  <a:extLst>
                    <a:ext uri="{9D8B030D-6E8A-4147-A177-3AD203B41FA5}">
                      <a16:colId xmlns:a16="http://schemas.microsoft.com/office/drawing/2014/main" val="4122495543"/>
                    </a:ext>
                  </a:extLst>
                </a:gridCol>
                <a:gridCol w="3343374">
                  <a:extLst>
                    <a:ext uri="{9D8B030D-6E8A-4147-A177-3AD203B41FA5}">
                      <a16:colId xmlns:a16="http://schemas.microsoft.com/office/drawing/2014/main" val="1550966259"/>
                    </a:ext>
                  </a:extLst>
                </a:gridCol>
                <a:gridCol w="3343374">
                  <a:extLst>
                    <a:ext uri="{9D8B030D-6E8A-4147-A177-3AD203B41FA5}">
                      <a16:colId xmlns:a16="http://schemas.microsoft.com/office/drawing/2014/main" val="754553552"/>
                    </a:ext>
                  </a:extLst>
                </a:gridCol>
                <a:gridCol w="3343374">
                  <a:extLst>
                    <a:ext uri="{9D8B030D-6E8A-4147-A177-3AD203B41FA5}">
                      <a16:colId xmlns:a16="http://schemas.microsoft.com/office/drawing/2014/main" val="2386725391"/>
                    </a:ext>
                  </a:extLst>
                </a:gridCol>
                <a:gridCol w="3343374">
                  <a:extLst>
                    <a:ext uri="{9D8B030D-6E8A-4147-A177-3AD203B41FA5}">
                      <a16:colId xmlns:a16="http://schemas.microsoft.com/office/drawing/2014/main" val="4022324379"/>
                    </a:ext>
                  </a:extLst>
                </a:gridCol>
              </a:tblGrid>
              <a:tr h="426675">
                <a:tc gridSpan="5">
                  <a:txBody>
                    <a:bodyPr/>
                    <a:lstStyle/>
                    <a:p>
                      <a:pPr algn="ctr"/>
                      <a:r>
                        <a:rPr lang="es-ES" noProof="0" dirty="0">
                          <a:solidFill>
                            <a:schemeClr val="tx1"/>
                          </a:solidFill>
                        </a:rPr>
                        <a:t>VERACRUZ</a:t>
                      </a:r>
                      <a:endParaRPr lang="es-MX" noProof="0" dirty="0">
                        <a:solidFill>
                          <a:schemeClr val="tx1"/>
                        </a:solidFill>
                      </a:endParaRPr>
                    </a:p>
                  </a:txBody>
                  <a:tcPr>
                    <a:noFill/>
                  </a:tcPr>
                </a:tc>
                <a:tc hMerge="1">
                  <a:txBody>
                    <a:bodyPr/>
                    <a:lstStyle/>
                    <a:p>
                      <a:pPr algn="ctr"/>
                      <a:endParaRPr lang="es-MX" noProof="0" dirty="0"/>
                    </a:p>
                  </a:txBody>
                  <a:tcPr/>
                </a:tc>
                <a:tc hMerge="1">
                  <a:txBody>
                    <a:bodyPr/>
                    <a:lstStyle/>
                    <a:p>
                      <a:endParaRPr lang="es-MX"/>
                    </a:p>
                  </a:txBody>
                  <a:tcPr/>
                </a:tc>
                <a:tc hMerge="1">
                  <a:txBody>
                    <a:bodyPr/>
                    <a:lstStyle/>
                    <a:p>
                      <a:pPr algn="ctr"/>
                      <a:endParaRPr lang="es-MX" noProof="0" dirty="0"/>
                    </a:p>
                  </a:txBody>
                  <a:tcPr/>
                </a:tc>
                <a:tc hMerge="1">
                  <a:txBody>
                    <a:bodyPr/>
                    <a:lstStyle/>
                    <a:p>
                      <a:endParaRPr lang="es-MX"/>
                    </a:p>
                  </a:txBody>
                  <a:tcPr/>
                </a:tc>
                <a:extLst>
                  <a:ext uri="{0D108BD9-81ED-4DB2-BD59-A6C34878D82A}">
                    <a16:rowId xmlns:a16="http://schemas.microsoft.com/office/drawing/2014/main" val="564390209"/>
                  </a:ext>
                </a:extLst>
              </a:tr>
              <a:tr h="370840">
                <a:tc>
                  <a:txBody>
                    <a:bodyPr/>
                    <a:lstStyle/>
                    <a:p>
                      <a:endParaRPr lang="es-MX" noProof="0" dirty="0"/>
                    </a:p>
                  </a:txBody>
                  <a:tcPr>
                    <a:noFill/>
                  </a:tcPr>
                </a:tc>
                <a:tc gridSpan="2">
                  <a:txBody>
                    <a:bodyPr/>
                    <a:lstStyle/>
                    <a:p>
                      <a:pPr algn="ctr"/>
                      <a:r>
                        <a:rPr lang="es-ES" b="1" noProof="0" dirty="0">
                          <a:solidFill>
                            <a:schemeClr val="bg1"/>
                          </a:solidFill>
                        </a:rPr>
                        <a:t>ENERO</a:t>
                      </a:r>
                      <a:endParaRPr lang="es-MX" b="1" noProof="0" dirty="0">
                        <a:solidFill>
                          <a:schemeClr val="bg1"/>
                        </a:solidFill>
                      </a:endParaRPr>
                    </a:p>
                  </a:txBody>
                  <a:tcPr>
                    <a:solidFill>
                      <a:schemeClr val="accent1"/>
                    </a:solidFill>
                  </a:tcPr>
                </a:tc>
                <a:tc hMerge="1">
                  <a:txBody>
                    <a:bodyPr/>
                    <a:lstStyle/>
                    <a:p>
                      <a:endParaRPr lang="es-MX"/>
                    </a:p>
                  </a:txBody>
                  <a:tcPr/>
                </a:tc>
                <a:tc gridSpan="2">
                  <a:txBody>
                    <a:bodyPr/>
                    <a:lstStyle/>
                    <a:p>
                      <a:pPr algn="ctr"/>
                      <a:r>
                        <a:rPr lang="es-ES" b="1" noProof="0" dirty="0">
                          <a:solidFill>
                            <a:schemeClr val="bg1"/>
                          </a:solidFill>
                        </a:rPr>
                        <a:t>FEBRERO</a:t>
                      </a:r>
                      <a:endParaRPr lang="es-MX" b="1" noProof="0" dirty="0">
                        <a:solidFill>
                          <a:schemeClr val="bg1"/>
                        </a:solidFill>
                      </a:endParaRPr>
                    </a:p>
                  </a:txBody>
                  <a:tcPr>
                    <a:solidFill>
                      <a:schemeClr val="accent1"/>
                    </a:solidFill>
                  </a:tcPr>
                </a:tc>
                <a:tc hMerge="1">
                  <a:txBody>
                    <a:bodyPr/>
                    <a:lstStyle/>
                    <a:p>
                      <a:endParaRPr lang="es-MX"/>
                    </a:p>
                  </a:txBody>
                  <a:tcPr/>
                </a:tc>
                <a:extLst>
                  <a:ext uri="{0D108BD9-81ED-4DB2-BD59-A6C34878D82A}">
                    <a16:rowId xmlns:a16="http://schemas.microsoft.com/office/drawing/2014/main" val="2921361359"/>
                  </a:ext>
                </a:extLst>
              </a:tr>
              <a:tr h="370840">
                <a:tc>
                  <a:txBody>
                    <a:bodyPr/>
                    <a:lstStyle/>
                    <a:p>
                      <a:endParaRPr lang="es-MX" noProof="0" dirty="0"/>
                    </a:p>
                  </a:txBody>
                  <a:tcPr>
                    <a:noFill/>
                  </a:tcPr>
                </a:tc>
                <a:tc gridSpan="2">
                  <a:txBody>
                    <a:bodyPr/>
                    <a:lstStyle/>
                    <a:p>
                      <a:pPr algn="ctr"/>
                      <a:r>
                        <a:rPr lang="es-MX" b="1" noProof="0" dirty="0">
                          <a:solidFill>
                            <a:schemeClr val="bg1"/>
                          </a:solidFill>
                        </a:rPr>
                        <a:t>IMPUTABLE A:</a:t>
                      </a:r>
                    </a:p>
                  </a:txBody>
                  <a:tcPr>
                    <a:solidFill>
                      <a:schemeClr val="accent1"/>
                    </a:solidFill>
                  </a:tcPr>
                </a:tc>
                <a:tc hMerge="1">
                  <a:txBody>
                    <a:bodyPr/>
                    <a:lstStyle/>
                    <a:p>
                      <a:endParaRPr lang="es-MX"/>
                    </a:p>
                  </a:txBody>
                  <a:tcPr/>
                </a:tc>
                <a:tc gridSpan="2">
                  <a:txBody>
                    <a:bodyPr/>
                    <a:lstStyle/>
                    <a:p>
                      <a:pPr algn="ctr"/>
                      <a:r>
                        <a:rPr lang="es-MX" b="1" noProof="0" dirty="0">
                          <a:solidFill>
                            <a:schemeClr val="bg1"/>
                          </a:solidFill>
                        </a:rPr>
                        <a:t>IMPUTABLE A:</a:t>
                      </a:r>
                    </a:p>
                  </a:txBody>
                  <a:tcPr>
                    <a:solidFill>
                      <a:schemeClr val="accent1"/>
                    </a:solidFill>
                  </a:tcPr>
                </a:tc>
                <a:tc hMerge="1">
                  <a:txBody>
                    <a:bodyPr/>
                    <a:lstStyle/>
                    <a:p>
                      <a:endParaRPr lang="es-MX"/>
                    </a:p>
                  </a:txBody>
                  <a:tcPr/>
                </a:tc>
                <a:extLst>
                  <a:ext uri="{0D108BD9-81ED-4DB2-BD59-A6C34878D82A}">
                    <a16:rowId xmlns:a16="http://schemas.microsoft.com/office/drawing/2014/main" val="20315035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b="1" noProof="0" dirty="0">
                          <a:solidFill>
                            <a:schemeClr val="bg1"/>
                          </a:solidFill>
                        </a:rPr>
                        <a:t>Motivo de retraso</a:t>
                      </a:r>
                    </a:p>
                  </a:txBody>
                  <a:tcPr>
                    <a:solidFill>
                      <a:schemeClr val="accent1"/>
                    </a:solidFill>
                  </a:tcPr>
                </a:tc>
                <a:tc>
                  <a:txBody>
                    <a:bodyPr/>
                    <a:lstStyle/>
                    <a:p>
                      <a:pPr algn="ctr"/>
                      <a:r>
                        <a:rPr lang="es-MX" b="1" noProof="0" dirty="0">
                          <a:solidFill>
                            <a:schemeClr val="bg1"/>
                          </a:solidFill>
                        </a:rPr>
                        <a:t>ABC</a:t>
                      </a:r>
                    </a:p>
                  </a:txBody>
                  <a:tcPr>
                    <a:solidFill>
                      <a:schemeClr val="accent1"/>
                    </a:solidFill>
                  </a:tcPr>
                </a:tc>
                <a:tc>
                  <a:txBody>
                    <a:bodyPr/>
                    <a:lstStyle/>
                    <a:p>
                      <a:pPr algn="ctr"/>
                      <a:r>
                        <a:rPr lang="es-MX" b="1" noProof="0" dirty="0">
                          <a:solidFill>
                            <a:schemeClr val="bg1"/>
                          </a:solidFill>
                        </a:rPr>
                        <a:t>CLIENTE</a:t>
                      </a:r>
                    </a:p>
                  </a:txBody>
                  <a:tcPr>
                    <a:solidFill>
                      <a:schemeClr val="accent1"/>
                    </a:solidFill>
                  </a:tcPr>
                </a:tc>
                <a:tc>
                  <a:txBody>
                    <a:bodyPr/>
                    <a:lstStyle/>
                    <a:p>
                      <a:pPr algn="ctr"/>
                      <a:r>
                        <a:rPr lang="es-MX" b="1" noProof="0" dirty="0">
                          <a:solidFill>
                            <a:schemeClr val="bg1"/>
                          </a:solidFill>
                        </a:rPr>
                        <a:t>ABC</a:t>
                      </a:r>
                    </a:p>
                  </a:txBody>
                  <a:tcPr>
                    <a:solidFill>
                      <a:schemeClr val="accent1"/>
                    </a:solidFill>
                  </a:tcPr>
                </a:tc>
                <a:tc>
                  <a:txBody>
                    <a:bodyPr/>
                    <a:lstStyle/>
                    <a:p>
                      <a:pPr algn="ctr"/>
                      <a:r>
                        <a:rPr lang="es-MX" b="1" noProof="0" dirty="0">
                          <a:solidFill>
                            <a:schemeClr val="bg1"/>
                          </a:solidFill>
                        </a:rPr>
                        <a:t>CLIENTE</a:t>
                      </a:r>
                    </a:p>
                  </a:txBody>
                  <a:tcPr>
                    <a:solidFill>
                      <a:schemeClr val="accent1"/>
                    </a:solidFill>
                  </a:tcPr>
                </a:tc>
                <a:extLst>
                  <a:ext uri="{0D108BD9-81ED-4DB2-BD59-A6C34878D82A}">
                    <a16:rowId xmlns:a16="http://schemas.microsoft.com/office/drawing/2014/main" val="8763273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0" dirty="0"/>
                        <a:t>ESPACIO EN EL ALMACEN</a:t>
                      </a:r>
                      <a:endParaRPr lang="es-MX" noProof="0" dirty="0"/>
                    </a:p>
                  </a:txBody>
                  <a:tcPr/>
                </a:tc>
                <a:tc>
                  <a:txBody>
                    <a:bodyPr/>
                    <a:lstStyle/>
                    <a:p>
                      <a:pPr algn="ctr"/>
                      <a:r>
                        <a:rPr lang="es-MX" noProof="0" dirty="0"/>
                        <a:t>0</a:t>
                      </a:r>
                    </a:p>
                  </a:txBody>
                  <a:tcPr>
                    <a:solidFill>
                      <a:srgbClr val="FFFFFF"/>
                    </a:solidFill>
                  </a:tcPr>
                </a:tc>
                <a:tc>
                  <a:txBody>
                    <a:bodyPr/>
                    <a:lstStyle/>
                    <a:p>
                      <a:pPr algn="ctr"/>
                      <a:r>
                        <a:rPr lang="es-ES" noProof="0" dirty="0">
                          <a:solidFill>
                            <a:schemeClr val="bg1"/>
                          </a:solidFill>
                        </a:rPr>
                        <a:t>3</a:t>
                      </a:r>
                      <a:endParaRPr lang="es-MX" noProof="0" dirty="0">
                        <a:solidFill>
                          <a:schemeClr val="bg1"/>
                        </a:solidFill>
                      </a:endParaRPr>
                    </a:p>
                  </a:txBody>
                  <a:tcPr>
                    <a:solidFill>
                      <a:schemeClr val="tx2"/>
                    </a:solidFill>
                  </a:tcPr>
                </a:tc>
                <a:tc>
                  <a:txBody>
                    <a:bodyPr/>
                    <a:lstStyle/>
                    <a:p>
                      <a:pPr algn="ctr"/>
                      <a:r>
                        <a:rPr lang="es-MX" noProof="0" dirty="0"/>
                        <a:t>0</a:t>
                      </a:r>
                    </a:p>
                  </a:txBody>
                  <a:tcPr>
                    <a:solidFill>
                      <a:srgbClr val="FFFFFF"/>
                    </a:solidFill>
                  </a:tcPr>
                </a:tc>
                <a:tc>
                  <a:txBody>
                    <a:bodyPr/>
                    <a:lstStyle/>
                    <a:p>
                      <a:pPr algn="ctr"/>
                      <a:r>
                        <a:rPr lang="es-ES" noProof="0" dirty="0">
                          <a:solidFill>
                            <a:schemeClr val="bg1"/>
                          </a:solidFill>
                        </a:rPr>
                        <a:t>5</a:t>
                      </a:r>
                      <a:endParaRPr lang="es-MX" noProof="0" dirty="0">
                        <a:solidFill>
                          <a:schemeClr val="bg1"/>
                        </a:solidFill>
                      </a:endParaRPr>
                    </a:p>
                  </a:txBody>
                  <a:tcPr>
                    <a:solidFill>
                      <a:schemeClr val="tx2"/>
                    </a:solidFill>
                  </a:tcPr>
                </a:tc>
                <a:extLst>
                  <a:ext uri="{0D108BD9-81ED-4DB2-BD59-A6C34878D82A}">
                    <a16:rowId xmlns:a16="http://schemas.microsoft.com/office/drawing/2014/main" val="20306785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0" dirty="0"/>
                        <a:t>REGULACIÓN</a:t>
                      </a:r>
                      <a:endParaRPr lang="es-MX" noProof="0" dirty="0"/>
                    </a:p>
                  </a:txBody>
                  <a:tcPr/>
                </a:tc>
                <a:tc>
                  <a:txBody>
                    <a:bodyPr/>
                    <a:lstStyle/>
                    <a:p>
                      <a:pPr algn="ctr"/>
                      <a:r>
                        <a:rPr lang="es-ES" noProof="0" dirty="0">
                          <a:solidFill>
                            <a:schemeClr val="tx1"/>
                          </a:solidFill>
                        </a:rPr>
                        <a:t>0</a:t>
                      </a:r>
                      <a:endParaRPr lang="es-MX" noProof="0" dirty="0">
                        <a:solidFill>
                          <a:schemeClr val="tx1"/>
                        </a:solidFill>
                      </a:endParaRPr>
                    </a:p>
                  </a:txBody>
                  <a:tcPr>
                    <a:solidFill>
                      <a:schemeClr val="bg1"/>
                    </a:solidFill>
                  </a:tcPr>
                </a:tc>
                <a:tc>
                  <a:txBody>
                    <a:bodyPr/>
                    <a:lstStyle/>
                    <a:p>
                      <a:pPr algn="ctr"/>
                      <a:r>
                        <a:rPr lang="es-ES" noProof="0" dirty="0">
                          <a:solidFill>
                            <a:schemeClr val="tx1"/>
                          </a:solidFill>
                        </a:rPr>
                        <a:t>0</a:t>
                      </a:r>
                      <a:endParaRPr lang="es-MX" noProof="0" dirty="0">
                        <a:solidFill>
                          <a:schemeClr val="tx1"/>
                        </a:solidFill>
                      </a:endParaRPr>
                    </a:p>
                  </a:txBody>
                  <a:tcPr>
                    <a:solidFill>
                      <a:schemeClr val="bg1"/>
                    </a:solidFill>
                  </a:tcPr>
                </a:tc>
                <a:tc>
                  <a:txBody>
                    <a:bodyPr/>
                    <a:lstStyle/>
                    <a:p>
                      <a:pPr algn="ctr"/>
                      <a:r>
                        <a:rPr lang="es-ES" noProof="0" dirty="0">
                          <a:solidFill>
                            <a:schemeClr val="tx1"/>
                          </a:solidFill>
                        </a:rPr>
                        <a:t>0</a:t>
                      </a:r>
                      <a:endParaRPr lang="es-MX" noProof="0" dirty="0">
                        <a:solidFill>
                          <a:schemeClr val="tx1"/>
                        </a:solidFill>
                      </a:endParaRPr>
                    </a:p>
                  </a:txBody>
                  <a:tcPr>
                    <a:noFill/>
                  </a:tcPr>
                </a:tc>
                <a:tc>
                  <a:txBody>
                    <a:bodyPr/>
                    <a:lstStyle/>
                    <a:p>
                      <a:pPr algn="ctr"/>
                      <a:r>
                        <a:rPr lang="es-ES" noProof="0" dirty="0">
                          <a:solidFill>
                            <a:schemeClr val="bg1"/>
                          </a:solidFill>
                        </a:rPr>
                        <a:t>2</a:t>
                      </a:r>
                      <a:endParaRPr lang="es-MX" noProof="0" dirty="0">
                        <a:solidFill>
                          <a:schemeClr val="bg1"/>
                        </a:solidFill>
                      </a:endParaRPr>
                    </a:p>
                  </a:txBody>
                  <a:tcPr>
                    <a:solidFill>
                      <a:schemeClr val="tx2"/>
                    </a:solidFill>
                  </a:tcPr>
                </a:tc>
                <a:extLst>
                  <a:ext uri="{0D108BD9-81ED-4DB2-BD59-A6C34878D82A}">
                    <a16:rowId xmlns:a16="http://schemas.microsoft.com/office/drawing/2014/main" val="3966466842"/>
                  </a:ext>
                </a:extLst>
              </a:tr>
            </a:tbl>
          </a:graphicData>
        </a:graphic>
      </p:graphicFrame>
    </p:spTree>
    <p:extLst>
      <p:ext uri="{BB962C8B-B14F-4D97-AF65-F5344CB8AC3E}">
        <p14:creationId xmlns:p14="http://schemas.microsoft.com/office/powerpoint/2010/main" val="3432377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8CBE-3F08-F70F-1BB1-0F7AEC1DAB93}"/>
            </a:ext>
          </a:extLst>
        </p:cNvPr>
        <p:cNvGrpSpPr/>
        <p:nvPr/>
      </p:nvGrpSpPr>
      <p:grpSpPr>
        <a:xfrm>
          <a:off x="0" y="0"/>
          <a:ext cx="0" cy="0"/>
          <a:chOff x="0" y="0"/>
          <a:chExt cx="0" cy="0"/>
        </a:xfrm>
      </p:grpSpPr>
      <p:graphicFrame>
        <p:nvGraphicFramePr>
          <p:cNvPr id="37" name="Diagrama 36">
            <a:extLst>
              <a:ext uri="{FF2B5EF4-FFF2-40B4-BE49-F238E27FC236}">
                <a16:creationId xmlns:a16="http://schemas.microsoft.com/office/drawing/2014/main" id="{B2B33BF2-4BF6-FDD5-D2AF-C1535D814F2B}"/>
              </a:ext>
            </a:extLst>
          </p:cNvPr>
          <p:cNvGraphicFramePr/>
          <p:nvPr>
            <p:extLst>
              <p:ext uri="{D42A27DB-BD31-4B8C-83A1-F6EECF244321}">
                <p14:modId xmlns:p14="http://schemas.microsoft.com/office/powerpoint/2010/main" val="2143049688"/>
              </p:ext>
            </p:extLst>
          </p:nvPr>
        </p:nvGraphicFramePr>
        <p:xfrm>
          <a:off x="1848209" y="2853474"/>
          <a:ext cx="14307318" cy="62308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reeform 2">
            <a:extLst>
              <a:ext uri="{FF2B5EF4-FFF2-40B4-BE49-F238E27FC236}">
                <a16:creationId xmlns:a16="http://schemas.microsoft.com/office/drawing/2014/main" id="{E9BA7F12-35C5-3075-D500-C00AD99AFC62}"/>
              </a:ext>
            </a:extLst>
          </p:cNvPr>
          <p:cNvSpPr/>
          <p:nvPr/>
        </p:nvSpPr>
        <p:spPr>
          <a:xfrm>
            <a:off x="-2780979" y="4984552"/>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8">
              <a:alphaModFix amt="4000"/>
              <a:extLst>
                <a:ext uri="{96DAC541-7B7A-43D3-8B79-37D633B846F1}">
                  <asvg:svgBlip xmlns:asvg="http://schemas.microsoft.com/office/drawing/2016/SVG/main" r:embed="rId9"/>
                </a:ext>
              </a:extLst>
            </a:blip>
            <a:stretch>
              <a:fillRect/>
            </a:stretch>
          </a:blipFill>
        </p:spPr>
        <p:txBody>
          <a:bodyPr/>
          <a:lstStyle/>
          <a:p>
            <a:pPr defTabSz="914445"/>
            <a:endParaRPr lang="es-MX" noProof="0" dirty="0">
              <a:solidFill>
                <a:prstClr val="black"/>
              </a:solidFill>
              <a:latin typeface="Calibri"/>
            </a:endParaRPr>
          </a:p>
        </p:txBody>
      </p:sp>
      <p:grpSp>
        <p:nvGrpSpPr>
          <p:cNvPr id="23" name="Group 23">
            <a:extLst>
              <a:ext uri="{FF2B5EF4-FFF2-40B4-BE49-F238E27FC236}">
                <a16:creationId xmlns:a16="http://schemas.microsoft.com/office/drawing/2014/main" id="{073CEE0C-52C0-5FA5-A636-7DF50077CCB1}"/>
              </a:ext>
            </a:extLst>
          </p:cNvPr>
          <p:cNvGrpSpPr/>
          <p:nvPr/>
        </p:nvGrpSpPr>
        <p:grpSpPr>
          <a:xfrm>
            <a:off x="1623731" y="9686925"/>
            <a:ext cx="15030953" cy="2314575"/>
            <a:chOff x="0" y="0"/>
            <a:chExt cx="3958769" cy="609600"/>
          </a:xfrm>
        </p:grpSpPr>
        <p:sp>
          <p:nvSpPr>
            <p:cNvPr id="24" name="Freeform 24">
              <a:extLst>
                <a:ext uri="{FF2B5EF4-FFF2-40B4-BE49-F238E27FC236}">
                  <a16:creationId xmlns:a16="http://schemas.microsoft.com/office/drawing/2014/main" id="{51317EBD-B8F3-4096-6EAB-727F08AD03C8}"/>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pPr defTabSz="914445"/>
              <a:endParaRPr lang="es-MX" noProof="0" dirty="0">
                <a:solidFill>
                  <a:prstClr val="black"/>
                </a:solidFill>
                <a:latin typeface="Calibri"/>
              </a:endParaRPr>
            </a:p>
          </p:txBody>
        </p:sp>
        <p:sp>
          <p:nvSpPr>
            <p:cNvPr id="25" name="TextBox 25">
              <a:extLst>
                <a:ext uri="{FF2B5EF4-FFF2-40B4-BE49-F238E27FC236}">
                  <a16:creationId xmlns:a16="http://schemas.microsoft.com/office/drawing/2014/main" id="{C01396E2-9913-245C-736C-94FC8ECC3FF7}"/>
                </a:ext>
              </a:extLst>
            </p:cNvPr>
            <p:cNvSpPr txBox="1"/>
            <p:nvPr/>
          </p:nvSpPr>
          <p:spPr>
            <a:xfrm>
              <a:off x="127000" y="-38100"/>
              <a:ext cx="3704769" cy="647700"/>
            </a:xfrm>
            <a:prstGeom prst="rect">
              <a:avLst/>
            </a:prstGeom>
          </p:spPr>
          <p:txBody>
            <a:bodyPr lIns="50801" tIns="50801" rIns="50801" bIns="50801" rtlCol="0" anchor="ctr"/>
            <a:lstStyle/>
            <a:p>
              <a:pPr algn="ctr" defTabSz="914445">
                <a:lnSpc>
                  <a:spcPts val="2660"/>
                </a:lnSpc>
              </a:pPr>
              <a:endParaRPr lang="es-MX" noProof="0" dirty="0">
                <a:solidFill>
                  <a:prstClr val="black"/>
                </a:solidFill>
                <a:latin typeface="Calibri"/>
              </a:endParaRPr>
            </a:p>
          </p:txBody>
        </p:sp>
      </p:grpSp>
      <p:sp>
        <p:nvSpPr>
          <p:cNvPr id="31" name="Freeform 31">
            <a:extLst>
              <a:ext uri="{FF2B5EF4-FFF2-40B4-BE49-F238E27FC236}">
                <a16:creationId xmlns:a16="http://schemas.microsoft.com/office/drawing/2014/main" id="{5F69B241-A519-5300-EC77-13CD93C394D4}"/>
              </a:ext>
            </a:extLst>
          </p:cNvPr>
          <p:cNvSpPr/>
          <p:nvPr/>
        </p:nvSpPr>
        <p:spPr>
          <a:xfrm flipV="1">
            <a:off x="-971364" y="-293221"/>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10">
              <a:extLst>
                <a:ext uri="{96DAC541-7B7A-43D3-8B79-37D633B846F1}">
                  <asvg:svgBlip xmlns:asvg="http://schemas.microsoft.com/office/drawing/2016/SVG/main" r:embed="rId11"/>
                </a:ext>
              </a:extLst>
            </a:blip>
            <a:stretch>
              <a:fillRect t="-79322" b="-82160"/>
            </a:stretch>
          </a:blipFill>
        </p:spPr>
        <p:txBody>
          <a:bodyPr/>
          <a:lstStyle/>
          <a:p>
            <a:pPr defTabSz="914445"/>
            <a:endParaRPr lang="es-MX" noProof="0" dirty="0">
              <a:solidFill>
                <a:prstClr val="black"/>
              </a:solidFill>
              <a:latin typeface="Calibri"/>
            </a:endParaRPr>
          </a:p>
        </p:txBody>
      </p:sp>
      <p:sp>
        <p:nvSpPr>
          <p:cNvPr id="32" name="Freeform 32">
            <a:extLst>
              <a:ext uri="{FF2B5EF4-FFF2-40B4-BE49-F238E27FC236}">
                <a16:creationId xmlns:a16="http://schemas.microsoft.com/office/drawing/2014/main" id="{00A8EB67-167C-AC0E-7CA4-D000D01DB16E}"/>
              </a:ext>
            </a:extLst>
          </p:cNvPr>
          <p:cNvSpPr/>
          <p:nvPr/>
        </p:nvSpPr>
        <p:spPr>
          <a:xfrm flipH="1" flipV="1">
            <a:off x="12759688" y="-293221"/>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10">
              <a:extLst>
                <a:ext uri="{96DAC541-7B7A-43D3-8B79-37D633B846F1}">
                  <asvg:svgBlip xmlns:asvg="http://schemas.microsoft.com/office/drawing/2016/SVG/main" r:embed="rId11"/>
                </a:ext>
              </a:extLst>
            </a:blip>
            <a:stretch>
              <a:fillRect t="-79322" b="-82160"/>
            </a:stretch>
          </a:blipFill>
        </p:spPr>
        <p:txBody>
          <a:bodyPr/>
          <a:lstStyle/>
          <a:p>
            <a:pPr defTabSz="914445"/>
            <a:endParaRPr lang="es-MX" noProof="0" dirty="0">
              <a:solidFill>
                <a:prstClr val="black"/>
              </a:solidFill>
              <a:latin typeface="Calibri"/>
            </a:endParaRPr>
          </a:p>
        </p:txBody>
      </p:sp>
      <p:sp>
        <p:nvSpPr>
          <p:cNvPr id="21" name="CuadroTexto 20">
            <a:extLst>
              <a:ext uri="{FF2B5EF4-FFF2-40B4-BE49-F238E27FC236}">
                <a16:creationId xmlns:a16="http://schemas.microsoft.com/office/drawing/2014/main" id="{6550906A-0910-BE30-0850-F0A768950837}"/>
              </a:ext>
            </a:extLst>
          </p:cNvPr>
          <p:cNvSpPr txBox="1"/>
          <p:nvPr/>
        </p:nvSpPr>
        <p:spPr>
          <a:xfrm>
            <a:off x="5816030" y="2138723"/>
            <a:ext cx="574196" cy="1015663"/>
          </a:xfrm>
          <a:prstGeom prst="rect">
            <a:avLst/>
          </a:prstGeom>
          <a:noFill/>
        </p:spPr>
        <p:txBody>
          <a:bodyPr wrap="none" rtlCol="0">
            <a:spAutoFit/>
          </a:bodyPr>
          <a:lstStyle/>
          <a:p>
            <a:pPr algn="ctr" defTabSz="914445"/>
            <a:r>
              <a:rPr lang="es-ES" sz="6000" dirty="0">
                <a:solidFill>
                  <a:srgbClr val="1F497D"/>
                </a:solidFill>
                <a:latin typeface="Calibri"/>
              </a:rPr>
              <a:t>2</a:t>
            </a:r>
            <a:endParaRPr lang="es-MX" sz="6000" noProof="0" dirty="0">
              <a:solidFill>
                <a:srgbClr val="1F497D"/>
              </a:solidFill>
              <a:latin typeface="Calibri"/>
            </a:endParaRPr>
          </a:p>
        </p:txBody>
      </p:sp>
      <p:sp>
        <p:nvSpPr>
          <p:cNvPr id="22" name="CuadroTexto 21">
            <a:extLst>
              <a:ext uri="{FF2B5EF4-FFF2-40B4-BE49-F238E27FC236}">
                <a16:creationId xmlns:a16="http://schemas.microsoft.com/office/drawing/2014/main" id="{D5E69B6D-323B-703B-D9A9-3D34C19217E0}"/>
              </a:ext>
            </a:extLst>
          </p:cNvPr>
          <p:cNvSpPr txBox="1"/>
          <p:nvPr/>
        </p:nvSpPr>
        <p:spPr>
          <a:xfrm>
            <a:off x="2448763" y="2169503"/>
            <a:ext cx="2809040" cy="954364"/>
          </a:xfrm>
          <a:prstGeom prst="rect">
            <a:avLst/>
          </a:prstGeom>
          <a:noFill/>
        </p:spPr>
        <p:txBody>
          <a:bodyPr wrap="square" rtlCol="0">
            <a:spAutoFit/>
          </a:bodyPr>
          <a:lstStyle/>
          <a:p>
            <a:pPr algn="ctr" defTabSz="914445"/>
            <a:r>
              <a:rPr lang="es-MX" sz="2801" noProof="0" dirty="0">
                <a:solidFill>
                  <a:prstClr val="black"/>
                </a:solidFill>
                <a:latin typeface="Calibri"/>
              </a:rPr>
              <a:t>TOTAL DE  RECTIFICACIONES</a:t>
            </a:r>
          </a:p>
        </p:txBody>
      </p:sp>
      <p:sp>
        <p:nvSpPr>
          <p:cNvPr id="28" name="CuadroTexto 27">
            <a:extLst>
              <a:ext uri="{FF2B5EF4-FFF2-40B4-BE49-F238E27FC236}">
                <a16:creationId xmlns:a16="http://schemas.microsoft.com/office/drawing/2014/main" id="{2BB0AF06-ED15-4652-6458-B6F09252700C}"/>
              </a:ext>
            </a:extLst>
          </p:cNvPr>
          <p:cNvSpPr txBox="1"/>
          <p:nvPr/>
        </p:nvSpPr>
        <p:spPr>
          <a:xfrm>
            <a:off x="8610602" y="2384945"/>
            <a:ext cx="1666655" cy="523348"/>
          </a:xfrm>
          <a:prstGeom prst="rect">
            <a:avLst/>
          </a:prstGeom>
          <a:noFill/>
        </p:spPr>
        <p:txBody>
          <a:bodyPr wrap="square" rtlCol="0">
            <a:spAutoFit/>
          </a:bodyPr>
          <a:lstStyle/>
          <a:p>
            <a:pPr algn="ctr" defTabSz="914445"/>
            <a:r>
              <a:rPr lang="es-MX" sz="2801" noProof="0" dirty="0">
                <a:solidFill>
                  <a:prstClr val="black"/>
                </a:solidFill>
                <a:latin typeface="Calibri"/>
              </a:rPr>
              <a:t>PERIODO</a:t>
            </a:r>
          </a:p>
        </p:txBody>
      </p:sp>
      <p:sp>
        <p:nvSpPr>
          <p:cNvPr id="26" name="TextBox 26">
            <a:extLst>
              <a:ext uri="{FF2B5EF4-FFF2-40B4-BE49-F238E27FC236}">
                <a16:creationId xmlns:a16="http://schemas.microsoft.com/office/drawing/2014/main" id="{851B7369-26A9-3577-3994-D92AD4A65169}"/>
              </a:ext>
            </a:extLst>
          </p:cNvPr>
          <p:cNvSpPr txBox="1"/>
          <p:nvPr/>
        </p:nvSpPr>
        <p:spPr>
          <a:xfrm>
            <a:off x="2823830" y="699965"/>
            <a:ext cx="12626489" cy="745332"/>
          </a:xfrm>
          <a:prstGeom prst="rect">
            <a:avLst/>
          </a:prstGeom>
        </p:spPr>
        <p:txBody>
          <a:bodyPr wrap="square" lIns="0" tIns="0" rIns="0" bIns="0" rtlCol="0" anchor="t">
            <a:spAutoFit/>
          </a:bodyPr>
          <a:lstStyle/>
          <a:p>
            <a:pPr algn="ctr" defTabSz="914445">
              <a:lnSpc>
                <a:spcPts val="6401"/>
              </a:lnSpc>
            </a:pPr>
            <a:r>
              <a:rPr lang="es-MX" sz="4400" b="1" noProof="0" dirty="0">
                <a:solidFill>
                  <a:srgbClr val="0F5995"/>
                </a:solidFill>
                <a:latin typeface="Open Sauce" panose="020B0604020202020204" charset="0"/>
                <a:ea typeface="Open Sauce Bold"/>
                <a:cs typeface="Open Sauce Bold"/>
                <a:sym typeface="Open Sauce Bold"/>
              </a:rPr>
              <a:t>Rectificaciones</a:t>
            </a:r>
          </a:p>
        </p:txBody>
      </p:sp>
      <p:sp>
        <p:nvSpPr>
          <p:cNvPr id="3" name="CuadroTexto 2">
            <a:extLst>
              <a:ext uri="{FF2B5EF4-FFF2-40B4-BE49-F238E27FC236}">
                <a16:creationId xmlns:a16="http://schemas.microsoft.com/office/drawing/2014/main" id="{FE966EC6-0C45-57CF-FBFE-7A715D74ED90}"/>
              </a:ext>
            </a:extLst>
          </p:cNvPr>
          <p:cNvSpPr txBox="1"/>
          <p:nvPr/>
        </p:nvSpPr>
        <p:spPr>
          <a:xfrm>
            <a:off x="10358047" y="2138723"/>
            <a:ext cx="2007729" cy="1015663"/>
          </a:xfrm>
          <a:prstGeom prst="rect">
            <a:avLst/>
          </a:prstGeom>
          <a:noFill/>
        </p:spPr>
        <p:txBody>
          <a:bodyPr wrap="none" rtlCol="0">
            <a:spAutoFit/>
          </a:bodyPr>
          <a:lstStyle/>
          <a:p>
            <a:pPr defTabSz="914445"/>
            <a:r>
              <a:rPr lang="es-MX" sz="6000" noProof="0" dirty="0">
                <a:solidFill>
                  <a:srgbClr val="1F497D"/>
                </a:solidFill>
                <a:latin typeface="Calibri"/>
              </a:rPr>
              <a:t>Enero</a:t>
            </a:r>
          </a:p>
        </p:txBody>
      </p:sp>
    </p:spTree>
    <p:extLst>
      <p:ext uri="{BB962C8B-B14F-4D97-AF65-F5344CB8AC3E}">
        <p14:creationId xmlns:p14="http://schemas.microsoft.com/office/powerpoint/2010/main" val="253413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3CE-9D2C-0696-C4DD-84E4CA7F5B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D23179-0518-ED7D-1932-6B8BFF1FB598}"/>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CB66BF33-A06E-4977-F934-07EE0BB9CB59}"/>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0C4EEC32-6BC6-54F0-FCCA-89AA7089B3B8}"/>
              </a:ext>
            </a:extLst>
          </p:cNvPr>
          <p:cNvSpPr txBox="1"/>
          <p:nvPr/>
        </p:nvSpPr>
        <p:spPr>
          <a:xfrm>
            <a:off x="3505200" y="342900"/>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Tiempos promedio</a:t>
            </a:r>
          </a:p>
        </p:txBody>
      </p:sp>
      <p:sp>
        <p:nvSpPr>
          <p:cNvPr id="7" name="Freeform 7">
            <a:extLst>
              <a:ext uri="{FF2B5EF4-FFF2-40B4-BE49-F238E27FC236}">
                <a16:creationId xmlns:a16="http://schemas.microsoft.com/office/drawing/2014/main" id="{82718EA7-8212-F366-4017-86CACF885A65}"/>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4">
              <a:alphaModFix amt="4000"/>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CB010141-B23A-467C-284E-33C1401081E6}"/>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41526BC8-904F-8EE4-C750-F7B57B5C3AB9}"/>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A30BB848-337C-6F09-5BDE-88D08FD7027C}"/>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A5D0BB08-B019-4200-48CF-FED8A6953476}"/>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A1EB0535-A7D8-9F8A-BEFF-E7C58583CC43}"/>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6" name="Gráfico 5">
            <a:extLst>
              <a:ext uri="{FF2B5EF4-FFF2-40B4-BE49-F238E27FC236}">
                <a16:creationId xmlns:a16="http://schemas.microsoft.com/office/drawing/2014/main" id="{FC7FD014-9E9E-B9F3-F626-2D75BE097E35}"/>
              </a:ext>
            </a:extLst>
          </p:cNvPr>
          <p:cNvGraphicFramePr>
            <a:graphicFrameLocks/>
          </p:cNvGraphicFramePr>
          <p:nvPr>
            <p:extLst>
              <p:ext uri="{D42A27DB-BD31-4B8C-83A1-F6EECF244321}">
                <p14:modId xmlns:p14="http://schemas.microsoft.com/office/powerpoint/2010/main" val="182633080"/>
              </p:ext>
            </p:extLst>
          </p:nvPr>
        </p:nvGraphicFramePr>
        <p:xfrm>
          <a:off x="381000" y="2729390"/>
          <a:ext cx="7649689" cy="656918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9" name="Gráfico 8">
            <a:extLst>
              <a:ext uri="{FF2B5EF4-FFF2-40B4-BE49-F238E27FC236}">
                <a16:creationId xmlns:a16="http://schemas.microsoft.com/office/drawing/2014/main" id="{50BDF507-E2D6-3A72-FD5F-DCA5C500B651}"/>
              </a:ext>
            </a:extLst>
          </p:cNvPr>
          <p:cNvGraphicFramePr>
            <a:graphicFrameLocks/>
          </p:cNvGraphicFramePr>
          <p:nvPr>
            <p:extLst>
              <p:ext uri="{D42A27DB-BD31-4B8C-83A1-F6EECF244321}">
                <p14:modId xmlns:p14="http://schemas.microsoft.com/office/powerpoint/2010/main" val="2648434769"/>
              </p:ext>
            </p:extLst>
          </p:nvPr>
        </p:nvGraphicFramePr>
        <p:xfrm>
          <a:off x="7714440" y="2729390"/>
          <a:ext cx="10744200" cy="5861658"/>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1899524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839AF-9EE9-8654-DE63-C2940A184D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857C32-9086-B8A3-9E72-EDFC878F266B}"/>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B736190B-5071-791A-60AC-20F4DD55D08E}"/>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A4B2B9CA-47E4-C8B3-7489-09274E3A2523}"/>
              </a:ext>
            </a:extLst>
          </p:cNvPr>
          <p:cNvSpPr txBox="1"/>
          <p:nvPr/>
        </p:nvSpPr>
        <p:spPr>
          <a:xfrm>
            <a:off x="3505200" y="342900"/>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Tiempos promedio</a:t>
            </a:r>
          </a:p>
        </p:txBody>
      </p:sp>
      <p:sp>
        <p:nvSpPr>
          <p:cNvPr id="7" name="Freeform 7">
            <a:extLst>
              <a:ext uri="{FF2B5EF4-FFF2-40B4-BE49-F238E27FC236}">
                <a16:creationId xmlns:a16="http://schemas.microsoft.com/office/drawing/2014/main" id="{CAF1107A-43F2-8276-0EBF-C445F05E98F7}"/>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4">
              <a:alphaModFix amt="4000"/>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417CF22B-92D7-CDFB-85BA-B1E9F6B33E27}"/>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494C960C-3F15-4C5B-2F87-903F777A91BA}"/>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38C1B8A7-A24E-6A59-816E-648EA367901B}"/>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BE2094CA-256C-64F6-2E61-D06391B01B9E}"/>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BA2F3E97-D87E-1FC4-DBF7-E46D982FA313}"/>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5" name="Gráfico 4">
            <a:extLst>
              <a:ext uri="{FF2B5EF4-FFF2-40B4-BE49-F238E27FC236}">
                <a16:creationId xmlns:a16="http://schemas.microsoft.com/office/drawing/2014/main" id="{FF4B155E-CE93-333F-4BEA-4ED96424C8E2}"/>
              </a:ext>
            </a:extLst>
          </p:cNvPr>
          <p:cNvGraphicFramePr>
            <a:graphicFrameLocks/>
          </p:cNvGraphicFramePr>
          <p:nvPr>
            <p:extLst>
              <p:ext uri="{D42A27DB-BD31-4B8C-83A1-F6EECF244321}">
                <p14:modId xmlns:p14="http://schemas.microsoft.com/office/powerpoint/2010/main" val="2404982730"/>
              </p:ext>
            </p:extLst>
          </p:nvPr>
        </p:nvGraphicFramePr>
        <p:xfrm>
          <a:off x="837074" y="2247900"/>
          <a:ext cx="7621126" cy="655319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9" name="Gráfico 8">
            <a:extLst>
              <a:ext uri="{FF2B5EF4-FFF2-40B4-BE49-F238E27FC236}">
                <a16:creationId xmlns:a16="http://schemas.microsoft.com/office/drawing/2014/main" id="{69485B21-1979-FDF4-BB74-CFFA9157E448}"/>
              </a:ext>
            </a:extLst>
          </p:cNvPr>
          <p:cNvGraphicFramePr>
            <a:graphicFrameLocks/>
          </p:cNvGraphicFramePr>
          <p:nvPr>
            <p:extLst>
              <p:ext uri="{D42A27DB-BD31-4B8C-83A1-F6EECF244321}">
                <p14:modId xmlns:p14="http://schemas.microsoft.com/office/powerpoint/2010/main" val="2799889678"/>
              </p:ext>
            </p:extLst>
          </p:nvPr>
        </p:nvGraphicFramePr>
        <p:xfrm>
          <a:off x="8610666" y="2251791"/>
          <a:ext cx="8790813" cy="6549307"/>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257886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4161-36FF-BDF0-C92B-514945FF9B7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8B2008E-2954-8DDD-FD99-85195BEC14C9}"/>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372C75E0-8542-66F7-72C5-138F44037E4A}"/>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8CB9FE2D-8F0D-5789-072F-6D86CC5E50D2}"/>
              </a:ext>
            </a:extLst>
          </p:cNvPr>
          <p:cNvSpPr txBox="1"/>
          <p:nvPr/>
        </p:nvSpPr>
        <p:spPr>
          <a:xfrm>
            <a:off x="3602422" y="1227320"/>
            <a:ext cx="11125200" cy="1775038"/>
          </a:xfrm>
          <a:prstGeom prst="rect">
            <a:avLst/>
          </a:prstGeom>
        </p:spPr>
        <p:txBody>
          <a:bodyPr wrap="square" lIns="0" tIns="0" rIns="0" bIns="0" rtlCol="0" anchor="t">
            <a:spAutoFit/>
          </a:bodyPr>
          <a:lstStyle/>
          <a:p>
            <a:pPr algn="ctr">
              <a:lnSpc>
                <a:spcPts val="7206"/>
              </a:lnSpc>
            </a:pPr>
            <a:r>
              <a:rPr lang="es-MX" sz="5400" b="1" noProof="0" dirty="0">
                <a:solidFill>
                  <a:srgbClr val="0F5995"/>
                </a:solidFill>
                <a:latin typeface="Open Sauce Bold"/>
                <a:ea typeface="Open Sauce Bold"/>
                <a:cs typeface="Open Sauce Bold"/>
                <a:sym typeface="Open Sauce Bold"/>
              </a:rPr>
              <a:t>Estatus de los estados de cuenta</a:t>
            </a:r>
          </a:p>
        </p:txBody>
      </p:sp>
      <p:sp>
        <p:nvSpPr>
          <p:cNvPr id="7" name="Freeform 7">
            <a:extLst>
              <a:ext uri="{FF2B5EF4-FFF2-40B4-BE49-F238E27FC236}">
                <a16:creationId xmlns:a16="http://schemas.microsoft.com/office/drawing/2014/main" id="{31354AB7-2D9A-DDE3-DC0D-49EDBBE91BD0}"/>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4">
              <a:alphaModFix amt="4000"/>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A4AAE0DE-16B3-CB34-9C8E-B8194A9B6ED2}"/>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861E9C7E-961A-539A-D7F2-4654EEA5893A}"/>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03BB8672-E742-2540-9851-0210C86B4E5B}"/>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3AD94FB0-0621-DA90-7B19-55994C563E4F}"/>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C29AE8D3-A08A-15EC-7E4D-02D79D575917}"/>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5" name="Gráfico 4">
            <a:extLst>
              <a:ext uri="{FF2B5EF4-FFF2-40B4-BE49-F238E27FC236}">
                <a16:creationId xmlns:a16="http://schemas.microsoft.com/office/drawing/2014/main" id="{28966B0A-B973-5788-AA5E-438F0FBF1B87}"/>
              </a:ext>
            </a:extLst>
          </p:cNvPr>
          <p:cNvGraphicFramePr>
            <a:graphicFrameLocks/>
          </p:cNvGraphicFramePr>
          <p:nvPr>
            <p:extLst>
              <p:ext uri="{D42A27DB-BD31-4B8C-83A1-F6EECF244321}">
                <p14:modId xmlns:p14="http://schemas.microsoft.com/office/powerpoint/2010/main" val="4138679606"/>
              </p:ext>
            </p:extLst>
          </p:nvPr>
        </p:nvGraphicFramePr>
        <p:xfrm>
          <a:off x="4626753" y="2761278"/>
          <a:ext cx="9034494" cy="6595359"/>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707284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8CB14-F318-6D0C-2D0E-1FA39DFFCAD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E07596D-7D3C-190A-0292-2A94940CDC86}"/>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2578F3CC-4378-63B1-D152-688CAD6B7F9C}"/>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3AAA7A7D-1B9B-B381-DF94-F61866C5AFE3}"/>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7BE9F00A-3CE6-9CC8-D01E-98FB26D96A3C}"/>
              </a:ext>
            </a:extLst>
          </p:cNvPr>
          <p:cNvSpPr txBox="1"/>
          <p:nvPr/>
        </p:nvSpPr>
        <p:spPr>
          <a:xfrm>
            <a:off x="2073976" y="2037746"/>
            <a:ext cx="14140049" cy="497380"/>
          </a:xfrm>
          <a:prstGeom prst="rect">
            <a:avLst/>
          </a:prstGeom>
        </p:spPr>
        <p:txBody>
          <a:bodyPr lIns="0" tIns="0" rIns="0" bIns="0" rtlCol="0" anchor="t">
            <a:spAutoFit/>
          </a:bodyPr>
          <a:lstStyle/>
          <a:p>
            <a:pPr algn="ctr">
              <a:lnSpc>
                <a:spcPts val="3680"/>
              </a:lnSpc>
              <a:spcBef>
                <a:spcPct val="0"/>
              </a:spcBef>
            </a:pPr>
            <a:r>
              <a:rPr lang="es-MX" sz="4800" noProof="0" dirty="0">
                <a:solidFill>
                  <a:srgbClr val="000000"/>
                </a:solidFill>
                <a:latin typeface="Open Sauce"/>
                <a:ea typeface="Open Sauce"/>
                <a:cs typeface="Open Sauce"/>
                <a:sym typeface="Open Sauce"/>
              </a:rPr>
              <a:t>Manifestación de Valor Electrónica</a:t>
            </a:r>
          </a:p>
        </p:txBody>
      </p:sp>
      <p:sp>
        <p:nvSpPr>
          <p:cNvPr id="31" name="Freeform 31">
            <a:extLst>
              <a:ext uri="{FF2B5EF4-FFF2-40B4-BE49-F238E27FC236}">
                <a16:creationId xmlns:a16="http://schemas.microsoft.com/office/drawing/2014/main" id="{B9C976A7-CBE9-CC69-0D1F-8016A93F1103}"/>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8CFF3013-0B63-7D4C-F6E4-69932F49C83E}"/>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CFE38A37-4E00-69F3-51AC-DDD0CCFD395F}"/>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8A310D9F-E1EE-F4A9-B77B-CB6E13313611}"/>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B4F0B953-1442-3A92-0B89-FEE198F623DB}"/>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F5D1B3C9-33E3-D0B1-B338-130D4EFFAE39}"/>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9D6191D3-7615-68F8-4654-798CFA9F6048}"/>
              </a:ext>
            </a:extLst>
          </p:cNvPr>
          <p:cNvSpPr txBox="1"/>
          <p:nvPr/>
        </p:nvSpPr>
        <p:spPr>
          <a:xfrm>
            <a:off x="2281206" y="2857955"/>
            <a:ext cx="13716000" cy="11026929"/>
          </a:xfrm>
          <a:prstGeom prst="rect">
            <a:avLst/>
          </a:prstGeom>
        </p:spPr>
        <p:txBody>
          <a:bodyPr wrap="square" lIns="0" tIns="0" rIns="0" bIns="0" rtlCol="0" anchor="t">
            <a:spAutoFit/>
          </a:bodyPr>
          <a:lstStyle/>
          <a:p>
            <a:pPr marL="342900" indent="-342900" algn="just">
              <a:lnSpc>
                <a:spcPct val="15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Publicación de versión anticipada RGCE 08/12/2025 que permite seguir utilizando la MV impresa y su hoja de  cálculo. </a:t>
            </a:r>
          </a:p>
          <a:p>
            <a:pPr algn="just">
              <a:lnSpc>
                <a:spcPct val="150000"/>
              </a:lnSpc>
              <a:spcBef>
                <a:spcPct val="0"/>
              </a:spcBef>
            </a:pPr>
            <a:r>
              <a:rPr lang="es-MX" sz="2800" b="1" noProof="0" dirty="0">
                <a:solidFill>
                  <a:schemeClr val="tx2"/>
                </a:solidFill>
                <a:latin typeface="Open Sauce"/>
                <a:ea typeface="Open Sauce"/>
                <a:cs typeface="Open Sauce"/>
                <a:sym typeface="Open Sauce"/>
              </a:rPr>
              <a:t>   Convivencia entre MVE y MV impresa hasta al 31/03/2026.</a:t>
            </a:r>
          </a:p>
          <a:p>
            <a:pPr algn="just">
              <a:lnSpc>
                <a:spcPct val="150000"/>
              </a:lnSpc>
              <a:spcBef>
                <a:spcPct val="0"/>
              </a:spcBef>
            </a:pPr>
            <a:endParaRPr lang="es-MX" sz="2800" b="1" noProof="0" dirty="0">
              <a:solidFill>
                <a:schemeClr val="tx2"/>
              </a:solidFill>
              <a:latin typeface="Open Sauce"/>
              <a:ea typeface="Open Sauce"/>
              <a:cs typeface="Open Sauce"/>
              <a:sym typeface="Open Sauce"/>
            </a:endParaRPr>
          </a:p>
          <a:p>
            <a:pPr marL="342900" indent="-342900" algn="just">
              <a:lnSpc>
                <a:spcPct val="15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MVE exigible para el 1 de abril 2026.</a:t>
            </a:r>
          </a:p>
          <a:p>
            <a:pPr algn="just">
              <a:lnSpc>
                <a:spcPct val="150000"/>
              </a:lnSpc>
              <a:spcBef>
                <a:spcPct val="0"/>
              </a:spcBef>
            </a:pPr>
            <a:endParaRPr lang="es-MX" sz="2800" b="1" noProof="0" dirty="0">
              <a:solidFill>
                <a:schemeClr val="tx2"/>
              </a:solidFill>
              <a:latin typeface="Open Sauce"/>
              <a:ea typeface="Open Sauce"/>
              <a:cs typeface="Open Sauce"/>
              <a:sym typeface="Open Sauce"/>
            </a:endParaRPr>
          </a:p>
          <a:p>
            <a:pPr marL="342900" indent="-342900" algn="just">
              <a:lnSpc>
                <a:spcPct val="15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Pendientes:</a:t>
            </a:r>
          </a:p>
          <a:p>
            <a:pPr algn="just">
              <a:lnSpc>
                <a:spcPct val="150000"/>
              </a:lnSpc>
              <a:spcBef>
                <a:spcPct val="0"/>
              </a:spcBef>
            </a:pPr>
            <a:r>
              <a:rPr lang="es-MX" sz="2800" b="1" noProof="0" dirty="0">
                <a:solidFill>
                  <a:schemeClr val="tx2"/>
                </a:solidFill>
                <a:latin typeface="Open Sauce"/>
                <a:ea typeface="Open Sauce"/>
                <a:cs typeface="Open Sauce"/>
                <a:sym typeface="Open Sauce"/>
              </a:rPr>
              <a:t>	1. Firma de Responsiva de uso de sellos digitales.</a:t>
            </a:r>
          </a:p>
          <a:p>
            <a:pPr algn="just">
              <a:lnSpc>
                <a:spcPct val="150000"/>
              </a:lnSpc>
              <a:spcBef>
                <a:spcPct val="0"/>
              </a:spcBef>
            </a:pPr>
            <a:r>
              <a:rPr lang="es-MX" sz="2800" b="1" noProof="0" dirty="0">
                <a:solidFill>
                  <a:schemeClr val="tx2"/>
                </a:solidFill>
                <a:latin typeface="Open Sauce"/>
                <a:ea typeface="Open Sauce"/>
                <a:cs typeface="Open Sauce"/>
                <a:sym typeface="Open Sauce"/>
              </a:rPr>
              <a:t>	2. Entrega de sellos digitales y contraseña de servicios WEB.</a:t>
            </a:r>
          </a:p>
          <a:p>
            <a:pPr algn="just">
              <a:lnSpc>
                <a:spcPct val="150000"/>
              </a:lnSpc>
              <a:spcBef>
                <a:spcPct val="0"/>
              </a:spcBef>
            </a:pPr>
            <a:r>
              <a:rPr lang="es-MX" sz="2800" b="1" noProof="0" dirty="0">
                <a:solidFill>
                  <a:schemeClr val="tx2"/>
                </a:solidFill>
                <a:latin typeface="Open Sauce"/>
                <a:ea typeface="Open Sauce"/>
                <a:cs typeface="Open Sauce"/>
                <a:sym typeface="Open Sauce"/>
              </a:rPr>
              <a:t>	3. Realizar pruebas con aplicativo de RECO.</a:t>
            </a:r>
          </a:p>
          <a:p>
            <a:pPr marL="342900" indent="-342900" algn="just">
              <a:lnSpc>
                <a:spcPct val="150000"/>
              </a:lnSpc>
              <a:spcBef>
                <a:spcPct val="0"/>
              </a:spcBef>
              <a:buFont typeface="Wingdings" panose="05000000000000000000" pitchFamily="2" charset="2"/>
              <a:buChar char="Ø"/>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1966516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98E58-9331-60AE-30BF-0E35A9515E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17AED2-8413-0E17-92B3-F6B3E664AB78}"/>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A7D1EDB2-6F82-D5DD-F417-46D74F9E75FA}"/>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B5ADEC68-4AD6-FCB9-99B3-7E9143D47EEB}"/>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C0189E85-7B2F-4D70-67D3-8503770D6785}"/>
              </a:ext>
            </a:extLst>
          </p:cNvPr>
          <p:cNvSpPr txBox="1"/>
          <p:nvPr/>
        </p:nvSpPr>
        <p:spPr>
          <a:xfrm>
            <a:off x="2069181" y="2609265"/>
            <a:ext cx="14140049" cy="497380"/>
          </a:xfrm>
          <a:prstGeom prst="rect">
            <a:avLst/>
          </a:prstGeom>
        </p:spPr>
        <p:txBody>
          <a:bodyPr lIns="0" tIns="0" rIns="0" bIns="0" rtlCol="0" anchor="t">
            <a:spAutoFit/>
          </a:bodyPr>
          <a:lstStyle/>
          <a:p>
            <a:pPr algn="ctr">
              <a:lnSpc>
                <a:spcPts val="3680"/>
              </a:lnSpc>
              <a:spcBef>
                <a:spcPct val="0"/>
              </a:spcBef>
            </a:pPr>
            <a:r>
              <a:rPr lang="es-MX" sz="4800" noProof="0" dirty="0">
                <a:solidFill>
                  <a:srgbClr val="000000"/>
                </a:solidFill>
                <a:latin typeface="Open Sauce"/>
                <a:ea typeface="Open Sauce"/>
                <a:cs typeface="Open Sauce"/>
                <a:sym typeface="Open Sauce"/>
              </a:rPr>
              <a:t>Puntos Tácticos</a:t>
            </a:r>
          </a:p>
        </p:txBody>
      </p:sp>
      <p:sp>
        <p:nvSpPr>
          <p:cNvPr id="31" name="Freeform 31">
            <a:extLst>
              <a:ext uri="{FF2B5EF4-FFF2-40B4-BE49-F238E27FC236}">
                <a16:creationId xmlns:a16="http://schemas.microsoft.com/office/drawing/2014/main" id="{6A5BF5D1-DFDE-1A58-0F74-698B95F4753F}"/>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A9469C26-8EBD-7C58-7C20-31C769F7A8CC}"/>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687DDA68-6E8C-C4B1-F54A-3EEC5F8BBF6A}"/>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E686DE64-F35E-4CDA-1101-FB3DF4B5FD90}"/>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01736AAF-B140-A4C0-6613-120F7BF18908}"/>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ADA64813-F9BA-8984-BDCA-86E63B293A6E}"/>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10CB29E0-CDF1-AA05-E751-7DD7F585B102}"/>
              </a:ext>
            </a:extLst>
          </p:cNvPr>
          <p:cNvSpPr txBox="1"/>
          <p:nvPr/>
        </p:nvSpPr>
        <p:spPr>
          <a:xfrm>
            <a:off x="2436426" y="3955886"/>
            <a:ext cx="13716000" cy="7225376"/>
          </a:xfrm>
          <a:prstGeom prst="rect">
            <a:avLst/>
          </a:prstGeom>
        </p:spPr>
        <p:txBody>
          <a:bodyPr wrap="square" lIns="0" tIns="0" rIns="0" bIns="0" rtlCol="0" anchor="t">
            <a:spAutoFit/>
          </a:bodyPr>
          <a:lstStyle/>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Cualquier día de la semana se entregan documentos para medicamentos.</a:t>
            </a:r>
          </a:p>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Otros productos solo Martes y Jueves.</a:t>
            </a:r>
          </a:p>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Una vez entregados documentos el seguimiento es directo con almacén.</a:t>
            </a:r>
          </a:p>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No se ha visto una reducción de tiempos.</a:t>
            </a: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2721392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9A0E-FAAA-1DC9-60D0-75A80DE278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21D101-F895-551A-ED3F-F03ABFB58B63}"/>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5064772F-B054-2066-D144-F398566402B0}"/>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11D654B6-341E-C960-726B-8B99C45FBD69}"/>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80102BF5-0EC3-15AE-7B3A-BA6D5AC06999}"/>
              </a:ext>
            </a:extLst>
          </p:cNvPr>
          <p:cNvSpPr txBox="1"/>
          <p:nvPr/>
        </p:nvSpPr>
        <p:spPr>
          <a:xfrm>
            <a:off x="2069181" y="2609265"/>
            <a:ext cx="14140049" cy="497380"/>
          </a:xfrm>
          <a:prstGeom prst="rect">
            <a:avLst/>
          </a:prstGeom>
        </p:spPr>
        <p:txBody>
          <a:bodyPr lIns="0" tIns="0" rIns="0" bIns="0" rtlCol="0" anchor="t">
            <a:spAutoFit/>
          </a:bodyPr>
          <a:lstStyle/>
          <a:p>
            <a:pPr algn="ctr">
              <a:lnSpc>
                <a:spcPts val="3680"/>
              </a:lnSpc>
              <a:spcBef>
                <a:spcPct val="0"/>
              </a:spcBef>
            </a:pPr>
            <a:r>
              <a:rPr lang="es-MX" sz="4800" noProof="0" dirty="0">
                <a:solidFill>
                  <a:srgbClr val="000000"/>
                </a:solidFill>
                <a:latin typeface="Open Sauce"/>
                <a:ea typeface="Open Sauce"/>
                <a:cs typeface="Open Sauce"/>
                <a:sym typeface="Open Sauce"/>
              </a:rPr>
              <a:t>Migración Verlaine</a:t>
            </a:r>
          </a:p>
        </p:txBody>
      </p:sp>
      <p:sp>
        <p:nvSpPr>
          <p:cNvPr id="31" name="Freeform 31">
            <a:extLst>
              <a:ext uri="{FF2B5EF4-FFF2-40B4-BE49-F238E27FC236}">
                <a16:creationId xmlns:a16="http://schemas.microsoft.com/office/drawing/2014/main" id="{6C263337-9B50-0704-655D-33099A71CB2E}"/>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0C2340E3-C5E6-34F7-2ADE-320BCDFE0EE3}"/>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0EE8611A-DDBC-8DBE-8176-D3DF37FCBE08}"/>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A67F4F16-3F23-6BB0-1F10-A5A4B7B2C3DA}"/>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E0DF019F-1F27-A421-A1D6-0E99E0686A30}"/>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31C2A76D-3E67-361D-EB9B-413538D8A342}"/>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1B7ED4C2-CB7B-F042-D13D-346B5AFC96A7}"/>
              </a:ext>
            </a:extLst>
          </p:cNvPr>
          <p:cNvSpPr txBox="1"/>
          <p:nvPr/>
        </p:nvSpPr>
        <p:spPr>
          <a:xfrm>
            <a:off x="2436426" y="3955886"/>
            <a:ext cx="13716000" cy="5501827"/>
          </a:xfrm>
          <a:prstGeom prst="rect">
            <a:avLst/>
          </a:prstGeom>
        </p:spPr>
        <p:txBody>
          <a:bodyPr wrap="square" lIns="0" tIns="0" rIns="0" bIns="0" rtlCol="0" anchor="t">
            <a:spAutoFit/>
          </a:bodyPr>
          <a:lstStyle/>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Especial atención a cómo se emiten los permisos de Cofepris debido a los errores que comenten en SS.</a:t>
            </a: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2368909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38A2C-CFE9-4248-352B-FFB3AC67E93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D4FB08-E2AD-1577-F7B1-849E0C72DF48}"/>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EED2F96F-4816-7124-D721-99BD8A1BAE8A}"/>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5C1DD9A9-1488-70EC-2B40-463A38A9F833}"/>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C9A709C1-0A1B-6E49-C0E9-B40C8BDEC101}"/>
              </a:ext>
            </a:extLst>
          </p:cNvPr>
          <p:cNvSpPr txBox="1"/>
          <p:nvPr/>
        </p:nvSpPr>
        <p:spPr>
          <a:xfrm>
            <a:off x="2239747" y="1955239"/>
            <a:ext cx="14140049" cy="474489"/>
          </a:xfrm>
          <a:prstGeom prst="rect">
            <a:avLst/>
          </a:prstGeom>
        </p:spPr>
        <p:txBody>
          <a:bodyPr lIns="0" tIns="0" rIns="0" bIns="0" rtlCol="0" anchor="t">
            <a:spAutoFit/>
          </a:bodyPr>
          <a:lstStyle/>
          <a:p>
            <a:pPr algn="ctr">
              <a:lnSpc>
                <a:spcPts val="3680"/>
              </a:lnSpc>
              <a:spcBef>
                <a:spcPct val="0"/>
              </a:spcBef>
            </a:pPr>
            <a:r>
              <a:rPr lang="es-MX" sz="4000" noProof="0" dirty="0">
                <a:solidFill>
                  <a:srgbClr val="000000"/>
                </a:solidFill>
                <a:latin typeface="Open Sauce"/>
                <a:ea typeface="Open Sauce"/>
                <a:cs typeface="Open Sauce"/>
                <a:sym typeface="Open Sauce"/>
              </a:rPr>
              <a:t>Modificación a Ley Aduanera  Nov 2025</a:t>
            </a:r>
          </a:p>
        </p:txBody>
      </p:sp>
      <p:sp>
        <p:nvSpPr>
          <p:cNvPr id="31" name="Freeform 31">
            <a:extLst>
              <a:ext uri="{FF2B5EF4-FFF2-40B4-BE49-F238E27FC236}">
                <a16:creationId xmlns:a16="http://schemas.microsoft.com/office/drawing/2014/main" id="{B0C97973-8BFE-A65E-D0D7-A4E81C4BA12E}"/>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B7D8F497-EAD3-FF65-AB25-CDB872DE9416}"/>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EEB6159F-FCDC-03F2-D81B-F72AB0A38ABD}"/>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AFA8099B-DFDF-3461-A12D-0DF3DE1D2307}"/>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434034AC-56B5-CD6E-E398-B9F0AA2CBA98}"/>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9B845565-2C2F-3255-B44B-42AC4532C774}"/>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D826C97E-5925-7B1B-7D51-0398E383A886}"/>
              </a:ext>
            </a:extLst>
          </p:cNvPr>
          <p:cNvSpPr txBox="1"/>
          <p:nvPr/>
        </p:nvSpPr>
        <p:spPr>
          <a:xfrm>
            <a:off x="2012377" y="2823866"/>
            <a:ext cx="14594791" cy="10203114"/>
          </a:xfrm>
          <a:prstGeom prst="rect">
            <a:avLst/>
          </a:prstGeom>
        </p:spPr>
        <p:txBody>
          <a:bodyPr wrap="square" lIns="0" tIns="0" rIns="0" bIns="0" rtlCol="0" anchor="t">
            <a:spAutoFit/>
          </a:bodyPr>
          <a:lstStyle/>
          <a:p>
            <a:r>
              <a:rPr lang="es-MX" sz="2000" noProof="0" dirty="0">
                <a:latin typeface="Open Sauce" panose="020B0604020202020204" charset="0"/>
              </a:rPr>
              <a:t>Queremos compartirles esta reforma con total transparencia, pero también con tranquilidad. </a:t>
            </a:r>
          </a:p>
          <a:p>
            <a:r>
              <a:rPr lang="es-MX" sz="2000" noProof="0" dirty="0">
                <a:latin typeface="Open Sauce" panose="020B0604020202020204" charset="0"/>
              </a:rPr>
              <a:t>Para operaciones farmacéuticas bien estructuradas, esta reforma no representa un cambio radical, sino una formalización legal de estándares que ya aplicábamos. Sí hay ajustes, porque de otra forma no sería una reforma, pero no es un giro inesperado ni una ruptura del modelo actual.”</a:t>
            </a:r>
          </a:p>
          <a:p>
            <a:endParaRPr lang="es-MX" sz="2000" noProof="0" dirty="0">
              <a:latin typeface="Open Sauce" panose="020B0604020202020204" charset="0"/>
            </a:endParaRPr>
          </a:p>
          <a:p>
            <a:r>
              <a:rPr lang="es-MX" sz="2000" noProof="0" dirty="0">
                <a:latin typeface="Open Sauce" panose="020B0604020202020204" charset="0"/>
              </a:rPr>
              <a:t>La reforma no cambia el estándar de cumplimiento: formaliza y digitaliza lo que ya veníamos haciendo bien.</a:t>
            </a:r>
          </a:p>
          <a:p>
            <a:endParaRPr lang="es-MX" sz="2000" noProof="0" dirty="0">
              <a:latin typeface="Open Sauce" panose="020B0604020202020204" charset="0"/>
            </a:endParaRPr>
          </a:p>
          <a:p>
            <a:r>
              <a:rPr lang="es-MX" sz="2000" noProof="0" dirty="0">
                <a:latin typeface="Open Sauce" panose="020B0604020202020204" charset="0"/>
              </a:rPr>
              <a:t>Esta reforma no nace para castigar a quien cumple, sino para cerrar espacios a quien nunca cumplió.</a:t>
            </a:r>
          </a:p>
          <a:p>
            <a:r>
              <a:rPr lang="es-MX" sz="2000" noProof="0" dirty="0">
                <a:latin typeface="Open Sauce" panose="020B0604020202020204" charset="0"/>
              </a:rPr>
              <a:t> </a:t>
            </a:r>
          </a:p>
          <a:p>
            <a:r>
              <a:rPr lang="es-MX" sz="2000" noProof="0" dirty="0">
                <a:latin typeface="Open Sauce" panose="020B0604020202020204" charset="0"/>
              </a:rPr>
              <a:t>Para operaciones bien documentadas, con permisos correctos y trazabilidad real, la reforma no es un salto al vacío; es una confirmación de que vamos en el camino correcto.</a:t>
            </a:r>
          </a:p>
          <a:p>
            <a:endParaRPr lang="es-MX" sz="2000" noProof="0" dirty="0">
              <a:latin typeface="Open Sauce" panose="020B0604020202020204" charset="0"/>
            </a:endParaRPr>
          </a:p>
          <a:p>
            <a:r>
              <a:rPr lang="es-MX" sz="2000" noProof="0" dirty="0">
                <a:latin typeface="Open Sauce" panose="020B0604020202020204" charset="0"/>
              </a:rPr>
              <a:t>La reforma reconoce que hay mercancías complejas y exige que el expediente técnico sea robusto desde el origen. Esto eleva la calidad de la información, la improvisación nunca ha sido nuestra aliada. </a:t>
            </a:r>
          </a:p>
          <a:p>
            <a:endParaRPr lang="es-MX" sz="2000" noProof="0" dirty="0">
              <a:latin typeface="Open Sauce" panose="020B0604020202020204" charset="0"/>
            </a:endParaRPr>
          </a:p>
          <a:p>
            <a:r>
              <a:rPr lang="es-MX" sz="2000" noProof="0" dirty="0">
                <a:latin typeface="Open Sauce" panose="020B0604020202020204" charset="0"/>
              </a:rPr>
              <a:t>Nosotros ya trabajábamos así ABC-FARMA.</a:t>
            </a:r>
          </a:p>
          <a:p>
            <a:br>
              <a:rPr lang="es-MX" sz="2000" noProof="0" dirty="0">
                <a:latin typeface="Open Sauce" panose="020B0604020202020204" charset="0"/>
              </a:rPr>
            </a:br>
            <a:r>
              <a:rPr lang="es-MX" sz="2000" noProof="0" dirty="0">
                <a:latin typeface="Open Sauce" panose="020B0604020202020204" charset="0"/>
              </a:rPr>
              <a:t>Para empresas como ustedes, con control de lotes, fórmulas y consumos, esto no es nuevo. La reforma alinea la ley aduanera con lo que ya exigen las buenas prácticas de fabricación. </a:t>
            </a:r>
          </a:p>
          <a:p>
            <a:endParaRPr lang="es-MX" sz="2000" noProof="0" dirty="0">
              <a:latin typeface="Open Sauce" panose="020B0604020202020204" charset="0"/>
            </a:endParaRPr>
          </a:p>
          <a:p>
            <a:r>
              <a:rPr lang="es-MX" sz="2000" noProof="0" dirty="0">
                <a:latin typeface="Open Sauce" panose="020B0604020202020204" charset="0"/>
              </a:rPr>
              <a:t>Se formaliza lo que cualquier Agente Aduanal serio ya hace: conocer a su socio de negocios y documentar la operación.</a:t>
            </a:r>
            <a:endParaRPr lang="es-MX" sz="2000" b="1" noProof="0" dirty="0">
              <a:solidFill>
                <a:schemeClr val="tx2"/>
              </a:solidFill>
              <a:latin typeface="Open Sauce" panose="020B0604020202020204" charset="0"/>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1213192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6393-CE02-0520-A03C-B152C88BDC26}"/>
            </a:ext>
          </a:extLst>
        </p:cNvPr>
        <p:cNvGrpSpPr/>
        <p:nvPr/>
      </p:nvGrpSpPr>
      <p:grpSpPr>
        <a:xfrm>
          <a:off x="0" y="0"/>
          <a:ext cx="0" cy="0"/>
          <a:chOff x="0" y="0"/>
          <a:chExt cx="0" cy="0"/>
        </a:xfrm>
      </p:grpSpPr>
      <p:sp>
        <p:nvSpPr>
          <p:cNvPr id="21" name="Freeform 21">
            <a:extLst>
              <a:ext uri="{FF2B5EF4-FFF2-40B4-BE49-F238E27FC236}">
                <a16:creationId xmlns:a16="http://schemas.microsoft.com/office/drawing/2014/main" id="{13E5AF99-6721-D15E-D0FC-F79799D56D4F}"/>
              </a:ext>
            </a:extLst>
          </p:cNvPr>
          <p:cNvSpPr/>
          <p:nvPr/>
        </p:nvSpPr>
        <p:spPr>
          <a:xfrm>
            <a:off x="16885647"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noProof="0" dirty="0"/>
          </a:p>
        </p:txBody>
      </p:sp>
      <p:sp>
        <p:nvSpPr>
          <p:cNvPr id="22" name="Freeform 22">
            <a:extLst>
              <a:ext uri="{FF2B5EF4-FFF2-40B4-BE49-F238E27FC236}">
                <a16:creationId xmlns:a16="http://schemas.microsoft.com/office/drawing/2014/main" id="{0137C193-03EC-E2EA-F20D-D88C27EC6796}"/>
              </a:ext>
            </a:extLst>
          </p:cNvPr>
          <p:cNvSpPr/>
          <p:nvPr/>
        </p:nvSpPr>
        <p:spPr>
          <a:xfrm>
            <a:off x="659649"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26C492AB-E837-6BE3-7BFC-299E3DE924BD}"/>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CAPAs e incidentes</a:t>
            </a:r>
          </a:p>
        </p:txBody>
      </p:sp>
      <p:sp>
        <p:nvSpPr>
          <p:cNvPr id="31" name="Freeform 31">
            <a:extLst>
              <a:ext uri="{FF2B5EF4-FFF2-40B4-BE49-F238E27FC236}">
                <a16:creationId xmlns:a16="http://schemas.microsoft.com/office/drawing/2014/main" id="{A6B919B1-2C78-9A2E-C07F-A6CA7263A6B8}"/>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B2AEAB8C-A25F-0FD0-EA4C-BC97FCB02887}"/>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F96B38AA-E033-4D7A-A65D-3B4BA1F63D27}"/>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B2D24ED3-C72C-6787-A138-D41A8ADA8563}"/>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BF734B10-67F0-23B2-5FF5-35F7F7F66874}"/>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 name="TextBox 26">
            <a:extLst>
              <a:ext uri="{FF2B5EF4-FFF2-40B4-BE49-F238E27FC236}">
                <a16:creationId xmlns:a16="http://schemas.microsoft.com/office/drawing/2014/main" id="{C39A35F9-4945-9B7E-B782-5CA30B7530CF}"/>
              </a:ext>
            </a:extLst>
          </p:cNvPr>
          <p:cNvSpPr txBox="1"/>
          <p:nvPr/>
        </p:nvSpPr>
        <p:spPr>
          <a:xfrm>
            <a:off x="956315" y="1653060"/>
            <a:ext cx="9144000" cy="733471"/>
          </a:xfrm>
          <a:prstGeom prst="rect">
            <a:avLst/>
          </a:prstGeom>
        </p:spPr>
        <p:txBody>
          <a:bodyPr wrap="square" lIns="0" tIns="0" rIns="0" bIns="0" rtlCol="0" anchor="t">
            <a:spAutoFit/>
          </a:bodyPr>
          <a:lstStyle/>
          <a:p>
            <a:pPr>
              <a:lnSpc>
                <a:spcPts val="6400"/>
              </a:lnSpc>
            </a:pPr>
            <a:r>
              <a:rPr lang="es-MX" sz="4000" b="1" noProof="0" dirty="0">
                <a:solidFill>
                  <a:srgbClr val="0F5995"/>
                </a:solidFill>
                <a:latin typeface="Open Sauce Bold"/>
                <a:ea typeface="Open Sauce Bold"/>
                <a:cs typeface="Open Sauce Bold"/>
                <a:sym typeface="Open Sauce Bold"/>
              </a:rPr>
              <a:t>Periodo: Marzo</a:t>
            </a:r>
          </a:p>
        </p:txBody>
      </p:sp>
      <p:graphicFrame>
        <p:nvGraphicFramePr>
          <p:cNvPr id="3" name="Tabla 2">
            <a:extLst>
              <a:ext uri="{FF2B5EF4-FFF2-40B4-BE49-F238E27FC236}">
                <a16:creationId xmlns:a16="http://schemas.microsoft.com/office/drawing/2014/main" id="{8F9039A3-6C14-BA5A-A09D-20A5EC3F09B5}"/>
              </a:ext>
            </a:extLst>
          </p:cNvPr>
          <p:cNvGraphicFramePr>
            <a:graphicFrameLocks noGrp="1"/>
          </p:cNvGraphicFramePr>
          <p:nvPr>
            <p:extLst>
              <p:ext uri="{D42A27DB-BD31-4B8C-83A1-F6EECF244321}">
                <p14:modId xmlns:p14="http://schemas.microsoft.com/office/powerpoint/2010/main" val="354672283"/>
              </p:ext>
            </p:extLst>
          </p:nvPr>
        </p:nvGraphicFramePr>
        <p:xfrm>
          <a:off x="3043206" y="3016872"/>
          <a:ext cx="12192000" cy="5161928"/>
        </p:xfrm>
        <a:graphic>
          <a:graphicData uri="http://schemas.openxmlformats.org/drawingml/2006/table">
            <a:tbl>
              <a:tblPr firstRow="1" bandRow="1">
                <a:tableStyleId>{5C22544A-7EE6-4342-B048-85BDC9FD1C3A}</a:tableStyleId>
              </a:tblPr>
              <a:tblGrid>
                <a:gridCol w="842994">
                  <a:extLst>
                    <a:ext uri="{9D8B030D-6E8A-4147-A177-3AD203B41FA5}">
                      <a16:colId xmlns:a16="http://schemas.microsoft.com/office/drawing/2014/main" val="2751844179"/>
                    </a:ext>
                  </a:extLst>
                </a:gridCol>
                <a:gridCol w="5253006">
                  <a:extLst>
                    <a:ext uri="{9D8B030D-6E8A-4147-A177-3AD203B41FA5}">
                      <a16:colId xmlns:a16="http://schemas.microsoft.com/office/drawing/2014/main" val="3349716204"/>
                    </a:ext>
                  </a:extLst>
                </a:gridCol>
                <a:gridCol w="1528794">
                  <a:extLst>
                    <a:ext uri="{9D8B030D-6E8A-4147-A177-3AD203B41FA5}">
                      <a16:colId xmlns:a16="http://schemas.microsoft.com/office/drawing/2014/main" val="3366312172"/>
                    </a:ext>
                  </a:extLst>
                </a:gridCol>
                <a:gridCol w="2283603">
                  <a:extLst>
                    <a:ext uri="{9D8B030D-6E8A-4147-A177-3AD203B41FA5}">
                      <a16:colId xmlns:a16="http://schemas.microsoft.com/office/drawing/2014/main" val="3357447195"/>
                    </a:ext>
                  </a:extLst>
                </a:gridCol>
                <a:gridCol w="2283603">
                  <a:extLst>
                    <a:ext uri="{9D8B030D-6E8A-4147-A177-3AD203B41FA5}">
                      <a16:colId xmlns:a16="http://schemas.microsoft.com/office/drawing/2014/main" val="2552328560"/>
                    </a:ext>
                  </a:extLst>
                </a:gridCol>
              </a:tblGrid>
              <a:tr h="370840">
                <a:tc>
                  <a:txBody>
                    <a:bodyPr/>
                    <a:lstStyle/>
                    <a:p>
                      <a:r>
                        <a:rPr lang="es-ES" dirty="0"/>
                        <a:t>#</a:t>
                      </a:r>
                      <a:endParaRPr lang="es-MX" dirty="0"/>
                    </a:p>
                  </a:txBody>
                  <a:tcPr/>
                </a:tc>
                <a:tc>
                  <a:txBody>
                    <a:bodyPr/>
                    <a:lstStyle/>
                    <a:p>
                      <a:r>
                        <a:rPr lang="es-ES" dirty="0"/>
                        <a:t>Incidencia</a:t>
                      </a:r>
                      <a:endParaRPr lang="es-MX" dirty="0"/>
                    </a:p>
                  </a:txBody>
                  <a:tcPr/>
                </a:tc>
                <a:tc>
                  <a:txBody>
                    <a:bodyPr/>
                    <a:lstStyle/>
                    <a:p>
                      <a:r>
                        <a:rPr lang="es-ES" dirty="0"/>
                        <a:t>Status</a:t>
                      </a:r>
                      <a:endParaRPr lang="es-MX" dirty="0"/>
                    </a:p>
                  </a:txBody>
                  <a:tcPr/>
                </a:tc>
                <a:tc>
                  <a:txBody>
                    <a:bodyPr/>
                    <a:lstStyle/>
                    <a:p>
                      <a:r>
                        <a:rPr lang="es-ES" dirty="0"/>
                        <a:t>Acciones</a:t>
                      </a:r>
                      <a:endParaRPr lang="es-MX" dirty="0"/>
                    </a:p>
                  </a:txBody>
                  <a:tcPr/>
                </a:tc>
                <a:tc>
                  <a:txBody>
                    <a:bodyPr/>
                    <a:lstStyle/>
                    <a:p>
                      <a:r>
                        <a:rPr lang="es-ES" dirty="0"/>
                        <a:t>Responsables</a:t>
                      </a:r>
                      <a:endParaRPr lang="es-MX" dirty="0"/>
                    </a:p>
                  </a:txBody>
                  <a:tcPr/>
                </a:tc>
                <a:extLst>
                  <a:ext uri="{0D108BD9-81ED-4DB2-BD59-A6C34878D82A}">
                    <a16:rowId xmlns:a16="http://schemas.microsoft.com/office/drawing/2014/main" val="644228030"/>
                  </a:ext>
                </a:extLst>
              </a:tr>
              <a:tr h="1222388">
                <a:tc rowSpan="4">
                  <a:txBody>
                    <a:bodyPr/>
                    <a:lstStyle/>
                    <a:p>
                      <a:r>
                        <a:rPr lang="es-ES" dirty="0"/>
                        <a:t>1</a:t>
                      </a:r>
                      <a:endParaRPr lang="es-MX" dirty="0"/>
                    </a:p>
                  </a:txBody>
                  <a:tcPr/>
                </a:tc>
                <a:tc rowSpan="4">
                  <a:txBody>
                    <a:bodyPr/>
                    <a:lstStyle/>
                    <a:p>
                      <a:r>
                        <a:rPr lang="es-ES" dirty="0"/>
                        <a:t>Incumplimiento del envío del reporte de saldos de la plataforma SYNVISC de forma quincenal</a:t>
                      </a:r>
                      <a:endParaRPr lang="es-MX" dirty="0"/>
                    </a:p>
                  </a:txBody>
                  <a:tcPr/>
                </a:tc>
                <a:tc rowSpan="4">
                  <a:txBody>
                    <a:bodyPr/>
                    <a:lstStyle/>
                    <a:p>
                      <a:r>
                        <a:rPr lang="es-ES" dirty="0"/>
                        <a:t>Abierto</a:t>
                      </a:r>
                      <a:endParaRPr lang="es-MX" dirty="0"/>
                    </a:p>
                  </a:txBody>
                  <a:tcPr/>
                </a:tc>
                <a:tc>
                  <a:txBody>
                    <a:bodyPr/>
                    <a:lstStyle/>
                    <a:p>
                      <a:pPr marL="285750" indent="-285750">
                        <a:buFont typeface="Arial" panose="020B0604020202020204" pitchFamily="34" charset="0"/>
                        <a:buChar char="•"/>
                      </a:pPr>
                      <a:r>
                        <a:rPr lang="es-ES" dirty="0"/>
                        <a:t>Programar los envíos de los reportes (ya realizado)</a:t>
                      </a:r>
                    </a:p>
                  </a:txBody>
                  <a:tcPr/>
                </a:tc>
                <a:tc>
                  <a:txBody>
                    <a:bodyPr/>
                    <a:lstStyle/>
                    <a:p>
                      <a:pPr marL="285750" indent="-285750">
                        <a:buFont typeface="Arial" panose="020B0604020202020204" pitchFamily="34" charset="0"/>
                        <a:buChar char="•"/>
                      </a:pPr>
                      <a:r>
                        <a:rPr lang="es-ES" dirty="0"/>
                        <a:t>Jorge Jiménez</a:t>
                      </a:r>
                      <a:endParaRPr lang="es-MX" dirty="0"/>
                    </a:p>
                  </a:txBody>
                  <a:tcPr/>
                </a:tc>
                <a:extLst>
                  <a:ext uri="{0D108BD9-81ED-4DB2-BD59-A6C34878D82A}">
                    <a16:rowId xmlns:a16="http://schemas.microsoft.com/office/drawing/2014/main" val="2671547674"/>
                  </a:ext>
                </a:extLst>
              </a:tr>
              <a:tr h="902348">
                <a:tc vMerge="1">
                  <a:txBody>
                    <a:bodyPr/>
                    <a:lstStyle/>
                    <a:p>
                      <a:endParaRPr lang="es-MX"/>
                    </a:p>
                  </a:txBody>
                  <a:tcPr/>
                </a:tc>
                <a:tc vMerge="1">
                  <a:txBody>
                    <a:bodyPr/>
                    <a:lstStyle/>
                    <a:p>
                      <a:endParaRPr lang="es-MX"/>
                    </a:p>
                  </a:txBody>
                  <a:tcPr/>
                </a:tc>
                <a:tc vMerge="1">
                  <a:txBody>
                    <a:bodyPr/>
                    <a:lstStyle/>
                    <a:p>
                      <a:endParaRPr lang="es-MX"/>
                    </a:p>
                  </a:txBody>
                  <a:tcPr/>
                </a:tc>
                <a:tc>
                  <a:txBody>
                    <a:bodyPr/>
                    <a:lstStyle/>
                    <a:p>
                      <a:pPr marL="285750" indent="-285750">
                        <a:buFont typeface="Arial" panose="020B0604020202020204" pitchFamily="34" charset="0"/>
                        <a:buChar char="•"/>
                      </a:pPr>
                      <a:r>
                        <a:rPr lang="es-ES" dirty="0"/>
                        <a:t>Automatización del reporte (pendiente)</a:t>
                      </a:r>
                    </a:p>
                  </a:txBody>
                  <a:tcPr/>
                </a:tc>
                <a:tc>
                  <a:txBody>
                    <a:bodyPr/>
                    <a:lstStyle/>
                    <a:p>
                      <a:pPr marL="285750" indent="-285750">
                        <a:buFont typeface="Arial" panose="020B0604020202020204" pitchFamily="34" charset="0"/>
                        <a:buChar char="•"/>
                      </a:pPr>
                      <a:r>
                        <a:rPr lang="es-ES" dirty="0"/>
                        <a:t>Christian carbajal</a:t>
                      </a:r>
                    </a:p>
                    <a:p>
                      <a:pPr marL="285750" indent="-285750">
                        <a:buFont typeface="Arial" panose="020B0604020202020204" pitchFamily="34" charset="0"/>
                        <a:buChar char="•"/>
                      </a:pPr>
                      <a:r>
                        <a:rPr lang="es-ES" dirty="0" err="1"/>
                        <a:t>Yteel</a:t>
                      </a:r>
                      <a:r>
                        <a:rPr lang="es-ES" dirty="0"/>
                        <a:t> Montoya</a:t>
                      </a:r>
                    </a:p>
                    <a:p>
                      <a:pPr marL="285750" indent="-285750">
                        <a:buFont typeface="Arial" panose="020B0604020202020204" pitchFamily="34" charset="0"/>
                        <a:buChar char="•"/>
                      </a:pPr>
                      <a:endParaRPr lang="es-MX" dirty="0"/>
                    </a:p>
                  </a:txBody>
                  <a:tcPr/>
                </a:tc>
                <a:extLst>
                  <a:ext uri="{0D108BD9-81ED-4DB2-BD59-A6C34878D82A}">
                    <a16:rowId xmlns:a16="http://schemas.microsoft.com/office/drawing/2014/main" val="3049986251"/>
                  </a:ext>
                </a:extLst>
              </a:tr>
              <a:tr h="1465580">
                <a:tc vMerge="1">
                  <a:txBody>
                    <a:bodyPr/>
                    <a:lstStyle/>
                    <a:p>
                      <a:endParaRPr lang="es-MX"/>
                    </a:p>
                  </a:txBody>
                  <a:tcPr/>
                </a:tc>
                <a:tc vMerge="1">
                  <a:txBody>
                    <a:bodyPr/>
                    <a:lstStyle/>
                    <a:p>
                      <a:endParaRPr lang="es-MX"/>
                    </a:p>
                  </a:txBody>
                  <a:tcPr/>
                </a:tc>
                <a:tc vMerge="1">
                  <a:txBody>
                    <a:bodyPr/>
                    <a:lstStyle/>
                    <a:p>
                      <a:endParaRPr lang="es-MX"/>
                    </a:p>
                  </a:txBody>
                  <a:tcPr/>
                </a:tc>
                <a:tc>
                  <a:txBody>
                    <a:bodyPr/>
                    <a:lstStyle/>
                    <a:p>
                      <a:pPr marL="285750" indent="-285750">
                        <a:buFont typeface="Arial" panose="020B0604020202020204" pitchFamily="34" charset="0"/>
                        <a:buChar char="•"/>
                      </a:pPr>
                      <a:r>
                        <a:rPr lang="es-ES" dirty="0"/>
                        <a:t>Validación de la captura de la información de forma diaria (en proceso)</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a:t>Jorge Jiménez</a:t>
                      </a:r>
                      <a:endParaRPr lang="es-MX" dirty="0"/>
                    </a:p>
                  </a:txBody>
                  <a:tcPr/>
                </a:tc>
                <a:extLst>
                  <a:ext uri="{0D108BD9-81ED-4DB2-BD59-A6C34878D82A}">
                    <a16:rowId xmlns:a16="http://schemas.microsoft.com/office/drawing/2014/main" val="4161579498"/>
                  </a:ext>
                </a:extLst>
              </a:tr>
              <a:tr h="1120140">
                <a:tc vMerge="1">
                  <a:txBody>
                    <a:bodyPr/>
                    <a:lstStyle/>
                    <a:p>
                      <a:endParaRPr lang="es-MX"/>
                    </a:p>
                  </a:txBody>
                  <a:tcPr/>
                </a:tc>
                <a:tc vMerge="1">
                  <a:txBody>
                    <a:bodyPr/>
                    <a:lstStyle/>
                    <a:p>
                      <a:endParaRPr lang="es-MX"/>
                    </a:p>
                  </a:txBody>
                  <a:tcPr/>
                </a:tc>
                <a:tc vMerge="1">
                  <a:txBody>
                    <a:bodyPr/>
                    <a:lstStyle/>
                    <a:p>
                      <a:endParaRPr lang="es-MX"/>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a:t>Validación de envió de los reportes (en proceso)</a:t>
                      </a:r>
                    </a:p>
                    <a:p>
                      <a:pPr marL="285750" indent="-285750">
                        <a:buFont typeface="Arial" panose="020B0604020202020204" pitchFamily="34" charset="0"/>
                        <a:buChar char="•"/>
                      </a:pPr>
                      <a:endParaRPr lang="es-MX" dirty="0"/>
                    </a:p>
                  </a:txBody>
                  <a:tcPr/>
                </a:tc>
                <a:tc>
                  <a:txBody>
                    <a:bodyPr/>
                    <a:lstStyle/>
                    <a:p>
                      <a:pPr marL="285750" indent="-285750">
                        <a:buFont typeface="Arial" panose="020B0604020202020204" pitchFamily="34" charset="0"/>
                        <a:buChar char="•"/>
                      </a:pPr>
                      <a:r>
                        <a:rPr lang="es-ES"/>
                        <a:t>Ángel </a:t>
                      </a:r>
                      <a:r>
                        <a:rPr lang="es-ES" dirty="0"/>
                        <a:t>Rosales</a:t>
                      </a:r>
                      <a:endParaRPr lang="es-MX" dirty="0"/>
                    </a:p>
                  </a:txBody>
                  <a:tcPr/>
                </a:tc>
                <a:extLst>
                  <a:ext uri="{0D108BD9-81ED-4DB2-BD59-A6C34878D82A}">
                    <a16:rowId xmlns:a16="http://schemas.microsoft.com/office/drawing/2014/main" val="1011856932"/>
                  </a:ext>
                </a:extLst>
              </a:tr>
            </a:tbl>
          </a:graphicData>
        </a:graphic>
      </p:graphicFrame>
    </p:spTree>
    <p:extLst>
      <p:ext uri="{BB962C8B-B14F-4D97-AF65-F5344CB8AC3E}">
        <p14:creationId xmlns:p14="http://schemas.microsoft.com/office/powerpoint/2010/main" val="3669856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484000" flipH="1">
            <a:off x="6717466" y="9404020"/>
            <a:ext cx="15613996" cy="4079156"/>
          </a:xfrm>
          <a:custGeom>
            <a:avLst/>
            <a:gdLst/>
            <a:ahLst/>
            <a:cxnLst/>
            <a:rect l="l" t="t" r="r" b="b"/>
            <a:pathLst>
              <a:path w="15613996" h="4079156">
                <a:moveTo>
                  <a:pt x="15613996" y="0"/>
                </a:moveTo>
                <a:lnTo>
                  <a:pt x="0" y="0"/>
                </a:lnTo>
                <a:lnTo>
                  <a:pt x="0" y="4079157"/>
                </a:lnTo>
                <a:lnTo>
                  <a:pt x="15613996" y="4079157"/>
                </a:lnTo>
                <a:lnTo>
                  <a:pt x="15613996"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grpSp>
        <p:nvGrpSpPr>
          <p:cNvPr id="3" name="Group 3"/>
          <p:cNvGrpSpPr/>
          <p:nvPr/>
        </p:nvGrpSpPr>
        <p:grpSpPr>
          <a:xfrm rot="5400000">
            <a:off x="10795831" y="-3515541"/>
            <a:ext cx="1128067" cy="15855350"/>
            <a:chOff x="0" y="0"/>
            <a:chExt cx="297104" cy="4175895"/>
          </a:xfrm>
        </p:grpSpPr>
        <p:sp>
          <p:nvSpPr>
            <p:cNvPr id="4" name="Freeform 4"/>
            <p:cNvSpPr/>
            <p:nvPr/>
          </p:nvSpPr>
          <p:spPr>
            <a:xfrm>
              <a:off x="0" y="0"/>
              <a:ext cx="297104" cy="4175895"/>
            </a:xfrm>
            <a:custGeom>
              <a:avLst/>
              <a:gdLst/>
              <a:ahLst/>
              <a:cxnLst/>
              <a:rect l="l" t="t" r="r" b="b"/>
              <a:pathLst>
                <a:path w="297104" h="4175895">
                  <a:moveTo>
                    <a:pt x="0" y="0"/>
                  </a:moveTo>
                  <a:lnTo>
                    <a:pt x="297104" y="0"/>
                  </a:lnTo>
                  <a:lnTo>
                    <a:pt x="297104" y="4175895"/>
                  </a:lnTo>
                  <a:lnTo>
                    <a:pt x="0" y="4175895"/>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5" name="TextBox 5"/>
            <p:cNvSpPr txBox="1"/>
            <p:nvPr/>
          </p:nvSpPr>
          <p:spPr>
            <a:xfrm>
              <a:off x="0" y="-38100"/>
              <a:ext cx="297104" cy="4213995"/>
            </a:xfrm>
            <a:prstGeom prst="rect">
              <a:avLst/>
            </a:prstGeom>
          </p:spPr>
          <p:txBody>
            <a:bodyPr lIns="50800" tIns="50800" rIns="50800" bIns="50800" rtlCol="0" anchor="ctr"/>
            <a:lstStyle/>
            <a:p>
              <a:pPr algn="ctr">
                <a:lnSpc>
                  <a:spcPts val="2659"/>
                </a:lnSpc>
              </a:pPr>
              <a:endParaRPr lang="es-MX" noProof="0" dirty="0"/>
            </a:p>
          </p:txBody>
        </p:sp>
      </p:grpSp>
      <p:grpSp>
        <p:nvGrpSpPr>
          <p:cNvPr id="6" name="Group 6"/>
          <p:cNvGrpSpPr/>
          <p:nvPr/>
        </p:nvGrpSpPr>
        <p:grpSpPr>
          <a:xfrm>
            <a:off x="0" y="-932637"/>
            <a:ext cx="11408609" cy="12152274"/>
            <a:chOff x="0" y="0"/>
            <a:chExt cx="5325529" cy="5672671"/>
          </a:xfrm>
        </p:grpSpPr>
        <p:sp>
          <p:nvSpPr>
            <p:cNvPr id="7" name="Freeform 7"/>
            <p:cNvSpPr/>
            <p:nvPr/>
          </p:nvSpPr>
          <p:spPr>
            <a:xfrm>
              <a:off x="0" y="0"/>
              <a:ext cx="5325491" cy="5672709"/>
            </a:xfrm>
            <a:custGeom>
              <a:avLst/>
              <a:gdLst/>
              <a:ahLst/>
              <a:cxnLst/>
              <a:rect l="l" t="t" r="r" b="b"/>
              <a:pathLst>
                <a:path w="5325491" h="5672709">
                  <a:moveTo>
                    <a:pt x="0" y="0"/>
                  </a:moveTo>
                  <a:lnTo>
                    <a:pt x="0" y="5672709"/>
                  </a:lnTo>
                  <a:lnTo>
                    <a:pt x="5325491" y="5672709"/>
                  </a:lnTo>
                  <a:lnTo>
                    <a:pt x="0" y="0"/>
                  </a:lnTo>
                  <a:close/>
                </a:path>
              </a:pathLst>
            </a:custGeom>
            <a:blipFill>
              <a:blip r:embed="rId4"/>
              <a:stretch>
                <a:fillRect l="-29939" r="-29939"/>
              </a:stretch>
            </a:blipFill>
          </p:spPr>
          <p:txBody>
            <a:bodyPr/>
            <a:lstStyle/>
            <a:p>
              <a:endParaRPr lang="es-MX" noProof="0" dirty="0"/>
            </a:p>
          </p:txBody>
        </p:sp>
      </p:grpSp>
      <p:grpSp>
        <p:nvGrpSpPr>
          <p:cNvPr id="8" name="Group 8"/>
          <p:cNvGrpSpPr/>
          <p:nvPr/>
        </p:nvGrpSpPr>
        <p:grpSpPr>
          <a:xfrm rot="-2612396">
            <a:off x="6128633" y="-3006422"/>
            <a:ext cx="1291100" cy="18309165"/>
            <a:chOff x="0" y="0"/>
            <a:chExt cx="340043" cy="4822167"/>
          </a:xfrm>
        </p:grpSpPr>
        <p:sp>
          <p:nvSpPr>
            <p:cNvPr id="9" name="Freeform 9"/>
            <p:cNvSpPr/>
            <p:nvPr/>
          </p:nvSpPr>
          <p:spPr>
            <a:xfrm>
              <a:off x="0" y="0"/>
              <a:ext cx="340043" cy="4822167"/>
            </a:xfrm>
            <a:custGeom>
              <a:avLst/>
              <a:gdLst/>
              <a:ahLst/>
              <a:cxnLst/>
              <a:rect l="l" t="t" r="r" b="b"/>
              <a:pathLst>
                <a:path w="340043" h="4822167">
                  <a:moveTo>
                    <a:pt x="0" y="0"/>
                  </a:moveTo>
                  <a:lnTo>
                    <a:pt x="340043" y="0"/>
                  </a:lnTo>
                  <a:lnTo>
                    <a:pt x="340043" y="4822167"/>
                  </a:lnTo>
                  <a:lnTo>
                    <a:pt x="0" y="4822167"/>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10" name="TextBox 10"/>
            <p:cNvSpPr txBox="1"/>
            <p:nvPr/>
          </p:nvSpPr>
          <p:spPr>
            <a:xfrm>
              <a:off x="0" y="-38100"/>
              <a:ext cx="340043" cy="4860267"/>
            </a:xfrm>
            <a:prstGeom prst="rect">
              <a:avLst/>
            </a:prstGeom>
          </p:spPr>
          <p:txBody>
            <a:bodyPr lIns="50800" tIns="50800" rIns="50800" bIns="50800" rtlCol="0" anchor="ctr"/>
            <a:lstStyle/>
            <a:p>
              <a:pPr algn="ctr">
                <a:lnSpc>
                  <a:spcPts val="2659"/>
                </a:lnSpc>
              </a:pPr>
              <a:endParaRPr lang="es-MX" noProof="0" dirty="0"/>
            </a:p>
          </p:txBody>
        </p:sp>
      </p:grpSp>
      <p:sp>
        <p:nvSpPr>
          <p:cNvPr id="11" name="Freeform 11"/>
          <p:cNvSpPr/>
          <p:nvPr/>
        </p:nvSpPr>
        <p:spPr>
          <a:xfrm flipH="1">
            <a:off x="2679593" y="1929995"/>
            <a:ext cx="6049424" cy="6427011"/>
          </a:xfrm>
          <a:custGeom>
            <a:avLst/>
            <a:gdLst/>
            <a:ahLst/>
            <a:cxnLst/>
            <a:rect l="l" t="t" r="r" b="b"/>
            <a:pathLst>
              <a:path w="6049424" h="6427011">
                <a:moveTo>
                  <a:pt x="6049424" y="0"/>
                </a:moveTo>
                <a:lnTo>
                  <a:pt x="0" y="0"/>
                </a:lnTo>
                <a:lnTo>
                  <a:pt x="0" y="6427010"/>
                </a:lnTo>
                <a:lnTo>
                  <a:pt x="6049424" y="6427010"/>
                </a:lnTo>
                <a:lnTo>
                  <a:pt x="604942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MX" noProof="0" dirty="0"/>
          </a:p>
        </p:txBody>
      </p:sp>
      <p:grpSp>
        <p:nvGrpSpPr>
          <p:cNvPr id="12" name="Group 12"/>
          <p:cNvGrpSpPr/>
          <p:nvPr/>
        </p:nvGrpSpPr>
        <p:grpSpPr>
          <a:xfrm>
            <a:off x="3432189" y="2871384"/>
            <a:ext cx="4544232" cy="454423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046" r="-25046"/>
              </a:stretch>
            </a:blipFill>
          </p:spPr>
          <p:txBody>
            <a:bodyPr/>
            <a:lstStyle/>
            <a:p>
              <a:endParaRPr lang="es-MX" noProof="0" dirty="0"/>
            </a:p>
          </p:txBody>
        </p:sp>
      </p:grpSp>
      <p:sp>
        <p:nvSpPr>
          <p:cNvPr id="20" name="Freeform 20"/>
          <p:cNvSpPr/>
          <p:nvPr/>
        </p:nvSpPr>
        <p:spPr>
          <a:xfrm>
            <a:off x="8992867" y="5293829"/>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22" name="TextBox 22"/>
          <p:cNvSpPr txBox="1"/>
          <p:nvPr/>
        </p:nvSpPr>
        <p:spPr>
          <a:xfrm>
            <a:off x="6651365" y="2095500"/>
            <a:ext cx="11311119" cy="1068306"/>
          </a:xfrm>
          <a:prstGeom prst="rect">
            <a:avLst/>
          </a:prstGeom>
        </p:spPr>
        <p:txBody>
          <a:bodyPr wrap="square" lIns="0" tIns="0" rIns="0" bIns="0" rtlCol="0" anchor="t">
            <a:spAutoFit/>
          </a:bodyPr>
          <a:lstStyle/>
          <a:p>
            <a:pPr algn="r">
              <a:lnSpc>
                <a:spcPts val="8915"/>
              </a:lnSpc>
            </a:pPr>
            <a:r>
              <a:rPr lang="es-MX" sz="6600" b="1" spc="-156" noProof="0" dirty="0">
                <a:solidFill>
                  <a:srgbClr val="0F5995"/>
                </a:solidFill>
                <a:latin typeface="Open Sauce Heavy"/>
                <a:ea typeface="Open Sauce Heavy"/>
                <a:cs typeface="Open Sauce Heavy"/>
                <a:sym typeface="Open Sauce Heavy"/>
              </a:rPr>
              <a:t>Preguntas y respuestas</a:t>
            </a:r>
          </a:p>
        </p:txBody>
      </p:sp>
      <p:sp>
        <p:nvSpPr>
          <p:cNvPr id="23" name="TextBox 23"/>
          <p:cNvSpPr txBox="1"/>
          <p:nvPr/>
        </p:nvSpPr>
        <p:spPr>
          <a:xfrm>
            <a:off x="10029553" y="4043613"/>
            <a:ext cx="7229747" cy="633122"/>
          </a:xfrm>
          <a:prstGeom prst="rect">
            <a:avLst/>
          </a:prstGeom>
        </p:spPr>
        <p:txBody>
          <a:bodyPr lIns="0" tIns="0" rIns="0" bIns="0" rtlCol="0" anchor="t">
            <a:spAutoFit/>
          </a:bodyPr>
          <a:lstStyle/>
          <a:p>
            <a:pPr algn="r">
              <a:lnSpc>
                <a:spcPts val="5402"/>
              </a:lnSpc>
              <a:spcBef>
                <a:spcPct val="0"/>
              </a:spcBef>
            </a:pPr>
            <a:r>
              <a:rPr lang="es-MX" sz="3859" b="1" noProof="0" dirty="0">
                <a:solidFill>
                  <a:srgbClr val="FFFFFF"/>
                </a:solidFill>
                <a:latin typeface="Open Sauce Bold"/>
                <a:ea typeface="Open Sauce Bold"/>
                <a:cs typeface="Open Sauce Bold"/>
                <a:sym typeface="Open Sauce Bold"/>
              </a:rPr>
              <a:t>Gracias</a:t>
            </a:r>
          </a:p>
        </p:txBody>
      </p:sp>
      <p:sp>
        <p:nvSpPr>
          <p:cNvPr id="25" name="TextBox 25"/>
          <p:cNvSpPr txBox="1"/>
          <p:nvPr/>
        </p:nvSpPr>
        <p:spPr>
          <a:xfrm>
            <a:off x="9698220" y="5746667"/>
            <a:ext cx="5359217"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Gerente de Atención al cliente</a:t>
            </a:r>
          </a:p>
        </p:txBody>
      </p:sp>
      <p:sp>
        <p:nvSpPr>
          <p:cNvPr id="26" name="TextBox 26"/>
          <p:cNvSpPr txBox="1"/>
          <p:nvPr/>
        </p:nvSpPr>
        <p:spPr>
          <a:xfrm>
            <a:off x="7830840" y="5219700"/>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jtorres@abcsc.mx</a:t>
            </a:r>
          </a:p>
        </p:txBody>
      </p:sp>
      <p:sp>
        <p:nvSpPr>
          <p:cNvPr id="27" name="Freeform 27"/>
          <p:cNvSpPr/>
          <p:nvPr/>
        </p:nvSpPr>
        <p:spPr>
          <a:xfrm>
            <a:off x="7319551" y="951572"/>
            <a:ext cx="656870" cy="656870"/>
          </a:xfrm>
          <a:custGeom>
            <a:avLst/>
            <a:gdLst/>
            <a:ahLst/>
            <a:cxnLst/>
            <a:rect l="l" t="t" r="r" b="b"/>
            <a:pathLst>
              <a:path w="656870" h="656870">
                <a:moveTo>
                  <a:pt x="0" y="0"/>
                </a:moveTo>
                <a:lnTo>
                  <a:pt x="656870" y="0"/>
                </a:lnTo>
                <a:lnTo>
                  <a:pt x="656870" y="656870"/>
                </a:lnTo>
                <a:lnTo>
                  <a:pt x="0" y="6568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MX" noProof="0" dirty="0"/>
          </a:p>
        </p:txBody>
      </p:sp>
      <p:grpSp>
        <p:nvGrpSpPr>
          <p:cNvPr id="29" name="Group 29"/>
          <p:cNvGrpSpPr/>
          <p:nvPr/>
        </p:nvGrpSpPr>
        <p:grpSpPr>
          <a:xfrm rot="-8100000">
            <a:off x="-1113178" y="-4917156"/>
            <a:ext cx="4584947" cy="9887645"/>
            <a:chOff x="0" y="0"/>
            <a:chExt cx="1207558" cy="2604153"/>
          </a:xfrm>
        </p:grpSpPr>
        <p:sp>
          <p:nvSpPr>
            <p:cNvPr id="30" name="Freeform 30"/>
            <p:cNvSpPr/>
            <p:nvPr/>
          </p:nvSpPr>
          <p:spPr>
            <a:xfrm>
              <a:off x="0" y="0"/>
              <a:ext cx="1207558" cy="2604153"/>
            </a:xfrm>
            <a:custGeom>
              <a:avLst/>
              <a:gdLst/>
              <a:ahLst/>
              <a:cxnLst/>
              <a:rect l="l" t="t" r="r" b="b"/>
              <a:pathLst>
                <a:path w="1207558" h="2604153">
                  <a:moveTo>
                    <a:pt x="0" y="0"/>
                  </a:moveTo>
                  <a:lnTo>
                    <a:pt x="1207558" y="0"/>
                  </a:lnTo>
                  <a:lnTo>
                    <a:pt x="1207558" y="2604153"/>
                  </a:lnTo>
                  <a:lnTo>
                    <a:pt x="0" y="2604153"/>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1" name="TextBox 31"/>
            <p:cNvSpPr txBox="1"/>
            <p:nvPr/>
          </p:nvSpPr>
          <p:spPr>
            <a:xfrm>
              <a:off x="0" y="-38100"/>
              <a:ext cx="1207558" cy="2642253"/>
            </a:xfrm>
            <a:prstGeom prst="rect">
              <a:avLst/>
            </a:prstGeom>
          </p:spPr>
          <p:txBody>
            <a:bodyPr lIns="50800" tIns="50800" rIns="50800" bIns="50800" rtlCol="0" anchor="ctr"/>
            <a:lstStyle/>
            <a:p>
              <a:pPr algn="ctr">
                <a:lnSpc>
                  <a:spcPts val="2659"/>
                </a:lnSpc>
              </a:pPr>
              <a:endParaRPr lang="es-MX" noProof="0" dirty="0"/>
            </a:p>
          </p:txBody>
        </p:sp>
      </p:grpSp>
      <p:grpSp>
        <p:nvGrpSpPr>
          <p:cNvPr id="32" name="Group 32"/>
          <p:cNvGrpSpPr/>
          <p:nvPr/>
        </p:nvGrpSpPr>
        <p:grpSpPr>
          <a:xfrm rot="-8100000">
            <a:off x="-550618" y="-3627283"/>
            <a:ext cx="3158636" cy="6487180"/>
            <a:chOff x="0" y="0"/>
            <a:chExt cx="831904" cy="1708558"/>
          </a:xfrm>
        </p:grpSpPr>
        <p:sp>
          <p:nvSpPr>
            <p:cNvPr id="33" name="Freeform 33"/>
            <p:cNvSpPr/>
            <p:nvPr/>
          </p:nvSpPr>
          <p:spPr>
            <a:xfrm>
              <a:off x="0" y="0"/>
              <a:ext cx="831904" cy="1708558"/>
            </a:xfrm>
            <a:custGeom>
              <a:avLst/>
              <a:gdLst/>
              <a:ahLst/>
              <a:cxnLst/>
              <a:rect l="l" t="t" r="r" b="b"/>
              <a:pathLst>
                <a:path w="831904" h="1708558">
                  <a:moveTo>
                    <a:pt x="0" y="0"/>
                  </a:moveTo>
                  <a:lnTo>
                    <a:pt x="831904" y="0"/>
                  </a:lnTo>
                  <a:lnTo>
                    <a:pt x="831904" y="1708558"/>
                  </a:lnTo>
                  <a:lnTo>
                    <a:pt x="0" y="1708558"/>
                  </a:lnTo>
                  <a:close/>
                </a:path>
              </a:pathLst>
            </a:custGeom>
            <a:gradFill rotWithShape="1">
              <a:gsLst>
                <a:gs pos="0">
                  <a:srgbClr val="FFFFFF">
                    <a:alpha val="100000"/>
                  </a:srgbClr>
                </a:gs>
                <a:gs pos="50000">
                  <a:srgbClr val="FFFFFF">
                    <a:alpha val="71000"/>
                  </a:srgbClr>
                </a:gs>
                <a:gs pos="100000">
                  <a:srgbClr val="0B51AE">
                    <a:alpha val="0"/>
                  </a:srgbClr>
                </a:gs>
              </a:gsLst>
              <a:lin ang="5400000"/>
            </a:gradFill>
          </p:spPr>
          <p:txBody>
            <a:bodyPr/>
            <a:lstStyle/>
            <a:p>
              <a:endParaRPr lang="es-MX" noProof="0" dirty="0"/>
            </a:p>
          </p:txBody>
        </p:sp>
        <p:sp>
          <p:nvSpPr>
            <p:cNvPr id="34" name="TextBox 34"/>
            <p:cNvSpPr txBox="1"/>
            <p:nvPr/>
          </p:nvSpPr>
          <p:spPr>
            <a:xfrm>
              <a:off x="0" y="-38100"/>
              <a:ext cx="831904" cy="1746658"/>
            </a:xfrm>
            <a:prstGeom prst="rect">
              <a:avLst/>
            </a:prstGeom>
          </p:spPr>
          <p:txBody>
            <a:bodyPr lIns="50800" tIns="50800" rIns="50800" bIns="50800" rtlCol="0" anchor="ctr"/>
            <a:lstStyle/>
            <a:p>
              <a:pPr algn="ctr">
                <a:lnSpc>
                  <a:spcPts val="2659"/>
                </a:lnSpc>
              </a:pPr>
              <a:endParaRPr lang="es-MX" noProof="0" dirty="0"/>
            </a:p>
          </p:txBody>
        </p:sp>
      </p:grpSp>
      <p:sp>
        <p:nvSpPr>
          <p:cNvPr id="35" name="Freeform 35"/>
          <p:cNvSpPr/>
          <p:nvPr/>
        </p:nvSpPr>
        <p:spPr>
          <a:xfrm>
            <a:off x="1843172" y="1929995"/>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2"/>
            <a:stretch>
              <a:fillRect/>
            </a:stretch>
          </a:blipFill>
        </p:spPr>
        <p:txBody>
          <a:bodyPr/>
          <a:lstStyle/>
          <a:p>
            <a:endParaRPr lang="es-MX" noProof="0" dirty="0"/>
          </a:p>
        </p:txBody>
      </p:sp>
      <p:sp>
        <p:nvSpPr>
          <p:cNvPr id="36" name="Freeform 36"/>
          <p:cNvSpPr/>
          <p:nvPr/>
        </p:nvSpPr>
        <p:spPr>
          <a:xfrm>
            <a:off x="6548161" y="6072028"/>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2"/>
            <a:stretch>
              <a:fillRect/>
            </a:stretch>
          </a:blipFill>
        </p:spPr>
        <p:txBody>
          <a:bodyPr/>
          <a:lstStyle/>
          <a:p>
            <a:endParaRPr lang="es-MX" noProof="0" dirty="0"/>
          </a:p>
        </p:txBody>
      </p:sp>
      <p:pic>
        <p:nvPicPr>
          <p:cNvPr id="38" name="Imagen 37">
            <a:extLst>
              <a:ext uri="{FF2B5EF4-FFF2-40B4-BE49-F238E27FC236}">
                <a16:creationId xmlns:a16="http://schemas.microsoft.com/office/drawing/2014/main" id="{BBEF651A-0341-B80E-76F8-DEB2D802A70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602265" y="100106"/>
            <a:ext cx="3375863" cy="1739471"/>
          </a:xfrm>
          <a:prstGeom prst="rect">
            <a:avLst/>
          </a:prstGeom>
        </p:spPr>
      </p:pic>
      <p:sp>
        <p:nvSpPr>
          <p:cNvPr id="39" name="Freeform 20">
            <a:extLst>
              <a:ext uri="{FF2B5EF4-FFF2-40B4-BE49-F238E27FC236}">
                <a16:creationId xmlns:a16="http://schemas.microsoft.com/office/drawing/2014/main" id="{0A14667F-8E47-0D1D-C78A-36A652DBB380}"/>
              </a:ext>
            </a:extLst>
          </p:cNvPr>
          <p:cNvSpPr/>
          <p:nvPr/>
        </p:nvSpPr>
        <p:spPr>
          <a:xfrm>
            <a:off x="10498631" y="7730986"/>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40" name="TextBox 25">
            <a:extLst>
              <a:ext uri="{FF2B5EF4-FFF2-40B4-BE49-F238E27FC236}">
                <a16:creationId xmlns:a16="http://schemas.microsoft.com/office/drawing/2014/main" id="{62C1D7D8-65A9-586E-5C96-22ECB38AA3F5}"/>
              </a:ext>
            </a:extLst>
          </p:cNvPr>
          <p:cNvSpPr txBox="1"/>
          <p:nvPr/>
        </p:nvSpPr>
        <p:spPr>
          <a:xfrm>
            <a:off x="10668000" y="8183824"/>
            <a:ext cx="2595839"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Subdirector</a:t>
            </a:r>
          </a:p>
        </p:txBody>
      </p:sp>
      <p:sp>
        <p:nvSpPr>
          <p:cNvPr id="41" name="TextBox 26">
            <a:extLst>
              <a:ext uri="{FF2B5EF4-FFF2-40B4-BE49-F238E27FC236}">
                <a16:creationId xmlns:a16="http://schemas.microsoft.com/office/drawing/2014/main" id="{521565EF-93B2-D168-F92B-A315813CF11E}"/>
              </a:ext>
            </a:extLst>
          </p:cNvPr>
          <p:cNvSpPr txBox="1"/>
          <p:nvPr/>
        </p:nvSpPr>
        <p:spPr>
          <a:xfrm>
            <a:off x="9829800" y="7693197"/>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apalacios@abcsc.mx</a:t>
            </a:r>
          </a:p>
        </p:txBody>
      </p:sp>
      <p:sp>
        <p:nvSpPr>
          <p:cNvPr id="42" name="Freeform 20">
            <a:extLst>
              <a:ext uri="{FF2B5EF4-FFF2-40B4-BE49-F238E27FC236}">
                <a16:creationId xmlns:a16="http://schemas.microsoft.com/office/drawing/2014/main" id="{6D67A392-9D57-8621-6400-AEC270BE58E9}"/>
              </a:ext>
            </a:extLst>
          </p:cNvPr>
          <p:cNvSpPr/>
          <p:nvPr/>
        </p:nvSpPr>
        <p:spPr>
          <a:xfrm>
            <a:off x="11555965" y="8992959"/>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43" name="TextBox 25">
            <a:extLst>
              <a:ext uri="{FF2B5EF4-FFF2-40B4-BE49-F238E27FC236}">
                <a16:creationId xmlns:a16="http://schemas.microsoft.com/office/drawing/2014/main" id="{4F3DA99F-AF24-0892-BD3D-6AEBD0F4F0F4}"/>
              </a:ext>
            </a:extLst>
          </p:cNvPr>
          <p:cNvSpPr txBox="1"/>
          <p:nvPr/>
        </p:nvSpPr>
        <p:spPr>
          <a:xfrm>
            <a:off x="12259973" y="9445797"/>
            <a:ext cx="5875628"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Subdirector transformación digital</a:t>
            </a:r>
          </a:p>
        </p:txBody>
      </p:sp>
      <p:sp>
        <p:nvSpPr>
          <p:cNvPr id="44" name="TextBox 26">
            <a:extLst>
              <a:ext uri="{FF2B5EF4-FFF2-40B4-BE49-F238E27FC236}">
                <a16:creationId xmlns:a16="http://schemas.microsoft.com/office/drawing/2014/main" id="{84D34631-9E91-A89C-C8E3-098C86D3CD99}"/>
              </a:ext>
            </a:extLst>
          </p:cNvPr>
          <p:cNvSpPr txBox="1"/>
          <p:nvPr/>
        </p:nvSpPr>
        <p:spPr>
          <a:xfrm>
            <a:off x="10972800" y="8918830"/>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ymontoya@abcsc.mx</a:t>
            </a:r>
          </a:p>
        </p:txBody>
      </p:sp>
      <p:sp>
        <p:nvSpPr>
          <p:cNvPr id="14" name="Freeform 20">
            <a:extLst>
              <a:ext uri="{FF2B5EF4-FFF2-40B4-BE49-F238E27FC236}">
                <a16:creationId xmlns:a16="http://schemas.microsoft.com/office/drawing/2014/main" id="{BE413F1B-51B8-18A4-5892-A87CAFC152FA}"/>
              </a:ext>
            </a:extLst>
          </p:cNvPr>
          <p:cNvSpPr/>
          <p:nvPr/>
        </p:nvSpPr>
        <p:spPr>
          <a:xfrm>
            <a:off x="9581340" y="6571440"/>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15" name="TextBox 26">
            <a:extLst>
              <a:ext uri="{FF2B5EF4-FFF2-40B4-BE49-F238E27FC236}">
                <a16:creationId xmlns:a16="http://schemas.microsoft.com/office/drawing/2014/main" id="{E1D9575A-E0E9-E566-FA5D-BD54317CF676}"/>
              </a:ext>
            </a:extLst>
          </p:cNvPr>
          <p:cNvSpPr txBox="1"/>
          <p:nvPr/>
        </p:nvSpPr>
        <p:spPr>
          <a:xfrm>
            <a:off x="9753600" y="6550197"/>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gerentecalidad@abcsc.mx</a:t>
            </a:r>
          </a:p>
        </p:txBody>
      </p:sp>
      <p:sp>
        <p:nvSpPr>
          <p:cNvPr id="16" name="TextBox 25">
            <a:extLst>
              <a:ext uri="{FF2B5EF4-FFF2-40B4-BE49-F238E27FC236}">
                <a16:creationId xmlns:a16="http://schemas.microsoft.com/office/drawing/2014/main" id="{1F1BF276-07E9-176C-3A4A-391453F5B705}"/>
              </a:ext>
            </a:extLst>
          </p:cNvPr>
          <p:cNvSpPr txBox="1"/>
          <p:nvPr/>
        </p:nvSpPr>
        <p:spPr>
          <a:xfrm>
            <a:off x="10287000" y="7005419"/>
            <a:ext cx="5359217"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Gerente de Calidad y seguridad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32463</TotalTime>
  <Words>1138</Words>
  <Application>Microsoft Office PowerPoint</Application>
  <PresentationFormat>Personalizado</PresentationFormat>
  <Paragraphs>320</Paragraphs>
  <Slides>18</Slides>
  <Notes>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Open Sauce Heavy</vt:lpstr>
      <vt:lpstr>Open Sauce Bold</vt:lpstr>
      <vt:lpstr>Open Sauce</vt:lpstr>
      <vt:lpstr>Calibri</vt:lpstr>
      <vt:lpstr>Arial</vt:lpstr>
      <vt:lpstr>Wingdings</vt:lpstr>
      <vt:lpstr>Aptos Narrow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Corporate Earnings Report Presentation</dc:title>
  <dc:creator>ABCMEXLBI</dc:creator>
  <cp:lastModifiedBy>Christian Cristobal carbajal Garcia</cp:lastModifiedBy>
  <cp:revision>148</cp:revision>
  <cp:lastPrinted>2025-12-17T16:08:00Z</cp:lastPrinted>
  <dcterms:created xsi:type="dcterms:W3CDTF">2006-08-16T00:00:00Z</dcterms:created>
  <dcterms:modified xsi:type="dcterms:W3CDTF">2026-03-09T21:16:50Z</dcterms:modified>
  <dc:identifier>DAGuGg0cb0g</dc:identifier>
</cp:coreProperties>
</file>